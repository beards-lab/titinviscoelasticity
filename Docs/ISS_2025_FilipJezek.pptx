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63" r:id="rId3"/>
    <p:sldId id="491" r:id="rId4"/>
    <p:sldId id="264" r:id="rId5"/>
    <p:sldId id="469" r:id="rId6"/>
    <p:sldId id="481" r:id="rId7"/>
    <p:sldId id="483" r:id="rId8"/>
    <p:sldId id="470" r:id="rId9"/>
    <p:sldId id="490" r:id="rId10"/>
    <p:sldId id="499" r:id="rId11"/>
    <p:sldId id="500" r:id="rId12"/>
    <p:sldId id="501" r:id="rId13"/>
    <p:sldId id="493" r:id="rId14"/>
    <p:sldId id="502" r:id="rId15"/>
    <p:sldId id="503" r:id="rId16"/>
    <p:sldId id="496" r:id="rId17"/>
    <p:sldId id="504" r:id="rId18"/>
    <p:sldId id="509" r:id="rId19"/>
    <p:sldId id="505" r:id="rId20"/>
    <p:sldId id="512" r:id="rId21"/>
    <p:sldId id="494" r:id="rId22"/>
    <p:sldId id="507" r:id="rId23"/>
    <p:sldId id="506" r:id="rId24"/>
    <p:sldId id="488" r:id="rId25"/>
    <p:sldId id="513" r:id="rId26"/>
    <p:sldId id="514" r:id="rId27"/>
    <p:sldId id="498" r:id="rId28"/>
    <p:sldId id="497" r:id="rId29"/>
    <p:sldId id="495" r:id="rId30"/>
    <p:sldId id="508" r:id="rId31"/>
    <p:sldId id="511" r:id="rId32"/>
    <p:sldId id="51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78"/>
    <a:srgbClr val="73F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82" autoAdjust="0"/>
    <p:restoredTop sz="84567" autoAdjust="0"/>
  </p:normalViewPr>
  <p:slideViewPr>
    <p:cSldViewPr snapToGrid="0">
      <p:cViewPr varScale="1">
        <p:scale>
          <a:sx n="101" d="100"/>
          <a:sy n="101" d="100"/>
        </p:scale>
        <p:origin x="108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C6F389-62B4-4D3E-9FBE-80B96C40ACA9}"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507397-76C4-4774-8775-233E39045206}" type="slidenum">
              <a:rPr lang="en-US" smtClean="0"/>
              <a:t>‹#›</a:t>
            </a:fld>
            <a:endParaRPr lang="en-US"/>
          </a:p>
        </p:txBody>
      </p:sp>
    </p:spTree>
    <p:extLst>
      <p:ext uri="{BB962C8B-B14F-4D97-AF65-F5344CB8AC3E}">
        <p14:creationId xmlns:p14="http://schemas.microsoft.com/office/powerpoint/2010/main" val="370149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titin passive viscoelastic properties </a:t>
            </a:r>
          </a:p>
          <a:p>
            <a:r>
              <a:rPr lang="en-US" dirty="0"/>
              <a:t>We are more interested in the active part</a:t>
            </a:r>
          </a:p>
          <a:p>
            <a:r>
              <a:rPr lang="en-US" dirty="0"/>
              <a:t>Came across fitting of </a:t>
            </a:r>
            <a:r>
              <a:rPr lang="en-US" dirty="0" err="1"/>
              <a:t>intriquate</a:t>
            </a:r>
            <a:r>
              <a:rPr lang="en-US" dirty="0"/>
              <a:t> dataset – how much is passive involved?</a:t>
            </a:r>
          </a:p>
        </p:txBody>
      </p:sp>
      <p:sp>
        <p:nvSpPr>
          <p:cNvPr id="4" name="Slide Number Placeholder 3"/>
          <p:cNvSpPr>
            <a:spLocks noGrp="1"/>
          </p:cNvSpPr>
          <p:nvPr>
            <p:ph type="sldNum" sz="quarter" idx="5"/>
          </p:nvPr>
        </p:nvSpPr>
        <p:spPr/>
        <p:txBody>
          <a:bodyPr/>
          <a:lstStyle/>
          <a:p>
            <a:fld id="{67507397-76C4-4774-8775-233E39045206}" type="slidenum">
              <a:rPr lang="en-US" smtClean="0"/>
              <a:t>1</a:t>
            </a:fld>
            <a:endParaRPr lang="en-US"/>
          </a:p>
        </p:txBody>
      </p:sp>
    </p:spTree>
    <p:extLst>
      <p:ext uri="{BB962C8B-B14F-4D97-AF65-F5344CB8AC3E}">
        <p14:creationId xmlns:p14="http://schemas.microsoft.com/office/powerpoint/2010/main" val="103296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507397-76C4-4774-8775-233E39045206}" type="slidenum">
              <a:rPr lang="en-US" smtClean="0"/>
              <a:t>2</a:t>
            </a:fld>
            <a:endParaRPr lang="en-US"/>
          </a:p>
        </p:txBody>
      </p:sp>
    </p:spTree>
    <p:extLst>
      <p:ext uri="{BB962C8B-B14F-4D97-AF65-F5344CB8AC3E}">
        <p14:creationId xmlns:p14="http://schemas.microsoft.com/office/powerpoint/2010/main" val="1396362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507397-76C4-4774-8775-233E39045206}" type="slidenum">
              <a:rPr lang="en-US" smtClean="0"/>
              <a:t>5</a:t>
            </a:fld>
            <a:endParaRPr lang="en-US"/>
          </a:p>
        </p:txBody>
      </p:sp>
    </p:spTree>
    <p:extLst>
      <p:ext uri="{BB962C8B-B14F-4D97-AF65-F5344CB8AC3E}">
        <p14:creationId xmlns:p14="http://schemas.microsoft.com/office/powerpoint/2010/main" val="166947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really surprising – lots of materials follow a power-law decay – straight line on log </a:t>
            </a:r>
            <a:r>
              <a:rPr lang="en-US" dirty="0" err="1"/>
              <a:t>log</a:t>
            </a:r>
            <a:r>
              <a:rPr lang="en-US" dirty="0"/>
              <a:t> plot, including cheese and collagen</a:t>
            </a:r>
          </a:p>
          <a:p>
            <a:r>
              <a:rPr lang="en-US" dirty="0"/>
              <a:t>Our collaborator David </a:t>
            </a:r>
            <a:r>
              <a:rPr lang="en-US" dirty="0" err="1"/>
              <a:t>Nordsletten</a:t>
            </a:r>
            <a:r>
              <a:rPr lang="en-US" dirty="0"/>
              <a:t> made a behavioral viscoelastic model that captures</a:t>
            </a:r>
          </a:p>
        </p:txBody>
      </p:sp>
      <p:sp>
        <p:nvSpPr>
          <p:cNvPr id="4" name="Slide Number Placeholder 3"/>
          <p:cNvSpPr>
            <a:spLocks noGrp="1"/>
          </p:cNvSpPr>
          <p:nvPr>
            <p:ph type="sldNum" sz="quarter" idx="5"/>
          </p:nvPr>
        </p:nvSpPr>
        <p:spPr/>
        <p:txBody>
          <a:bodyPr/>
          <a:lstStyle/>
          <a:p>
            <a:fld id="{67507397-76C4-4774-8775-233E39045206}" type="slidenum">
              <a:rPr lang="en-US" smtClean="0"/>
              <a:t>6</a:t>
            </a:fld>
            <a:endParaRPr lang="en-US"/>
          </a:p>
        </p:txBody>
      </p:sp>
    </p:spTree>
    <p:extLst>
      <p:ext uri="{BB962C8B-B14F-4D97-AF65-F5344CB8AC3E}">
        <p14:creationId xmlns:p14="http://schemas.microsoft.com/office/powerpoint/2010/main" val="3308096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like to understand that. Or I like to understand.</a:t>
            </a:r>
          </a:p>
          <a:p>
            <a:r>
              <a:rPr lang="en-US" dirty="0"/>
              <a:t>We made a model of a single sarcomere,</a:t>
            </a:r>
          </a:p>
          <a:p>
            <a:endParaRPr lang="en-US" dirty="0"/>
          </a:p>
          <a:p>
            <a:r>
              <a:rPr lang="en-US" dirty="0"/>
              <a:t>The main assumption is serial IG like domains that can unfold under stress</a:t>
            </a:r>
          </a:p>
          <a:p>
            <a:endParaRPr lang="en-US" dirty="0"/>
          </a:p>
          <a:p>
            <a:r>
              <a:rPr lang="en-US" dirty="0"/>
              <a:t>We count how many have unfolded – it is most stiff if none, it adds some slack if one and so on;</a:t>
            </a:r>
          </a:p>
        </p:txBody>
      </p:sp>
      <p:sp>
        <p:nvSpPr>
          <p:cNvPr id="4" name="Slide Number Placeholder 3"/>
          <p:cNvSpPr>
            <a:spLocks noGrp="1"/>
          </p:cNvSpPr>
          <p:nvPr>
            <p:ph type="sldNum" sz="quarter" idx="5"/>
          </p:nvPr>
        </p:nvSpPr>
        <p:spPr/>
        <p:txBody>
          <a:bodyPr/>
          <a:lstStyle/>
          <a:p>
            <a:fld id="{67507397-76C4-4774-8775-233E39045206}" type="slidenum">
              <a:rPr lang="en-US" smtClean="0"/>
              <a:t>7</a:t>
            </a:fld>
            <a:endParaRPr lang="en-US"/>
          </a:p>
        </p:txBody>
      </p:sp>
    </p:spTree>
    <p:extLst>
      <p:ext uri="{BB962C8B-B14F-4D97-AF65-F5344CB8AC3E}">
        <p14:creationId xmlns:p14="http://schemas.microsoft.com/office/powerpoint/2010/main" val="11866990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voila, with 10 params..</a:t>
            </a:r>
          </a:p>
          <a:p>
            <a:endParaRPr lang="en-US" dirty="0"/>
          </a:p>
          <a:p>
            <a:r>
              <a:rPr lang="en-US" dirty="0"/>
              <a:t>The model naturally simulates the power law</a:t>
            </a:r>
          </a:p>
          <a:p>
            <a:endParaRPr lang="en-US" dirty="0"/>
          </a:p>
          <a:p>
            <a:r>
              <a:rPr lang="en-US" dirty="0"/>
              <a:t>Is able to simulate the measured data with ramp speeds over 3 orders of magnitude</a:t>
            </a:r>
          </a:p>
        </p:txBody>
      </p:sp>
      <p:sp>
        <p:nvSpPr>
          <p:cNvPr id="4" name="Slide Number Placeholder 3"/>
          <p:cNvSpPr>
            <a:spLocks noGrp="1"/>
          </p:cNvSpPr>
          <p:nvPr>
            <p:ph type="sldNum" sz="quarter" idx="5"/>
          </p:nvPr>
        </p:nvSpPr>
        <p:spPr/>
        <p:txBody>
          <a:bodyPr/>
          <a:lstStyle/>
          <a:p>
            <a:fld id="{67507397-76C4-4774-8775-233E39045206}" type="slidenum">
              <a:rPr lang="en-US" smtClean="0"/>
              <a:t>8</a:t>
            </a:fld>
            <a:endParaRPr lang="en-US"/>
          </a:p>
        </p:txBody>
      </p:sp>
    </p:spTree>
    <p:extLst>
      <p:ext uri="{BB962C8B-B14F-4D97-AF65-F5344CB8AC3E}">
        <p14:creationId xmlns:p14="http://schemas.microsoft.com/office/powerpoint/2010/main" val="1822659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papers already suggested a role of Ca on titin. We were motivated by the paper of </a:t>
            </a:r>
            <a:r>
              <a:rPr lang="en-US" dirty="0" err="1"/>
              <a:t>Squarci</a:t>
            </a:r>
            <a:r>
              <a:rPr lang="en-US" dirty="0"/>
              <a:t> et al.</a:t>
            </a:r>
          </a:p>
        </p:txBody>
      </p:sp>
      <p:sp>
        <p:nvSpPr>
          <p:cNvPr id="4" name="Slide Number Placeholder 3"/>
          <p:cNvSpPr>
            <a:spLocks noGrp="1"/>
          </p:cNvSpPr>
          <p:nvPr>
            <p:ph type="sldNum" sz="quarter" idx="5"/>
          </p:nvPr>
        </p:nvSpPr>
        <p:spPr/>
        <p:txBody>
          <a:bodyPr/>
          <a:lstStyle/>
          <a:p>
            <a:fld id="{67507397-76C4-4774-8775-233E39045206}" type="slidenum">
              <a:rPr lang="en-US" smtClean="0"/>
              <a:t>10</a:t>
            </a:fld>
            <a:endParaRPr lang="en-US"/>
          </a:p>
        </p:txBody>
      </p:sp>
    </p:spTree>
    <p:extLst>
      <p:ext uri="{BB962C8B-B14F-4D97-AF65-F5344CB8AC3E}">
        <p14:creationId xmlns:p14="http://schemas.microsoft.com/office/powerpoint/2010/main" val="1458839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of course..</a:t>
            </a:r>
          </a:p>
        </p:txBody>
      </p:sp>
      <p:sp>
        <p:nvSpPr>
          <p:cNvPr id="4" name="Slide Number Placeholder 3"/>
          <p:cNvSpPr>
            <a:spLocks noGrp="1"/>
          </p:cNvSpPr>
          <p:nvPr>
            <p:ph type="sldNum" sz="quarter" idx="5"/>
          </p:nvPr>
        </p:nvSpPr>
        <p:spPr/>
        <p:txBody>
          <a:bodyPr/>
          <a:lstStyle/>
          <a:p>
            <a:fld id="{67507397-76C4-4774-8775-233E39045206}" type="slidenum">
              <a:rPr lang="en-US" smtClean="0"/>
              <a:t>11</a:t>
            </a:fld>
            <a:endParaRPr lang="en-US"/>
          </a:p>
        </p:txBody>
      </p:sp>
    </p:spTree>
    <p:extLst>
      <p:ext uri="{BB962C8B-B14F-4D97-AF65-F5344CB8AC3E}">
        <p14:creationId xmlns:p14="http://schemas.microsoft.com/office/powerpoint/2010/main" val="1472994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PNB there was a little of residual force – at most 5%. To make sure there is none we added </a:t>
            </a:r>
            <a:r>
              <a:rPr lang="en-US" dirty="0" err="1"/>
              <a:t>mavacamten</a:t>
            </a:r>
            <a:r>
              <a:rPr lang="en-US" dirty="0"/>
              <a:t>.</a:t>
            </a:r>
          </a:p>
          <a:p>
            <a:r>
              <a:rPr lang="en-US" dirty="0"/>
              <a:t>Now we are confident that the Ca-mediated effects are NOT caused by active contraction</a:t>
            </a:r>
          </a:p>
        </p:txBody>
      </p:sp>
      <p:sp>
        <p:nvSpPr>
          <p:cNvPr id="4" name="Slide Number Placeholder 3"/>
          <p:cNvSpPr>
            <a:spLocks noGrp="1"/>
          </p:cNvSpPr>
          <p:nvPr>
            <p:ph type="sldNum" sz="quarter" idx="5"/>
          </p:nvPr>
        </p:nvSpPr>
        <p:spPr/>
        <p:txBody>
          <a:bodyPr/>
          <a:lstStyle/>
          <a:p>
            <a:fld id="{67507397-76C4-4774-8775-233E39045206}" type="slidenum">
              <a:rPr lang="en-US" smtClean="0"/>
              <a:t>12</a:t>
            </a:fld>
            <a:endParaRPr lang="en-US"/>
          </a:p>
        </p:txBody>
      </p:sp>
    </p:spTree>
    <p:extLst>
      <p:ext uri="{BB962C8B-B14F-4D97-AF65-F5344CB8AC3E}">
        <p14:creationId xmlns:p14="http://schemas.microsoft.com/office/powerpoint/2010/main" val="4229346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fastest ramp-up there is up to 6-fold increase in viscoelastic force!</a:t>
            </a:r>
          </a:p>
          <a:p>
            <a:endParaRPr lang="en-US" dirty="0"/>
          </a:p>
          <a:p>
            <a:r>
              <a:rPr lang="en-US" dirty="0"/>
              <a:t>Is this real? What can we attribute that to?</a:t>
            </a:r>
          </a:p>
        </p:txBody>
      </p:sp>
      <p:sp>
        <p:nvSpPr>
          <p:cNvPr id="4" name="Slide Number Placeholder 3"/>
          <p:cNvSpPr>
            <a:spLocks noGrp="1"/>
          </p:cNvSpPr>
          <p:nvPr>
            <p:ph type="sldNum" sz="quarter" idx="5"/>
          </p:nvPr>
        </p:nvSpPr>
        <p:spPr/>
        <p:txBody>
          <a:bodyPr/>
          <a:lstStyle/>
          <a:p>
            <a:fld id="{67507397-76C4-4774-8775-233E39045206}" type="slidenum">
              <a:rPr lang="en-US" smtClean="0"/>
              <a:t>13</a:t>
            </a:fld>
            <a:endParaRPr lang="en-US"/>
          </a:p>
        </p:txBody>
      </p:sp>
    </p:spTree>
    <p:extLst>
      <p:ext uri="{BB962C8B-B14F-4D97-AF65-F5344CB8AC3E}">
        <p14:creationId xmlns:p14="http://schemas.microsoft.com/office/powerpoint/2010/main" val="121558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check – PNB </a:t>
            </a:r>
            <a:r>
              <a:rPr lang="en-US" dirty="0" err="1"/>
              <a:t>mava</a:t>
            </a:r>
            <a:r>
              <a:rPr lang="en-US" dirty="0"/>
              <a:t> does not affect the rig</a:t>
            </a:r>
          </a:p>
        </p:txBody>
      </p:sp>
      <p:sp>
        <p:nvSpPr>
          <p:cNvPr id="4" name="Slide Number Placeholder 3"/>
          <p:cNvSpPr>
            <a:spLocks noGrp="1"/>
          </p:cNvSpPr>
          <p:nvPr>
            <p:ph type="sldNum" sz="quarter" idx="5"/>
          </p:nvPr>
        </p:nvSpPr>
        <p:spPr/>
        <p:txBody>
          <a:bodyPr/>
          <a:lstStyle/>
          <a:p>
            <a:fld id="{67507397-76C4-4774-8775-233E39045206}" type="slidenum">
              <a:rPr lang="en-US" smtClean="0"/>
              <a:t>14</a:t>
            </a:fld>
            <a:endParaRPr lang="en-US"/>
          </a:p>
        </p:txBody>
      </p:sp>
    </p:spTree>
    <p:extLst>
      <p:ext uri="{BB962C8B-B14F-4D97-AF65-F5344CB8AC3E}">
        <p14:creationId xmlns:p14="http://schemas.microsoft.com/office/powerpoint/2010/main" val="3611171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check – active contraction will also increase the peak force</a:t>
            </a:r>
          </a:p>
        </p:txBody>
      </p:sp>
      <p:sp>
        <p:nvSpPr>
          <p:cNvPr id="4" name="Slide Number Placeholder 3"/>
          <p:cNvSpPr>
            <a:spLocks noGrp="1"/>
          </p:cNvSpPr>
          <p:nvPr>
            <p:ph type="sldNum" sz="quarter" idx="5"/>
          </p:nvPr>
        </p:nvSpPr>
        <p:spPr/>
        <p:txBody>
          <a:bodyPr/>
          <a:lstStyle/>
          <a:p>
            <a:fld id="{67507397-76C4-4774-8775-233E39045206}" type="slidenum">
              <a:rPr lang="en-US" smtClean="0"/>
              <a:t>15</a:t>
            </a:fld>
            <a:endParaRPr lang="en-US"/>
          </a:p>
        </p:txBody>
      </p:sp>
    </p:spTree>
    <p:extLst>
      <p:ext uri="{BB962C8B-B14F-4D97-AF65-F5344CB8AC3E}">
        <p14:creationId xmlns:p14="http://schemas.microsoft.com/office/powerpoint/2010/main" val="20395399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recent I do not have the raw data yet – just a screenshots, literary</a:t>
            </a:r>
          </a:p>
          <a:p>
            <a:endParaRPr lang="en-US" dirty="0"/>
          </a:p>
          <a:p>
            <a:r>
              <a:rPr lang="en-US" dirty="0"/>
              <a:t>Its different picture – see the reflection!</a:t>
            </a:r>
          </a:p>
          <a:p>
            <a:endParaRPr lang="en-US" dirty="0"/>
          </a:p>
          <a:p>
            <a:r>
              <a:rPr lang="en-US" dirty="0"/>
              <a:t>If you can see a slight difference, then correct for a zero drift</a:t>
            </a:r>
          </a:p>
        </p:txBody>
      </p:sp>
      <p:sp>
        <p:nvSpPr>
          <p:cNvPr id="4" name="Slide Number Placeholder 3"/>
          <p:cNvSpPr>
            <a:spLocks noGrp="1"/>
          </p:cNvSpPr>
          <p:nvPr>
            <p:ph type="sldNum" sz="quarter" idx="5"/>
          </p:nvPr>
        </p:nvSpPr>
        <p:spPr/>
        <p:txBody>
          <a:bodyPr/>
          <a:lstStyle/>
          <a:p>
            <a:fld id="{67507397-76C4-4774-8775-233E39045206}" type="slidenum">
              <a:rPr lang="en-US" smtClean="0"/>
              <a:t>16</a:t>
            </a:fld>
            <a:endParaRPr lang="en-US"/>
          </a:p>
        </p:txBody>
      </p:sp>
    </p:spTree>
    <p:extLst>
      <p:ext uri="{BB962C8B-B14F-4D97-AF65-F5344CB8AC3E}">
        <p14:creationId xmlns:p14="http://schemas.microsoft.com/office/powerpoint/2010/main" val="2013301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can help is point the mechanism</a:t>
            </a:r>
          </a:p>
          <a:p>
            <a:endParaRPr lang="en-US" dirty="0"/>
          </a:p>
          <a:p>
            <a:r>
              <a:rPr lang="en-US" dirty="0"/>
              <a:t>If we knew, we can correctly attribute that</a:t>
            </a:r>
          </a:p>
        </p:txBody>
      </p:sp>
      <p:sp>
        <p:nvSpPr>
          <p:cNvPr id="4" name="Slide Number Placeholder 3"/>
          <p:cNvSpPr>
            <a:spLocks noGrp="1"/>
          </p:cNvSpPr>
          <p:nvPr>
            <p:ph type="sldNum" sz="quarter" idx="5"/>
          </p:nvPr>
        </p:nvSpPr>
        <p:spPr/>
        <p:txBody>
          <a:bodyPr/>
          <a:lstStyle/>
          <a:p>
            <a:fld id="{67507397-76C4-4774-8775-233E39045206}" type="slidenum">
              <a:rPr lang="en-US" smtClean="0"/>
              <a:t>18</a:t>
            </a:fld>
            <a:endParaRPr lang="en-US"/>
          </a:p>
        </p:txBody>
      </p:sp>
    </p:spTree>
    <p:extLst>
      <p:ext uri="{BB962C8B-B14F-4D97-AF65-F5344CB8AC3E}">
        <p14:creationId xmlns:p14="http://schemas.microsoft.com/office/powerpoint/2010/main" val="938194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generate an actual image from the data</a:t>
            </a:r>
          </a:p>
        </p:txBody>
      </p:sp>
      <p:sp>
        <p:nvSpPr>
          <p:cNvPr id="4" name="Slide Number Placeholder 3"/>
          <p:cNvSpPr>
            <a:spLocks noGrp="1"/>
          </p:cNvSpPr>
          <p:nvPr>
            <p:ph type="sldNum" sz="quarter" idx="5"/>
          </p:nvPr>
        </p:nvSpPr>
        <p:spPr/>
        <p:txBody>
          <a:bodyPr/>
          <a:lstStyle/>
          <a:p>
            <a:fld id="{67507397-76C4-4774-8775-233E39045206}" type="slidenum">
              <a:rPr lang="en-US" smtClean="0"/>
              <a:t>19</a:t>
            </a:fld>
            <a:endParaRPr lang="en-US"/>
          </a:p>
        </p:txBody>
      </p:sp>
    </p:spTree>
    <p:extLst>
      <p:ext uri="{BB962C8B-B14F-4D97-AF65-F5344CB8AC3E}">
        <p14:creationId xmlns:p14="http://schemas.microsoft.com/office/powerpoint/2010/main" val="4272691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drives the Ca dependency?</a:t>
            </a:r>
          </a:p>
          <a:p>
            <a:endParaRPr lang="en-US" dirty="0"/>
          </a:p>
        </p:txBody>
      </p:sp>
      <p:sp>
        <p:nvSpPr>
          <p:cNvPr id="4" name="Slide Number Placeholder 3"/>
          <p:cNvSpPr>
            <a:spLocks noGrp="1"/>
          </p:cNvSpPr>
          <p:nvPr>
            <p:ph type="sldNum" sz="quarter" idx="5"/>
          </p:nvPr>
        </p:nvSpPr>
        <p:spPr/>
        <p:txBody>
          <a:bodyPr/>
          <a:lstStyle/>
          <a:p>
            <a:fld id="{67507397-76C4-4774-8775-233E39045206}" type="slidenum">
              <a:rPr lang="en-US" smtClean="0"/>
              <a:t>21</a:t>
            </a:fld>
            <a:endParaRPr lang="en-US"/>
          </a:p>
        </p:txBody>
      </p:sp>
    </p:spTree>
    <p:extLst>
      <p:ext uri="{BB962C8B-B14F-4D97-AF65-F5344CB8AC3E}">
        <p14:creationId xmlns:p14="http://schemas.microsoft.com/office/powerpoint/2010/main" val="4015170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unfolding rate is mathematically based on strain. With increased stiffness there is an increased force, requiring the alpha and unfolding exponent smaller. In result though, the unfolding is more “stabilized” with higher Ca</a:t>
            </a:r>
          </a:p>
          <a:p>
            <a:endParaRPr lang="en-US" dirty="0"/>
          </a:p>
        </p:txBody>
      </p:sp>
      <p:sp>
        <p:nvSpPr>
          <p:cNvPr id="4" name="Slide Number Placeholder 3"/>
          <p:cNvSpPr>
            <a:spLocks noGrp="1"/>
          </p:cNvSpPr>
          <p:nvPr>
            <p:ph type="sldNum" sz="quarter" idx="5"/>
          </p:nvPr>
        </p:nvSpPr>
        <p:spPr/>
        <p:txBody>
          <a:bodyPr/>
          <a:lstStyle/>
          <a:p>
            <a:fld id="{67507397-76C4-4774-8775-233E39045206}" type="slidenum">
              <a:rPr lang="en-US" smtClean="0"/>
              <a:t>22</a:t>
            </a:fld>
            <a:endParaRPr lang="en-US"/>
          </a:p>
        </p:txBody>
      </p:sp>
    </p:spTree>
    <p:extLst>
      <p:ext uri="{BB962C8B-B14F-4D97-AF65-F5344CB8AC3E}">
        <p14:creationId xmlns:p14="http://schemas.microsoft.com/office/powerpoint/2010/main" val="279761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low in population – no more than 2% - but visible effect</a:t>
            </a:r>
          </a:p>
          <a:p>
            <a:endParaRPr lang="en-US" dirty="0"/>
          </a:p>
          <a:p>
            <a:r>
              <a:rPr lang="en-US" dirty="0" err="1"/>
              <a:t>Wihtout</a:t>
            </a:r>
            <a:r>
              <a:rPr lang="en-US" dirty="0"/>
              <a:t> that the model cant reproduce the linear part of the decrease</a:t>
            </a:r>
          </a:p>
        </p:txBody>
      </p:sp>
      <p:sp>
        <p:nvSpPr>
          <p:cNvPr id="4" name="Slide Number Placeholder 3"/>
          <p:cNvSpPr>
            <a:spLocks noGrp="1"/>
          </p:cNvSpPr>
          <p:nvPr>
            <p:ph type="sldNum" sz="quarter" idx="5"/>
          </p:nvPr>
        </p:nvSpPr>
        <p:spPr/>
        <p:txBody>
          <a:bodyPr/>
          <a:lstStyle/>
          <a:p>
            <a:fld id="{67507397-76C4-4774-8775-233E39045206}" type="slidenum">
              <a:rPr lang="en-US" smtClean="0"/>
              <a:t>23</a:t>
            </a:fld>
            <a:endParaRPr lang="en-US"/>
          </a:p>
        </p:txBody>
      </p:sp>
    </p:spTree>
    <p:extLst>
      <p:ext uri="{BB962C8B-B14F-4D97-AF65-F5344CB8AC3E}">
        <p14:creationId xmlns:p14="http://schemas.microsoft.com/office/powerpoint/2010/main" val="3912459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model we tried to predict a cyclic loading (beating heart)</a:t>
            </a:r>
          </a:p>
          <a:p>
            <a:endParaRPr lang="en-US" dirty="0"/>
          </a:p>
          <a:p>
            <a:r>
              <a:rPr lang="en-US" dirty="0"/>
              <a:t>Without refolding it collapses to red</a:t>
            </a:r>
          </a:p>
        </p:txBody>
      </p:sp>
      <p:sp>
        <p:nvSpPr>
          <p:cNvPr id="4" name="Slide Number Placeholder 3"/>
          <p:cNvSpPr>
            <a:spLocks noGrp="1"/>
          </p:cNvSpPr>
          <p:nvPr>
            <p:ph type="sldNum" sz="quarter" idx="5"/>
          </p:nvPr>
        </p:nvSpPr>
        <p:spPr/>
        <p:txBody>
          <a:bodyPr/>
          <a:lstStyle/>
          <a:p>
            <a:fld id="{67507397-76C4-4774-8775-233E39045206}" type="slidenum">
              <a:rPr lang="en-US" smtClean="0"/>
              <a:t>24</a:t>
            </a:fld>
            <a:endParaRPr lang="en-US"/>
          </a:p>
        </p:txBody>
      </p:sp>
    </p:spTree>
    <p:extLst>
      <p:ext uri="{BB962C8B-B14F-4D97-AF65-F5344CB8AC3E}">
        <p14:creationId xmlns:p14="http://schemas.microsoft.com/office/powerpoint/2010/main" val="1934406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data</a:t>
            </a:r>
          </a:p>
        </p:txBody>
      </p:sp>
      <p:sp>
        <p:nvSpPr>
          <p:cNvPr id="4" name="Slide Number Placeholder 3"/>
          <p:cNvSpPr>
            <a:spLocks noGrp="1"/>
          </p:cNvSpPr>
          <p:nvPr>
            <p:ph type="sldNum" sz="quarter" idx="5"/>
          </p:nvPr>
        </p:nvSpPr>
        <p:spPr/>
        <p:txBody>
          <a:bodyPr/>
          <a:lstStyle/>
          <a:p>
            <a:fld id="{67507397-76C4-4774-8775-233E39045206}" type="slidenum">
              <a:rPr lang="en-US" smtClean="0"/>
              <a:t>28</a:t>
            </a:fld>
            <a:endParaRPr lang="en-US"/>
          </a:p>
        </p:txBody>
      </p:sp>
    </p:spTree>
    <p:extLst>
      <p:ext uri="{BB962C8B-B14F-4D97-AF65-F5344CB8AC3E}">
        <p14:creationId xmlns:p14="http://schemas.microsoft.com/office/powerpoint/2010/main" val="20352102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 in preparation</a:t>
            </a:r>
          </a:p>
        </p:txBody>
      </p:sp>
      <p:sp>
        <p:nvSpPr>
          <p:cNvPr id="4" name="Slide Number Placeholder 3"/>
          <p:cNvSpPr>
            <a:spLocks noGrp="1"/>
          </p:cNvSpPr>
          <p:nvPr>
            <p:ph type="sldNum" sz="quarter" idx="5"/>
          </p:nvPr>
        </p:nvSpPr>
        <p:spPr/>
        <p:txBody>
          <a:bodyPr/>
          <a:lstStyle/>
          <a:p>
            <a:fld id="{67507397-76C4-4774-8775-233E39045206}" type="slidenum">
              <a:rPr lang="en-US" smtClean="0"/>
              <a:t>29</a:t>
            </a:fld>
            <a:endParaRPr lang="en-US"/>
          </a:p>
        </p:txBody>
      </p:sp>
    </p:spTree>
    <p:extLst>
      <p:ext uri="{BB962C8B-B14F-4D97-AF65-F5344CB8AC3E}">
        <p14:creationId xmlns:p14="http://schemas.microsoft.com/office/powerpoint/2010/main" val="6223464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related to last talk given at this seminar</a:t>
            </a:r>
          </a:p>
          <a:p>
            <a:r>
              <a:rPr lang="en-US" dirty="0"/>
              <a:t>We deal with active XB </a:t>
            </a:r>
            <a:r>
              <a:rPr lang="en-US" dirty="0" err="1"/>
              <a:t>modelin</a:t>
            </a:r>
            <a:r>
              <a:rPr lang="en-US" dirty="0"/>
              <a:t>, where the SRX plays a vital role. SRX is biochemically defined state that shows several folds lower ATP turnover to save energy.</a:t>
            </a:r>
          </a:p>
          <a:p>
            <a:endParaRPr lang="en-US" dirty="0"/>
          </a:p>
          <a:p>
            <a:r>
              <a:rPr lang="en-US" dirty="0"/>
              <a:t>There is an assay to quantify that.  BY using fluorescent </a:t>
            </a:r>
            <a:r>
              <a:rPr lang="en-US" dirty="0" err="1"/>
              <a:t>mantATP</a:t>
            </a:r>
            <a:r>
              <a:rPr lang="en-US" dirty="0"/>
              <a:t> we can see the decay – fast rate is associated with non-SRX, slow rate is SRX.</a:t>
            </a:r>
          </a:p>
          <a:p>
            <a:endParaRPr lang="en-US" dirty="0"/>
          </a:p>
          <a:p>
            <a:r>
              <a:rPr lang="en-US" dirty="0"/>
              <a:t>We have modelled </a:t>
            </a:r>
            <a:r>
              <a:rPr lang="en-US" dirty="0" err="1"/>
              <a:t>proceses</a:t>
            </a:r>
            <a:r>
              <a:rPr lang="en-US" dirty="0"/>
              <a:t> and found a discrepancy between fitting a double-exponential and model-predicted SRX fraction.</a:t>
            </a:r>
          </a:p>
          <a:p>
            <a:endParaRPr lang="en-US" dirty="0"/>
          </a:p>
        </p:txBody>
      </p:sp>
      <p:sp>
        <p:nvSpPr>
          <p:cNvPr id="4" name="Slide Number Placeholder 3"/>
          <p:cNvSpPr>
            <a:spLocks noGrp="1"/>
          </p:cNvSpPr>
          <p:nvPr>
            <p:ph type="sldNum" sz="quarter" idx="5"/>
          </p:nvPr>
        </p:nvSpPr>
        <p:spPr/>
        <p:txBody>
          <a:bodyPr/>
          <a:lstStyle/>
          <a:p>
            <a:fld id="{67507397-76C4-4774-8775-233E39045206}" type="slidenum">
              <a:rPr lang="en-US" smtClean="0"/>
              <a:t>30</a:t>
            </a:fld>
            <a:endParaRPr lang="en-US"/>
          </a:p>
        </p:txBody>
      </p:sp>
    </p:spTree>
    <p:extLst>
      <p:ext uri="{BB962C8B-B14F-4D97-AF65-F5344CB8AC3E}">
        <p14:creationId xmlns:p14="http://schemas.microsoft.com/office/powerpoint/2010/main" val="3241736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93BA6-56CC-C1E4-FA7E-B9BB0E9EC9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989762-F5A2-8016-7094-F15D61451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DFE41D-C79F-1BE1-5A0B-F2ED84F0A24A}"/>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C3D9C94D-7182-BF61-213F-9A97865C8E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57ADF-0D3C-6E6F-0189-3BC45038CB25}"/>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1276057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0073C-E199-02F8-A25E-5C1F640029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26EC9B-721D-DC6C-A695-92AE1F18F8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48739A-CE5B-B2E9-6BA8-37BA1205A8D4}"/>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892D3B24-C11E-CADF-47B3-DCDB45AA6B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B7842-EC70-F954-FC63-C90DFAFD1B74}"/>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241846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B947-C4B4-7B53-30BE-8A351AF887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CC7B42-CCB0-B03A-0C24-A73C384146C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A84AEA-B8D4-0E92-26B8-4455B2F77658}"/>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FEB0CEF4-B646-4D83-A510-6EE218E12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4BCCE-05D7-F287-C1EE-88A424DB7C59}"/>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4056119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D4641-A828-FDE6-330C-5EFCEDA5FB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DF996F-9C52-CCB5-CB71-39AA925A1D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AFD1CC-E850-DE6F-23AE-30B50FA044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C7BDFF-5540-DC3E-06EF-E0BEEE3AF52B}"/>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6" name="Footer Placeholder 5">
            <a:extLst>
              <a:ext uri="{FF2B5EF4-FFF2-40B4-BE49-F238E27FC236}">
                <a16:creationId xmlns:a16="http://schemas.microsoft.com/office/drawing/2014/main" id="{465CF381-4C38-4C83-ED41-AEA9A724F4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B00CD6-9026-A93D-D8A8-49FCB2A346F0}"/>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1870223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F9721-FF30-7815-D80D-E2CDCE58BC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1C9596-52D5-F277-1CE1-031CBEEA4C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53363C-7CC2-CBC7-7A6B-9BD3C117BE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82B1FA-B0D8-5012-C813-CF26859281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CDADD-6C38-EE96-9C5A-B710B767AF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232FC4-D184-DF6F-D2E0-F55889DA33F9}"/>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8" name="Footer Placeholder 7">
            <a:extLst>
              <a:ext uri="{FF2B5EF4-FFF2-40B4-BE49-F238E27FC236}">
                <a16:creationId xmlns:a16="http://schemas.microsoft.com/office/drawing/2014/main" id="{9CA12791-AFAF-24C4-D2FF-1F71702246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6A4A88-04A2-02DE-D200-A85959A13964}"/>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764551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60D8-350F-B23C-A3D9-1CC74D3256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395DB2-6FB2-BF0E-866D-F7D24367E998}"/>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4" name="Footer Placeholder 3">
            <a:extLst>
              <a:ext uri="{FF2B5EF4-FFF2-40B4-BE49-F238E27FC236}">
                <a16:creationId xmlns:a16="http://schemas.microsoft.com/office/drawing/2014/main" id="{5A2DF423-3F84-6D81-3565-D78C82E0F4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79C61B-A4D0-5353-E916-74A0436A2568}"/>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3623664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EA33A2-E3CB-8BC1-5823-801D3D0EB35C}"/>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3" name="Footer Placeholder 2">
            <a:extLst>
              <a:ext uri="{FF2B5EF4-FFF2-40B4-BE49-F238E27FC236}">
                <a16:creationId xmlns:a16="http://schemas.microsoft.com/office/drawing/2014/main" id="{4197A90F-A51C-C614-506E-02EF0A3E4C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495A9D-FED5-F205-6F65-7C965FCA7992}"/>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3189479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C1538-F1AD-79EB-99A0-C00E262E71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4ED2F9-D8F2-3B01-9C0F-56D9BE3A74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930883-D4B4-ACAC-7233-8A431BA87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0B72C6-10DD-C16D-CF8B-31ED337AD6E1}"/>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6" name="Footer Placeholder 5">
            <a:extLst>
              <a:ext uri="{FF2B5EF4-FFF2-40B4-BE49-F238E27FC236}">
                <a16:creationId xmlns:a16="http://schemas.microsoft.com/office/drawing/2014/main" id="{4EAB40E1-6DDE-1D4A-C0BE-EBC5665F1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E1650B-6907-87CA-8021-CC042B1B6CE7}"/>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15775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B67E-CF92-9771-A8A4-E252BAF97F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E2E7B5-0FE1-EEA4-C88C-9343086F26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60EA0D7-9747-076E-A103-7616FB1696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CBDFE0-4F6D-AE89-58E9-AE48E4C17AAA}"/>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6" name="Footer Placeholder 5">
            <a:extLst>
              <a:ext uri="{FF2B5EF4-FFF2-40B4-BE49-F238E27FC236}">
                <a16:creationId xmlns:a16="http://schemas.microsoft.com/office/drawing/2014/main" id="{74D71770-9446-4D97-28B1-D526C5AEE3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C44708-0580-FE70-2994-760D9D80D359}"/>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343027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107F0-56C2-CEE0-4102-D936F44080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907C8C-9935-3945-B813-0398DE570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E4003B-091F-B59F-13A2-6FF46CAD806B}"/>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5C692EB1-5A87-9AE4-8D54-1FF0FFBC76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535400-5526-47A0-91EB-D0077EC7768C}"/>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3109518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818DAD-32F5-B41B-2855-650E8B738A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C740C6-29FB-B09F-49A2-BD5281C522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AE5F4C-51FD-9B9F-FE5C-E4364B79B4F1}"/>
              </a:ext>
            </a:extLst>
          </p:cNvPr>
          <p:cNvSpPr>
            <a:spLocks noGrp="1"/>
          </p:cNvSpPr>
          <p:nvPr>
            <p:ph type="dt" sz="half" idx="10"/>
          </p:nvPr>
        </p:nvSpPr>
        <p:spPr/>
        <p:txBody>
          <a:body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4BB26735-82A4-0E4D-89C1-674AEA6D1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47EF7F-85DF-C053-BE1B-EF070A73E342}"/>
              </a:ext>
            </a:extLst>
          </p:cNvPr>
          <p:cNvSpPr>
            <a:spLocks noGrp="1"/>
          </p:cNvSpPr>
          <p:nvPr>
            <p:ph type="sldNum" sz="quarter" idx="12"/>
          </p:nvPr>
        </p:nvSpPr>
        <p:spPr/>
        <p:txBody>
          <a:bodyPr/>
          <a:lstStyle/>
          <a:p>
            <a:fld id="{CF6FBD47-D9CF-4088-BA24-B6134DCC2EF7}" type="slidenum">
              <a:rPr lang="en-US" smtClean="0"/>
              <a:t>‹#›</a:t>
            </a:fld>
            <a:endParaRPr lang="en-US"/>
          </a:p>
        </p:txBody>
      </p:sp>
    </p:spTree>
    <p:extLst>
      <p:ext uri="{BB962C8B-B14F-4D97-AF65-F5344CB8AC3E}">
        <p14:creationId xmlns:p14="http://schemas.microsoft.com/office/powerpoint/2010/main" val="205919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651892-4D9E-851F-C459-04D0605E77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F31700-A001-63B4-CBA7-B8D9D4A91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11CCD5-7D5D-0836-86E1-0BAEAEA58D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C89CF1-0472-4732-A6F8-BF7CFB814FD1}" type="datetimeFigureOut">
              <a:rPr lang="en-US" smtClean="0"/>
              <a:t>10/17/2025</a:t>
            </a:fld>
            <a:endParaRPr lang="en-US"/>
          </a:p>
        </p:txBody>
      </p:sp>
      <p:sp>
        <p:nvSpPr>
          <p:cNvPr id="5" name="Footer Placeholder 4">
            <a:extLst>
              <a:ext uri="{FF2B5EF4-FFF2-40B4-BE49-F238E27FC236}">
                <a16:creationId xmlns:a16="http://schemas.microsoft.com/office/drawing/2014/main" id="{994D85B1-02B1-0BEA-03AD-2D00FBA827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D2ECC3-1BCF-7255-3151-00141F4D59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6FBD47-D9CF-4088-BA24-B6134DCC2EF7}" type="slidenum">
              <a:rPr lang="en-US" smtClean="0"/>
              <a:t>‹#›</a:t>
            </a:fld>
            <a:endParaRPr lang="en-US"/>
          </a:p>
        </p:txBody>
      </p:sp>
    </p:spTree>
    <p:extLst>
      <p:ext uri="{BB962C8B-B14F-4D97-AF65-F5344CB8AC3E}">
        <p14:creationId xmlns:p14="http://schemas.microsoft.com/office/powerpoint/2010/main" val="1986186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jezek@umich.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doi.org/10.1007/s11897-012-0109-5"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emf"/><Relationship Id="rId7" Type="http://schemas.openxmlformats.org/officeDocument/2006/relationships/image" Target="../media/image14.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hyperlink" Target="https://www.nature.com/articles/s41467-017-02528-7" TargetMode="External"/><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00.png"/><Relationship Id="rId5" Type="http://schemas.openxmlformats.org/officeDocument/2006/relationships/image" Target="../media/image18.png"/><Relationship Id="rId4" Type="http://schemas.openxmlformats.org/officeDocument/2006/relationships/image" Target="../media/image17.emf"/><Relationship Id="rId9" Type="http://schemas.openxmlformats.org/officeDocument/2006/relationships/hyperlink" Target="https://creativecommons.org/licenses/by/4.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emf"/><Relationship Id="rId11" Type="http://schemas.openxmlformats.org/officeDocument/2006/relationships/image" Target="../media/image39.emf"/><Relationship Id="rId5" Type="http://schemas.openxmlformats.org/officeDocument/2006/relationships/image" Target="../media/image33.emf"/><Relationship Id="rId10" Type="http://schemas.openxmlformats.org/officeDocument/2006/relationships/image" Target="../media/image38.emf"/><Relationship Id="rId4" Type="http://schemas.openxmlformats.org/officeDocument/2006/relationships/image" Target="../media/image32.emf"/><Relationship Id="rId9" Type="http://schemas.openxmlformats.org/officeDocument/2006/relationships/image" Target="../media/image37.emf"/></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jpeg"/><Relationship Id="rId7"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beards-lab/TitinViscoelasticity" TargetMode="Externa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2596-74CE-7D6D-E3BD-62D811A665D8}"/>
              </a:ext>
            </a:extLst>
          </p:cNvPr>
          <p:cNvSpPr>
            <a:spLocks noGrp="1"/>
          </p:cNvSpPr>
          <p:nvPr>
            <p:ph type="ctrTitle"/>
          </p:nvPr>
        </p:nvSpPr>
        <p:spPr>
          <a:xfrm>
            <a:off x="0" y="1122363"/>
            <a:ext cx="12029440" cy="2387600"/>
          </a:xfrm>
        </p:spPr>
        <p:txBody>
          <a:bodyPr>
            <a:normAutofit fontScale="90000"/>
          </a:bodyPr>
          <a:lstStyle/>
          <a:p>
            <a:r>
              <a:rPr lang="en-US" b="1" i="0" dirty="0">
                <a:solidFill>
                  <a:srgbClr val="903000"/>
                </a:solidFill>
                <a:effectLst/>
                <a:highlight>
                  <a:srgbClr val="FFFFFF"/>
                </a:highlight>
              </a:rPr>
              <a:t>Cardiac muscle’s titin follows calcium-dependent power-law relaxation</a:t>
            </a:r>
            <a:endParaRPr lang="en-US" dirty="0"/>
          </a:p>
        </p:txBody>
      </p:sp>
      <p:sp>
        <p:nvSpPr>
          <p:cNvPr id="3" name="Subtitle 2">
            <a:extLst>
              <a:ext uri="{FF2B5EF4-FFF2-40B4-BE49-F238E27FC236}">
                <a16:creationId xmlns:a16="http://schemas.microsoft.com/office/drawing/2014/main" id="{0A09CAF0-E494-BF19-C9D8-B7258B1BABBC}"/>
              </a:ext>
            </a:extLst>
          </p:cNvPr>
          <p:cNvSpPr>
            <a:spLocks noGrp="1"/>
          </p:cNvSpPr>
          <p:nvPr>
            <p:ph type="subTitle" idx="1"/>
          </p:nvPr>
        </p:nvSpPr>
        <p:spPr>
          <a:xfrm>
            <a:off x="716692" y="3602037"/>
            <a:ext cx="11088130" cy="2133599"/>
          </a:xfrm>
        </p:spPr>
        <p:txBody>
          <a:bodyPr>
            <a:normAutofit lnSpcReduction="10000"/>
          </a:bodyPr>
          <a:lstStyle/>
          <a:p>
            <a:r>
              <a:rPr lang="en-US" i="1" dirty="0">
                <a:solidFill>
                  <a:srgbClr val="000000"/>
                </a:solidFill>
                <a:effectLst/>
                <a:highlight>
                  <a:srgbClr val="FFFFFF"/>
                </a:highlight>
              </a:rPr>
              <a:t>Filip Jezek</a:t>
            </a:r>
            <a:r>
              <a:rPr lang="en-US" i="1" baseline="30000" dirty="0">
                <a:solidFill>
                  <a:srgbClr val="000000"/>
                </a:solidFill>
                <a:effectLst/>
                <a:highlight>
                  <a:srgbClr val="FFFFFF"/>
                </a:highlight>
              </a:rPr>
              <a:t>1</a:t>
            </a:r>
            <a:r>
              <a:rPr lang="en-US" i="1" dirty="0">
                <a:solidFill>
                  <a:srgbClr val="000000"/>
                </a:solidFill>
                <a:effectLst/>
                <a:highlight>
                  <a:srgbClr val="FFFFFF"/>
                </a:highlight>
              </a:rPr>
              <a:t>, Anthony Baker</a:t>
            </a:r>
            <a:r>
              <a:rPr lang="en-US" i="1" baseline="30000" dirty="0">
                <a:solidFill>
                  <a:srgbClr val="000000"/>
                </a:solidFill>
                <a:effectLst/>
                <a:highlight>
                  <a:srgbClr val="FFFFFF"/>
                </a:highlight>
              </a:rPr>
              <a:t>3</a:t>
            </a:r>
            <a:r>
              <a:rPr lang="en-US" i="1" dirty="0">
                <a:solidFill>
                  <a:srgbClr val="000000"/>
                </a:solidFill>
                <a:effectLst/>
                <a:highlight>
                  <a:srgbClr val="FFFFFF"/>
                </a:highlight>
              </a:rPr>
              <a:t>, David Nordsletten</a:t>
            </a:r>
            <a:r>
              <a:rPr lang="en-US" i="1" baseline="30000" dirty="0">
                <a:solidFill>
                  <a:srgbClr val="000000"/>
                </a:solidFill>
                <a:effectLst/>
                <a:highlight>
                  <a:srgbClr val="FFFFFF"/>
                </a:highlight>
              </a:rPr>
              <a:t>2</a:t>
            </a:r>
            <a:r>
              <a:rPr lang="en-US" i="1" dirty="0">
                <a:solidFill>
                  <a:srgbClr val="000000"/>
                </a:solidFill>
                <a:effectLst/>
                <a:highlight>
                  <a:srgbClr val="FFFFFF"/>
                </a:highlight>
              </a:rPr>
              <a:t>, Daniel A Beard</a:t>
            </a:r>
            <a:r>
              <a:rPr lang="en-US" i="1" baseline="30000" dirty="0">
                <a:solidFill>
                  <a:srgbClr val="000000"/>
                </a:solidFill>
                <a:effectLst/>
                <a:highlight>
                  <a:srgbClr val="FFFFFF"/>
                </a:highlight>
              </a:rPr>
              <a:t>1</a:t>
            </a:r>
          </a:p>
          <a:p>
            <a:r>
              <a:rPr lang="en-US" sz="1900" b="0" i="0" baseline="30000" dirty="0">
                <a:solidFill>
                  <a:srgbClr val="000000"/>
                </a:solidFill>
                <a:effectLst/>
                <a:highlight>
                  <a:srgbClr val="FFFFFF"/>
                </a:highlight>
              </a:rPr>
              <a:t>1</a:t>
            </a:r>
            <a:r>
              <a:rPr lang="en-US" sz="1900" b="0" i="0" dirty="0">
                <a:solidFill>
                  <a:srgbClr val="000000"/>
                </a:solidFill>
                <a:effectLst/>
                <a:highlight>
                  <a:srgbClr val="FFFFFF"/>
                </a:highlight>
              </a:rPr>
              <a:t>Department of Molecular and Integrative Physiology, University of Michigan, Ann Arbor, MI, USA; </a:t>
            </a:r>
            <a:br>
              <a:rPr lang="en-US" sz="1900" b="0" i="0" dirty="0">
                <a:solidFill>
                  <a:srgbClr val="000000"/>
                </a:solidFill>
                <a:effectLst/>
                <a:highlight>
                  <a:srgbClr val="FFFFFF"/>
                </a:highlight>
              </a:rPr>
            </a:br>
            <a:r>
              <a:rPr lang="en-US" sz="1900" b="0" i="0" baseline="30000" dirty="0">
                <a:solidFill>
                  <a:srgbClr val="000000"/>
                </a:solidFill>
                <a:effectLst/>
                <a:highlight>
                  <a:srgbClr val="FFFFFF"/>
                </a:highlight>
              </a:rPr>
              <a:t>2</a:t>
            </a:r>
            <a:r>
              <a:rPr lang="en-US" sz="1900" b="0" i="0" dirty="0">
                <a:solidFill>
                  <a:srgbClr val="000000"/>
                </a:solidFill>
                <a:effectLst/>
                <a:highlight>
                  <a:srgbClr val="FFFFFF"/>
                </a:highlight>
              </a:rPr>
              <a:t>Departments of Biomedical Engineering and Cardiac Surgery, University of Michigan, Ann Arbor, MI, USA; </a:t>
            </a:r>
            <a:br>
              <a:rPr lang="en-US" sz="1900" b="0" i="0" dirty="0">
                <a:solidFill>
                  <a:srgbClr val="000000"/>
                </a:solidFill>
                <a:effectLst/>
                <a:highlight>
                  <a:srgbClr val="FFFFFF"/>
                </a:highlight>
              </a:rPr>
            </a:br>
            <a:r>
              <a:rPr lang="en-US" sz="1900" b="0" i="0" baseline="30000" dirty="0">
                <a:solidFill>
                  <a:srgbClr val="000000"/>
                </a:solidFill>
                <a:effectLst/>
                <a:highlight>
                  <a:srgbClr val="FFFFFF"/>
                </a:highlight>
              </a:rPr>
              <a:t>3</a:t>
            </a:r>
            <a:r>
              <a:rPr lang="en-US" sz="1900" b="0" i="0" dirty="0">
                <a:solidFill>
                  <a:srgbClr val="000000"/>
                </a:solidFill>
                <a:effectLst/>
                <a:highlight>
                  <a:srgbClr val="FFFFFF"/>
                </a:highlight>
              </a:rPr>
              <a:t>Veterans Affairs Medical Center, San Francisco, CA, and Department of Medicine, University of California, San Francisco, CA, USA</a:t>
            </a:r>
          </a:p>
          <a:p>
            <a:r>
              <a:rPr lang="en-US" sz="1900" u="sng" dirty="0">
                <a:solidFill>
                  <a:srgbClr val="000000"/>
                </a:solidFill>
                <a:highlight>
                  <a:srgbClr val="FFFFFF"/>
                </a:highlight>
                <a:hlinkClick r:id="rId3"/>
              </a:rPr>
              <a:t>fjezek@umich.edu</a:t>
            </a:r>
            <a:r>
              <a:rPr lang="en-US" sz="1900" u="sng" dirty="0">
                <a:solidFill>
                  <a:srgbClr val="000000"/>
                </a:solidFill>
                <a:highlight>
                  <a:srgbClr val="FFFFFF"/>
                </a:highlight>
              </a:rPr>
              <a:t> </a:t>
            </a:r>
            <a:endParaRPr lang="en-US" sz="1900" i="1" u="sng" dirty="0"/>
          </a:p>
        </p:txBody>
      </p:sp>
    </p:spTree>
    <p:extLst>
      <p:ext uri="{BB962C8B-B14F-4D97-AF65-F5344CB8AC3E}">
        <p14:creationId xmlns:p14="http://schemas.microsoft.com/office/powerpoint/2010/main" val="2052967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AB19-6A64-02EB-CA79-353A57DE3A89}"/>
              </a:ext>
            </a:extLst>
          </p:cNvPr>
          <p:cNvSpPr>
            <a:spLocks noGrp="1"/>
          </p:cNvSpPr>
          <p:nvPr>
            <p:ph type="title"/>
          </p:nvPr>
        </p:nvSpPr>
        <p:spPr/>
        <p:txBody>
          <a:bodyPr/>
          <a:lstStyle/>
          <a:p>
            <a:r>
              <a:rPr lang="en-US" dirty="0"/>
              <a:t>Titin</a:t>
            </a:r>
          </a:p>
        </p:txBody>
      </p:sp>
      <p:sp>
        <p:nvSpPr>
          <p:cNvPr id="3" name="Content Placeholder 2">
            <a:extLst>
              <a:ext uri="{FF2B5EF4-FFF2-40B4-BE49-F238E27FC236}">
                <a16:creationId xmlns:a16="http://schemas.microsoft.com/office/drawing/2014/main" id="{2B5D67DE-87A8-552F-FF69-DC16A9722219}"/>
              </a:ext>
            </a:extLst>
          </p:cNvPr>
          <p:cNvSpPr>
            <a:spLocks noGrp="1"/>
          </p:cNvSpPr>
          <p:nvPr>
            <p:ph idx="1"/>
          </p:nvPr>
        </p:nvSpPr>
        <p:spPr>
          <a:xfrm>
            <a:off x="838200" y="1825625"/>
            <a:ext cx="6546011" cy="4351338"/>
          </a:xfrm>
        </p:spPr>
        <p:txBody>
          <a:bodyPr>
            <a:normAutofit/>
          </a:bodyPr>
          <a:lstStyle/>
          <a:p>
            <a:r>
              <a:rPr lang="en-US" dirty="0"/>
              <a:t>Major </a:t>
            </a:r>
            <a:r>
              <a:rPr lang="en-US" dirty="0" err="1"/>
              <a:t>sarcomeric</a:t>
            </a:r>
            <a:r>
              <a:rPr lang="en-US" dirty="0"/>
              <a:t> structural contributor to passive tension</a:t>
            </a:r>
          </a:p>
          <a:p>
            <a:r>
              <a:rPr lang="en-US" dirty="0"/>
              <a:t>Molecular spring, contributing to the passive mechanical properties of striated muscle</a:t>
            </a:r>
          </a:p>
          <a:p>
            <a:r>
              <a:rPr lang="en-US" dirty="0"/>
              <a:t>Contributor to diastolic dysfunction</a:t>
            </a:r>
            <a:r>
              <a:rPr lang="en-US" baseline="30000" dirty="0"/>
              <a:t>1</a:t>
            </a:r>
          </a:p>
          <a:p>
            <a:pPr marL="0" indent="0">
              <a:buNone/>
            </a:pPr>
            <a:endParaRPr lang="en-US" dirty="0"/>
          </a:p>
        </p:txBody>
      </p:sp>
      <p:pic>
        <p:nvPicPr>
          <p:cNvPr id="1026" name="Picture 2" descr="Myosin binding protein C, cardiac - Wikipedia">
            <a:extLst>
              <a:ext uri="{FF2B5EF4-FFF2-40B4-BE49-F238E27FC236}">
                <a16:creationId xmlns:a16="http://schemas.microsoft.com/office/drawing/2014/main" id="{00CF221F-9858-998C-3EE1-81A3CC6F1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1395" y="4145562"/>
            <a:ext cx="4709160" cy="22987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4EBC92B-97D1-1724-33E0-2B00380AB7E3}"/>
              </a:ext>
            </a:extLst>
          </p:cNvPr>
          <p:cNvSpPr txBox="1"/>
          <p:nvPr/>
        </p:nvSpPr>
        <p:spPr>
          <a:xfrm>
            <a:off x="7783390" y="6488668"/>
            <a:ext cx="4431030" cy="400110"/>
          </a:xfrm>
          <a:prstGeom prst="rect">
            <a:avLst/>
          </a:prstGeom>
          <a:noFill/>
        </p:spPr>
        <p:txBody>
          <a:bodyPr wrap="square">
            <a:spAutoFit/>
          </a:bodyPr>
          <a:lstStyle/>
          <a:p>
            <a:r>
              <a:rPr lang="en-US" sz="1000" dirty="0"/>
              <a:t>Images credit: Peng 2014 http://dx.doi.org/10.1074/mcp.M114.040675</a:t>
            </a:r>
          </a:p>
          <a:p>
            <a:r>
              <a:rPr lang="en-US" sz="1000" dirty="0"/>
              <a:t>https://commons.wikimedia.org/wiki/File:Cardiac_sarcomere_structure.png</a:t>
            </a:r>
          </a:p>
        </p:txBody>
      </p:sp>
      <p:pic>
        <p:nvPicPr>
          <p:cNvPr id="9" name="Picture 8">
            <a:extLst>
              <a:ext uri="{FF2B5EF4-FFF2-40B4-BE49-F238E27FC236}">
                <a16:creationId xmlns:a16="http://schemas.microsoft.com/office/drawing/2014/main" id="{E39B198E-0E49-A32B-BC5D-759EEFC42B2B}"/>
              </a:ext>
            </a:extLst>
          </p:cNvPr>
          <p:cNvPicPr>
            <a:picLocks noChangeAspect="1"/>
          </p:cNvPicPr>
          <p:nvPr/>
        </p:nvPicPr>
        <p:blipFill>
          <a:blip r:embed="rId4"/>
          <a:stretch>
            <a:fillRect/>
          </a:stretch>
        </p:blipFill>
        <p:spPr>
          <a:xfrm>
            <a:off x="9139370" y="124009"/>
            <a:ext cx="2828660" cy="3403231"/>
          </a:xfrm>
          <a:prstGeom prst="rect">
            <a:avLst/>
          </a:prstGeom>
        </p:spPr>
      </p:pic>
      <p:sp>
        <p:nvSpPr>
          <p:cNvPr id="6" name="TextBox 5">
            <a:extLst>
              <a:ext uri="{FF2B5EF4-FFF2-40B4-BE49-F238E27FC236}">
                <a16:creationId xmlns:a16="http://schemas.microsoft.com/office/drawing/2014/main" id="{61C72BE0-1DDE-511B-5D4C-279D696BA86B}"/>
              </a:ext>
            </a:extLst>
          </p:cNvPr>
          <p:cNvSpPr txBox="1"/>
          <p:nvPr/>
        </p:nvSpPr>
        <p:spPr>
          <a:xfrm>
            <a:off x="215696" y="6365558"/>
            <a:ext cx="7135699" cy="523220"/>
          </a:xfrm>
          <a:prstGeom prst="rect">
            <a:avLst/>
          </a:prstGeom>
          <a:noFill/>
        </p:spPr>
        <p:txBody>
          <a:bodyPr wrap="square">
            <a:spAutoFit/>
          </a:bodyPr>
          <a:lstStyle/>
          <a:p>
            <a:r>
              <a:rPr lang="en-US" sz="1400" baseline="30000" dirty="0"/>
              <a:t>1 </a:t>
            </a:r>
            <a:r>
              <a:rPr lang="en-US" sz="1400" dirty="0"/>
              <a:t>L. van </a:t>
            </a:r>
            <a:r>
              <a:rPr lang="en-US" sz="1400" dirty="0" err="1"/>
              <a:t>Heerebeek</a:t>
            </a:r>
            <a:r>
              <a:rPr lang="en-US" sz="1400" dirty="0"/>
              <a:t> et al. "Molecular and Cellular Basis for Diastolic Dysfunction." Current Heart Failure Reports, 9 (2012): 293-302. </a:t>
            </a:r>
            <a:r>
              <a:rPr lang="en-US" sz="1400" dirty="0">
                <a:hlinkClick r:id="rId5"/>
              </a:rPr>
              <a:t>https://doi.org/10.1007/s11897-012-0109-5</a:t>
            </a:r>
            <a:r>
              <a:rPr lang="en-US" sz="1400" dirty="0"/>
              <a:t>.</a:t>
            </a:r>
          </a:p>
        </p:txBody>
      </p:sp>
      <p:cxnSp>
        <p:nvCxnSpPr>
          <p:cNvPr id="10" name="Straight Connector 9">
            <a:extLst>
              <a:ext uri="{FF2B5EF4-FFF2-40B4-BE49-F238E27FC236}">
                <a16:creationId xmlns:a16="http://schemas.microsoft.com/office/drawing/2014/main" id="{B246AD5C-FD4C-0332-AE86-A3EEBB1A3938}"/>
              </a:ext>
            </a:extLst>
          </p:cNvPr>
          <p:cNvCxnSpPr>
            <a:cxnSpLocks/>
          </p:cNvCxnSpPr>
          <p:nvPr/>
        </p:nvCxnSpPr>
        <p:spPr>
          <a:xfrm flipV="1">
            <a:off x="7581900" y="3053260"/>
            <a:ext cx="1493520" cy="149588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668E901-8D17-D780-43FD-E4703231B4AB}"/>
              </a:ext>
            </a:extLst>
          </p:cNvPr>
          <p:cNvCxnSpPr>
            <a:cxnSpLocks/>
          </p:cNvCxnSpPr>
          <p:nvPr/>
        </p:nvCxnSpPr>
        <p:spPr>
          <a:xfrm flipH="1" flipV="1">
            <a:off x="9928860" y="3040380"/>
            <a:ext cx="2019300" cy="1508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1529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24520-E877-DE37-4B31-3238A02D2FE9}"/>
              </a:ext>
            </a:extLst>
          </p:cNvPr>
          <p:cNvSpPr>
            <a:spLocks noGrp="1"/>
          </p:cNvSpPr>
          <p:nvPr>
            <p:ph type="title"/>
          </p:nvPr>
        </p:nvSpPr>
        <p:spPr>
          <a:xfrm>
            <a:off x="535459" y="365125"/>
            <a:ext cx="10818341" cy="879781"/>
          </a:xfrm>
        </p:spPr>
        <p:txBody>
          <a:bodyPr>
            <a:noAutofit/>
          </a:bodyPr>
          <a:lstStyle/>
          <a:p>
            <a:r>
              <a:rPr lang="en-US" dirty="0"/>
              <a:t>Probing passive mechanical properties of cardiac muscle fibers </a:t>
            </a:r>
          </a:p>
        </p:txBody>
      </p:sp>
      <p:pic>
        <p:nvPicPr>
          <p:cNvPr id="6" name="Content Placeholder 5">
            <a:extLst>
              <a:ext uri="{FF2B5EF4-FFF2-40B4-BE49-F238E27FC236}">
                <a16:creationId xmlns:a16="http://schemas.microsoft.com/office/drawing/2014/main" id="{B56C788F-7CF3-8F4C-C44E-87AF8F48DAE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736127" y="1574016"/>
            <a:ext cx="5181600" cy="2783384"/>
          </a:xfrm>
        </p:spPr>
      </p:pic>
      <p:sp>
        <p:nvSpPr>
          <p:cNvPr id="12" name="TextBox 11">
            <a:extLst>
              <a:ext uri="{FF2B5EF4-FFF2-40B4-BE49-F238E27FC236}">
                <a16:creationId xmlns:a16="http://schemas.microsoft.com/office/drawing/2014/main" id="{CA8CE58D-7241-52A5-D5BD-FC6D07207929}"/>
              </a:ext>
            </a:extLst>
          </p:cNvPr>
          <p:cNvSpPr txBox="1"/>
          <p:nvPr/>
        </p:nvSpPr>
        <p:spPr>
          <a:xfrm>
            <a:off x="6064185" y="5462746"/>
            <a:ext cx="2754499" cy="1200329"/>
          </a:xfrm>
          <a:prstGeom prst="rect">
            <a:avLst/>
          </a:prstGeom>
          <a:noFill/>
        </p:spPr>
        <p:txBody>
          <a:bodyPr wrap="square" rtlCol="0">
            <a:spAutoFit/>
          </a:bodyPr>
          <a:lstStyle/>
          <a:p>
            <a:r>
              <a:rPr lang="en-US" sz="2400" dirty="0"/>
              <a:t>Skinned murine cardiac trabecular muscle</a:t>
            </a:r>
          </a:p>
        </p:txBody>
      </p:sp>
      <p:sp>
        <p:nvSpPr>
          <p:cNvPr id="13" name="TextBox 12">
            <a:extLst>
              <a:ext uri="{FF2B5EF4-FFF2-40B4-BE49-F238E27FC236}">
                <a16:creationId xmlns:a16="http://schemas.microsoft.com/office/drawing/2014/main" id="{598827D8-777F-72CC-9A21-CD8306294FF7}"/>
              </a:ext>
            </a:extLst>
          </p:cNvPr>
          <p:cNvSpPr txBox="1"/>
          <p:nvPr/>
        </p:nvSpPr>
        <p:spPr>
          <a:xfrm>
            <a:off x="5297144" y="2380532"/>
            <a:ext cx="987899" cy="461665"/>
          </a:xfrm>
          <a:prstGeom prst="rect">
            <a:avLst/>
          </a:prstGeom>
          <a:solidFill>
            <a:schemeClr val="bg1"/>
          </a:solidFill>
        </p:spPr>
        <p:txBody>
          <a:bodyPr wrap="none" rtlCol="0">
            <a:spAutoFit/>
          </a:bodyPr>
          <a:lstStyle/>
          <a:p>
            <a:r>
              <a:rPr lang="en-US" sz="2400" dirty="0"/>
              <a:t>motor</a:t>
            </a:r>
          </a:p>
        </p:txBody>
      </p:sp>
      <p:sp>
        <p:nvSpPr>
          <p:cNvPr id="14" name="TextBox 13">
            <a:extLst>
              <a:ext uri="{FF2B5EF4-FFF2-40B4-BE49-F238E27FC236}">
                <a16:creationId xmlns:a16="http://schemas.microsoft.com/office/drawing/2014/main" id="{1CED336B-0162-4D0D-E8DA-C2A4CA22B032}"/>
              </a:ext>
            </a:extLst>
          </p:cNvPr>
          <p:cNvSpPr txBox="1"/>
          <p:nvPr/>
        </p:nvSpPr>
        <p:spPr>
          <a:xfrm>
            <a:off x="1913464" y="2369842"/>
            <a:ext cx="975267" cy="830997"/>
          </a:xfrm>
          <a:prstGeom prst="rect">
            <a:avLst/>
          </a:prstGeom>
          <a:solidFill>
            <a:schemeClr val="bg1"/>
          </a:solidFill>
        </p:spPr>
        <p:txBody>
          <a:bodyPr wrap="none" rtlCol="0">
            <a:spAutoFit/>
          </a:bodyPr>
          <a:lstStyle/>
          <a:p>
            <a:r>
              <a:rPr lang="en-US" sz="2400" dirty="0"/>
              <a:t>Force</a:t>
            </a:r>
          </a:p>
          <a:p>
            <a:r>
              <a:rPr lang="en-US" sz="2400" dirty="0"/>
              <a:t>gauge</a:t>
            </a:r>
          </a:p>
        </p:txBody>
      </p:sp>
      <p:grpSp>
        <p:nvGrpSpPr>
          <p:cNvPr id="3" name="Group 2">
            <a:extLst>
              <a:ext uri="{FF2B5EF4-FFF2-40B4-BE49-F238E27FC236}">
                <a16:creationId xmlns:a16="http://schemas.microsoft.com/office/drawing/2014/main" id="{D11B207D-4178-524A-3A18-CE0865A4FF70}"/>
              </a:ext>
            </a:extLst>
          </p:cNvPr>
          <p:cNvGrpSpPr/>
          <p:nvPr/>
        </p:nvGrpSpPr>
        <p:grpSpPr>
          <a:xfrm>
            <a:off x="2966012" y="4630780"/>
            <a:ext cx="3072953" cy="1893796"/>
            <a:chOff x="2214389" y="4767940"/>
            <a:chExt cx="3072953" cy="1893796"/>
          </a:xfrm>
        </p:grpSpPr>
        <p:pic>
          <p:nvPicPr>
            <p:cNvPr id="10" name="Picture 9">
              <a:extLst>
                <a:ext uri="{FF2B5EF4-FFF2-40B4-BE49-F238E27FC236}">
                  <a16:creationId xmlns:a16="http://schemas.microsoft.com/office/drawing/2014/main" id="{7405BFCB-3FF3-7206-A63F-7D333CCD5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4389" y="4767940"/>
              <a:ext cx="3072953" cy="1893796"/>
            </a:xfrm>
            <a:prstGeom prst="rect">
              <a:avLst/>
            </a:prstGeom>
          </p:spPr>
        </p:pic>
        <p:sp>
          <p:nvSpPr>
            <p:cNvPr id="20" name="TextBox 19">
              <a:extLst>
                <a:ext uri="{FF2B5EF4-FFF2-40B4-BE49-F238E27FC236}">
                  <a16:creationId xmlns:a16="http://schemas.microsoft.com/office/drawing/2014/main" id="{F78B05A3-5BA7-646C-11E9-32E89F4CFC5A}"/>
                </a:ext>
              </a:extLst>
            </p:cNvPr>
            <p:cNvSpPr txBox="1"/>
            <p:nvPr/>
          </p:nvSpPr>
          <p:spPr>
            <a:xfrm>
              <a:off x="2214389" y="6200071"/>
              <a:ext cx="1178528" cy="461665"/>
            </a:xfrm>
            <a:prstGeom prst="rect">
              <a:avLst/>
            </a:prstGeom>
            <a:solidFill>
              <a:schemeClr val="bg1"/>
            </a:solidFill>
          </p:spPr>
          <p:txBody>
            <a:bodyPr wrap="none" rtlCol="0">
              <a:spAutoFit/>
            </a:bodyPr>
            <a:lstStyle/>
            <a:p>
              <a:r>
                <a:rPr lang="en-US" sz="2400" dirty="0"/>
                <a:t>100 </a:t>
              </a:r>
              <a:r>
                <a:rPr lang="en-US" sz="2400" dirty="0" err="1"/>
                <a:t>μm</a:t>
              </a:r>
              <a:endParaRPr lang="en-US" sz="2400" dirty="0"/>
            </a:p>
          </p:txBody>
        </p:sp>
        <p:cxnSp>
          <p:nvCxnSpPr>
            <p:cNvPr id="17" name="Straight Connector 16">
              <a:extLst>
                <a:ext uri="{FF2B5EF4-FFF2-40B4-BE49-F238E27FC236}">
                  <a16:creationId xmlns:a16="http://schemas.microsoft.com/office/drawing/2014/main" id="{0A8751DF-D313-B09D-1648-9AA65443F780}"/>
                </a:ext>
              </a:extLst>
            </p:cNvPr>
            <p:cNvCxnSpPr>
              <a:cxnSpLocks/>
            </p:cNvCxnSpPr>
            <p:nvPr/>
          </p:nvCxnSpPr>
          <p:spPr>
            <a:xfrm>
              <a:off x="2631745" y="6246798"/>
              <a:ext cx="275665" cy="0"/>
            </a:xfrm>
            <a:prstGeom prst="line">
              <a:avLst/>
            </a:prstGeom>
            <a:ln w="6032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1" name="TextBox 20">
            <a:extLst>
              <a:ext uri="{FF2B5EF4-FFF2-40B4-BE49-F238E27FC236}">
                <a16:creationId xmlns:a16="http://schemas.microsoft.com/office/drawing/2014/main" id="{B27C7D68-39F6-B71F-F7A1-455513FC7EFD}"/>
              </a:ext>
            </a:extLst>
          </p:cNvPr>
          <p:cNvSpPr txBox="1"/>
          <p:nvPr/>
        </p:nvSpPr>
        <p:spPr>
          <a:xfrm>
            <a:off x="3467150" y="1704576"/>
            <a:ext cx="1172116" cy="461665"/>
          </a:xfrm>
          <a:prstGeom prst="rect">
            <a:avLst/>
          </a:prstGeom>
          <a:solidFill>
            <a:schemeClr val="bg1"/>
          </a:solidFill>
        </p:spPr>
        <p:txBody>
          <a:bodyPr wrap="none" rtlCol="0">
            <a:spAutoFit/>
          </a:bodyPr>
          <a:lstStyle/>
          <a:p>
            <a:r>
              <a:rPr lang="en-US" sz="2400" dirty="0"/>
              <a:t>muscle</a:t>
            </a:r>
          </a:p>
        </p:txBody>
      </p:sp>
      <p:cxnSp>
        <p:nvCxnSpPr>
          <p:cNvPr id="5" name="Straight Arrow Connector 4">
            <a:extLst>
              <a:ext uri="{FF2B5EF4-FFF2-40B4-BE49-F238E27FC236}">
                <a16:creationId xmlns:a16="http://schemas.microsoft.com/office/drawing/2014/main" id="{3138FAD0-4A62-8062-7190-113AF992EC29}"/>
              </a:ext>
            </a:extLst>
          </p:cNvPr>
          <p:cNvCxnSpPr/>
          <p:nvPr/>
        </p:nvCxnSpPr>
        <p:spPr>
          <a:xfrm>
            <a:off x="4144540" y="2231136"/>
            <a:ext cx="72659" cy="420624"/>
          </a:xfrm>
          <a:prstGeom prst="straightConnector1">
            <a:avLst/>
          </a:prstGeom>
          <a:ln w="34925">
            <a:solidFill>
              <a:srgbClr val="FFFD78"/>
            </a:solidFill>
            <a:tailEnd type="arrow" w="lg" len="lg"/>
          </a:ln>
        </p:spPr>
        <p:style>
          <a:lnRef idx="2">
            <a:schemeClr val="accent1"/>
          </a:lnRef>
          <a:fillRef idx="0">
            <a:schemeClr val="accent1"/>
          </a:fillRef>
          <a:effectRef idx="1">
            <a:schemeClr val="accent1"/>
          </a:effectRef>
          <a:fontRef idx="minor">
            <a:schemeClr val="tx1"/>
          </a:fontRef>
        </p:style>
      </p:cxnSp>
      <p:pic>
        <p:nvPicPr>
          <p:cNvPr id="9" name="Picture 2" descr="Anthony Baker | UCSF Profiles">
            <a:extLst>
              <a:ext uri="{FF2B5EF4-FFF2-40B4-BE49-F238E27FC236}">
                <a16:creationId xmlns:a16="http://schemas.microsoft.com/office/drawing/2014/main" id="{E1E3A350-1D98-42BE-8353-DDB8889E76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7494" y="4168460"/>
            <a:ext cx="1571285" cy="157128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C345B39-E832-F4EA-315F-8F3A703D8293}"/>
              </a:ext>
            </a:extLst>
          </p:cNvPr>
          <p:cNvSpPr txBox="1"/>
          <p:nvPr/>
        </p:nvSpPr>
        <p:spPr>
          <a:xfrm>
            <a:off x="10027591" y="5739745"/>
            <a:ext cx="1791092" cy="646331"/>
          </a:xfrm>
          <a:prstGeom prst="rect">
            <a:avLst/>
          </a:prstGeom>
          <a:noFill/>
        </p:spPr>
        <p:txBody>
          <a:bodyPr wrap="square">
            <a:spAutoFit/>
          </a:bodyPr>
          <a:lstStyle/>
          <a:p>
            <a:pPr algn="ctr"/>
            <a:r>
              <a:rPr lang="en-US" dirty="0"/>
              <a:t>Anthony Baker UCSF</a:t>
            </a:r>
          </a:p>
        </p:txBody>
      </p:sp>
    </p:spTree>
    <p:extLst>
      <p:ext uri="{BB962C8B-B14F-4D97-AF65-F5344CB8AC3E}">
        <p14:creationId xmlns:p14="http://schemas.microsoft.com/office/powerpoint/2010/main" val="3449304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A8352-8C8E-19C1-E806-800913BA54F9}"/>
              </a:ext>
            </a:extLst>
          </p:cNvPr>
          <p:cNvSpPr>
            <a:spLocks noGrp="1"/>
          </p:cNvSpPr>
          <p:nvPr>
            <p:ph type="title"/>
          </p:nvPr>
        </p:nvSpPr>
        <p:spPr>
          <a:xfrm>
            <a:off x="432312" y="121557"/>
            <a:ext cx="10515600" cy="809640"/>
          </a:xfrm>
        </p:spPr>
        <p:txBody>
          <a:bodyPr/>
          <a:lstStyle/>
          <a:p>
            <a:pPr algn="ctr"/>
            <a:r>
              <a:rPr lang="en-US" dirty="0"/>
              <a:t>Stress relaxation after rapid muscle stretch</a:t>
            </a:r>
          </a:p>
        </p:txBody>
      </p:sp>
      <p:grpSp>
        <p:nvGrpSpPr>
          <p:cNvPr id="9" name="Group 8">
            <a:extLst>
              <a:ext uri="{FF2B5EF4-FFF2-40B4-BE49-F238E27FC236}">
                <a16:creationId xmlns:a16="http://schemas.microsoft.com/office/drawing/2014/main" id="{50FA2CC3-C6D3-3320-8968-FA42E2DFC92C}"/>
              </a:ext>
            </a:extLst>
          </p:cNvPr>
          <p:cNvGrpSpPr/>
          <p:nvPr/>
        </p:nvGrpSpPr>
        <p:grpSpPr>
          <a:xfrm>
            <a:off x="449773" y="997847"/>
            <a:ext cx="5178526" cy="2737601"/>
            <a:chOff x="1750367" y="1371600"/>
            <a:chExt cx="9688031" cy="5121528"/>
          </a:xfrm>
        </p:grpSpPr>
        <p:sp>
          <p:nvSpPr>
            <p:cNvPr id="11" name="TextBox 10">
              <a:extLst>
                <a:ext uri="{FF2B5EF4-FFF2-40B4-BE49-F238E27FC236}">
                  <a16:creationId xmlns:a16="http://schemas.microsoft.com/office/drawing/2014/main" id="{BF0785F9-AD0D-7388-28FC-3089F57AD0FA}"/>
                </a:ext>
              </a:extLst>
            </p:cNvPr>
            <p:cNvSpPr txBox="1"/>
            <p:nvPr/>
          </p:nvSpPr>
          <p:spPr>
            <a:xfrm>
              <a:off x="4959336" y="6062241"/>
              <a:ext cx="1117614" cy="430887"/>
            </a:xfrm>
            <a:prstGeom prst="rect">
              <a:avLst/>
            </a:prstGeom>
            <a:noFill/>
          </p:spPr>
          <p:txBody>
            <a:bodyPr wrap="none" rtlCol="0">
              <a:spAutoFit/>
            </a:bodyPr>
            <a:lstStyle/>
            <a:p>
              <a:r>
                <a:rPr lang="en-US" sz="2200" b="1" dirty="0"/>
                <a:t>Time (s)</a:t>
              </a:r>
            </a:p>
          </p:txBody>
        </p:sp>
        <p:sp>
          <p:nvSpPr>
            <p:cNvPr id="12" name="TextBox 11">
              <a:extLst>
                <a:ext uri="{FF2B5EF4-FFF2-40B4-BE49-F238E27FC236}">
                  <a16:creationId xmlns:a16="http://schemas.microsoft.com/office/drawing/2014/main" id="{C815FB08-DDFF-BFBB-4E8F-746044DB60D4}"/>
                </a:ext>
              </a:extLst>
            </p:cNvPr>
            <p:cNvSpPr txBox="1"/>
            <p:nvPr/>
          </p:nvSpPr>
          <p:spPr>
            <a:xfrm rot="16200000">
              <a:off x="1149016" y="4318272"/>
              <a:ext cx="1664367" cy="461665"/>
            </a:xfrm>
            <a:prstGeom prst="rect">
              <a:avLst/>
            </a:prstGeom>
            <a:noFill/>
          </p:spPr>
          <p:txBody>
            <a:bodyPr wrap="none" rtlCol="0">
              <a:spAutoFit/>
            </a:bodyPr>
            <a:lstStyle/>
            <a:p>
              <a:r>
                <a:rPr lang="en-US" sz="2400" b="1" dirty="0">
                  <a:solidFill>
                    <a:schemeClr val="accent2"/>
                  </a:solidFill>
                </a:rPr>
                <a:t>Stress (kPa)</a:t>
              </a:r>
            </a:p>
          </p:txBody>
        </p:sp>
        <p:pic>
          <p:nvPicPr>
            <p:cNvPr id="13" name="Picture 12">
              <a:extLst>
                <a:ext uri="{FF2B5EF4-FFF2-40B4-BE49-F238E27FC236}">
                  <a16:creationId xmlns:a16="http://schemas.microsoft.com/office/drawing/2014/main" id="{3648E1D7-B4C1-05B9-6CBA-B0188AC27604}"/>
                </a:ext>
              </a:extLst>
            </p:cNvPr>
            <p:cNvPicPr>
              <a:picLocks noChangeAspect="1"/>
            </p:cNvPicPr>
            <p:nvPr/>
          </p:nvPicPr>
          <p:blipFill>
            <a:blip r:embed="rId2"/>
            <a:stretch>
              <a:fillRect/>
            </a:stretch>
          </p:blipFill>
          <p:spPr>
            <a:xfrm>
              <a:off x="2438400" y="1371600"/>
              <a:ext cx="6362700" cy="4690641"/>
            </a:xfrm>
            <a:prstGeom prst="rect">
              <a:avLst/>
            </a:prstGeom>
          </p:spPr>
        </p:pic>
        <p:sp>
          <p:nvSpPr>
            <p:cNvPr id="3" name="TextBox 2">
              <a:extLst>
                <a:ext uri="{FF2B5EF4-FFF2-40B4-BE49-F238E27FC236}">
                  <a16:creationId xmlns:a16="http://schemas.microsoft.com/office/drawing/2014/main" id="{E18426FD-5A7A-3DD9-0662-4B702140D5A6}"/>
                </a:ext>
              </a:extLst>
            </p:cNvPr>
            <p:cNvSpPr txBox="1"/>
            <p:nvPr/>
          </p:nvSpPr>
          <p:spPr>
            <a:xfrm>
              <a:off x="3429001" y="2281174"/>
              <a:ext cx="1658998" cy="863687"/>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peak</a:t>
              </a:r>
            </a:p>
          </p:txBody>
        </p:sp>
        <p:cxnSp>
          <p:nvCxnSpPr>
            <p:cNvPr id="5" name="Straight Arrow Connector 4">
              <a:extLst>
                <a:ext uri="{FF2B5EF4-FFF2-40B4-BE49-F238E27FC236}">
                  <a16:creationId xmlns:a16="http://schemas.microsoft.com/office/drawing/2014/main" id="{1C4706C4-74C2-B785-055B-702A779E3B48}"/>
                </a:ext>
              </a:extLst>
            </p:cNvPr>
            <p:cNvCxnSpPr>
              <a:cxnSpLocks/>
              <a:stCxn id="3" idx="1"/>
            </p:cNvCxnSpPr>
            <p:nvPr/>
          </p:nvCxnSpPr>
          <p:spPr>
            <a:xfrm flipH="1" flipV="1">
              <a:off x="2857500" y="2056881"/>
              <a:ext cx="571500" cy="656138"/>
            </a:xfrm>
            <a:prstGeom prst="straightConnector1">
              <a:avLst/>
            </a:prstGeom>
            <a:ln w="38100">
              <a:headEnd type="none"/>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09F0BD7-935A-FE64-8E92-4C9FB06AC1E5}"/>
                </a:ext>
              </a:extLst>
            </p:cNvPr>
            <p:cNvCxnSpPr/>
            <p:nvPr/>
          </p:nvCxnSpPr>
          <p:spPr>
            <a:xfrm flipH="1">
              <a:off x="8801100" y="3720593"/>
              <a:ext cx="457199" cy="113781"/>
            </a:xfrm>
            <a:prstGeom prst="straightConnector1">
              <a:avLst/>
            </a:prstGeom>
            <a:ln w="38100">
              <a:headEnd type="none"/>
              <a:tailEnd type="arrow"/>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431DAF6-F9E4-040D-AD1E-403661D05ECB}"/>
                </a:ext>
              </a:extLst>
            </p:cNvPr>
            <p:cNvSpPr txBox="1"/>
            <p:nvPr/>
          </p:nvSpPr>
          <p:spPr>
            <a:xfrm>
              <a:off x="9173034" y="3245715"/>
              <a:ext cx="226536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“steady state”</a:t>
              </a:r>
            </a:p>
          </p:txBody>
        </p:sp>
      </p:grpSp>
      <p:sp>
        <p:nvSpPr>
          <p:cNvPr id="8" name="TextBox 7">
            <a:extLst>
              <a:ext uri="{FF2B5EF4-FFF2-40B4-BE49-F238E27FC236}">
                <a16:creationId xmlns:a16="http://schemas.microsoft.com/office/drawing/2014/main" id="{B50314EE-12DD-E2C4-2040-0DEC6D6D92F6}"/>
              </a:ext>
            </a:extLst>
          </p:cNvPr>
          <p:cNvSpPr txBox="1"/>
          <p:nvPr/>
        </p:nvSpPr>
        <p:spPr>
          <a:xfrm>
            <a:off x="-8466" y="6488668"/>
            <a:ext cx="12200466" cy="369332"/>
          </a:xfrm>
          <a:prstGeom prst="rect">
            <a:avLst/>
          </a:prstGeom>
          <a:noFill/>
        </p:spPr>
        <p:txBody>
          <a:bodyPr wrap="square">
            <a:spAutoFit/>
          </a:bodyPr>
          <a:lstStyle/>
          <a:p>
            <a:r>
              <a:rPr lang="en-US" dirty="0"/>
              <a:t>(</a:t>
            </a:r>
            <a:r>
              <a:rPr lang="en-US" dirty="0" err="1"/>
              <a:t>demembranated</a:t>
            </a:r>
            <a:r>
              <a:rPr lang="en-US" dirty="0"/>
              <a:t> mouse trabecula, initial sarcomere length of 2.0 um, the stretch from 1.9 to 2.3 um sarcomere length)</a:t>
            </a:r>
          </a:p>
        </p:txBody>
      </p:sp>
      <p:pic>
        <p:nvPicPr>
          <p:cNvPr id="10" name="Content Placeholder 12" descr="A graph of a graph of a graph&#10;&#10;Description automatically generated with medium confidence">
            <a:extLst>
              <a:ext uri="{FF2B5EF4-FFF2-40B4-BE49-F238E27FC236}">
                <a16:creationId xmlns:a16="http://schemas.microsoft.com/office/drawing/2014/main" id="{94B34D79-DAE8-8940-FDDA-693A828F57E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9155" y="3940892"/>
            <a:ext cx="7223523" cy="2507280"/>
          </a:xfrm>
        </p:spPr>
      </p:pic>
      <p:pic>
        <p:nvPicPr>
          <p:cNvPr id="4" name="Picture 3">
            <a:extLst>
              <a:ext uri="{FF2B5EF4-FFF2-40B4-BE49-F238E27FC236}">
                <a16:creationId xmlns:a16="http://schemas.microsoft.com/office/drawing/2014/main" id="{F82AA600-B71D-E43F-2208-E40B706F6F5A}"/>
              </a:ext>
            </a:extLst>
          </p:cNvPr>
          <p:cNvPicPr>
            <a:picLocks noChangeAspect="1"/>
          </p:cNvPicPr>
          <p:nvPr/>
        </p:nvPicPr>
        <p:blipFill>
          <a:blip r:embed="rId4"/>
          <a:stretch>
            <a:fillRect/>
          </a:stretch>
        </p:blipFill>
        <p:spPr>
          <a:xfrm>
            <a:off x="7729027" y="1151528"/>
            <a:ext cx="4103818" cy="3595380"/>
          </a:xfrm>
          <a:prstGeom prst="rect">
            <a:avLst/>
          </a:prstGeom>
        </p:spPr>
      </p:pic>
      <p:sp>
        <p:nvSpPr>
          <p:cNvPr id="14" name="TextBox 14">
            <a:extLst>
              <a:ext uri="{FF2B5EF4-FFF2-40B4-BE49-F238E27FC236}">
                <a16:creationId xmlns:a16="http://schemas.microsoft.com/office/drawing/2014/main" id="{5E2182C4-C930-4CBB-E635-3A77BAB2A767}"/>
              </a:ext>
            </a:extLst>
          </p:cNvPr>
          <p:cNvSpPr txBox="1"/>
          <p:nvPr/>
        </p:nvSpPr>
        <p:spPr>
          <a:xfrm>
            <a:off x="2276203" y="1407785"/>
            <a:ext cx="1526060" cy="64633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b="1" dirty="0"/>
              <a:t>Viscoelastic</a:t>
            </a:r>
            <a:br>
              <a:rPr lang="en-US" b="1" dirty="0"/>
            </a:br>
            <a:r>
              <a:rPr lang="en-US" b="1" dirty="0"/>
              <a:t>force</a:t>
            </a:r>
          </a:p>
        </p:txBody>
      </p:sp>
      <p:cxnSp>
        <p:nvCxnSpPr>
          <p:cNvPr id="16" name="Straight Arrow Connector 15">
            <a:extLst>
              <a:ext uri="{FF2B5EF4-FFF2-40B4-BE49-F238E27FC236}">
                <a16:creationId xmlns:a16="http://schemas.microsoft.com/office/drawing/2014/main" id="{7DF78D84-0D3C-4222-BFA2-1BA5225FE09B}"/>
              </a:ext>
            </a:extLst>
          </p:cNvPr>
          <p:cNvCxnSpPr/>
          <p:nvPr/>
        </p:nvCxnSpPr>
        <p:spPr>
          <a:xfrm>
            <a:off x="3844636" y="1333739"/>
            <a:ext cx="0" cy="917748"/>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C48FE190-47B8-9FC6-3326-159283ADD9B8}"/>
              </a:ext>
            </a:extLst>
          </p:cNvPr>
          <p:cNvCxnSpPr/>
          <p:nvPr/>
        </p:nvCxnSpPr>
        <p:spPr>
          <a:xfrm>
            <a:off x="1041567" y="1333739"/>
            <a:ext cx="3158836"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98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0A55FBB-18D0-8F9C-257D-CBBAE992B9CC}"/>
              </a:ext>
            </a:extLst>
          </p:cNvPr>
          <p:cNvSpPr>
            <a:spLocks noGrp="1"/>
          </p:cNvSpPr>
          <p:nvPr>
            <p:ph type="title"/>
          </p:nvPr>
        </p:nvSpPr>
        <p:spPr>
          <a:xfrm>
            <a:off x="376881" y="253999"/>
            <a:ext cx="10515600" cy="854075"/>
          </a:xfrm>
        </p:spPr>
        <p:txBody>
          <a:bodyPr/>
          <a:lstStyle/>
          <a:p>
            <a:r>
              <a:rPr lang="en-US" dirty="0"/>
              <a:t>Tension decay follows power law ~ </a:t>
            </a:r>
            <a:r>
              <a:rPr lang="en-US" i="1" dirty="0">
                <a:latin typeface="Times New Roman" panose="02020603050405020304" pitchFamily="18" charset="0"/>
                <a:cs typeface="Times New Roman" panose="02020603050405020304" pitchFamily="18" charset="0"/>
              </a:rPr>
              <a:t>t</a:t>
            </a:r>
            <a:r>
              <a:rPr lang="en-US" sz="1200" i="1" dirty="0">
                <a:latin typeface="Times New Roman" panose="02020603050405020304" pitchFamily="18" charset="0"/>
                <a:cs typeface="Times New Roman" panose="02020603050405020304" pitchFamily="18" charset="0"/>
              </a:rPr>
              <a:t> </a:t>
            </a:r>
            <a:r>
              <a:rPr lang="en-US" sz="3600" baseline="42000" dirty="0">
                <a:latin typeface="Times New Roman" panose="02020603050405020304" pitchFamily="18" charset="0"/>
                <a:cs typeface="Times New Roman" panose="02020603050405020304" pitchFamily="18" charset="0"/>
              </a:rPr>
              <a:t>-­0.2</a:t>
            </a:r>
          </a:p>
        </p:txBody>
      </p:sp>
      <p:pic>
        <p:nvPicPr>
          <p:cNvPr id="6" name="Content Placeholder 5" descr="A graph of a graph of a function&#10;&#10;Description automatically generated with medium confidence">
            <a:extLst>
              <a:ext uri="{FF2B5EF4-FFF2-40B4-BE49-F238E27FC236}">
                <a16:creationId xmlns:a16="http://schemas.microsoft.com/office/drawing/2014/main" id="{2D72C87E-EA03-ED5C-88FB-5729687DEB1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97179" y="1297568"/>
            <a:ext cx="7545243" cy="5091386"/>
          </a:xfrm>
        </p:spPr>
      </p:pic>
      <p:sp>
        <p:nvSpPr>
          <p:cNvPr id="2" name="Content Placeholder 1">
            <a:extLst>
              <a:ext uri="{FF2B5EF4-FFF2-40B4-BE49-F238E27FC236}">
                <a16:creationId xmlns:a16="http://schemas.microsoft.com/office/drawing/2014/main" id="{47FFC9A2-E59A-10FF-E090-C8CBDE89F72E}"/>
              </a:ext>
            </a:extLst>
          </p:cNvPr>
          <p:cNvSpPr>
            <a:spLocks noGrp="1"/>
          </p:cNvSpPr>
          <p:nvPr>
            <p:ph sz="half" idx="2"/>
          </p:nvPr>
        </p:nvSpPr>
        <p:spPr>
          <a:xfrm>
            <a:off x="8196948" y="1688757"/>
            <a:ext cx="3697873" cy="4488206"/>
          </a:xfrm>
        </p:spPr>
        <p:txBody>
          <a:bodyPr>
            <a:normAutofit fontScale="85000" lnSpcReduction="10000"/>
          </a:bodyPr>
          <a:lstStyle/>
          <a:p>
            <a:r>
              <a:rPr lang="en-US" sz="3200" b="1" dirty="0">
                <a:solidFill>
                  <a:schemeClr val="tx2">
                    <a:lumMod val="75000"/>
                    <a:lumOff val="25000"/>
                  </a:schemeClr>
                </a:solidFill>
              </a:rPr>
              <a:t>All ramps overlayed and shifted</a:t>
            </a:r>
          </a:p>
          <a:p>
            <a:r>
              <a:rPr lang="en-US" sz="3200" dirty="0"/>
              <a:t>Steady-state force estimated and </a:t>
            </a:r>
            <a:r>
              <a:rPr lang="en-US" sz="3200" b="1" dirty="0">
                <a:solidFill>
                  <a:srgbClr val="C00000"/>
                </a:solidFill>
              </a:rPr>
              <a:t>removed in </a:t>
            </a:r>
            <a:r>
              <a:rPr lang="en-US" sz="3200" b="1" dirty="0" err="1">
                <a:solidFill>
                  <a:srgbClr val="C00000"/>
                </a:solidFill>
              </a:rPr>
              <a:t>semilog</a:t>
            </a:r>
            <a:r>
              <a:rPr lang="en-US" sz="3200" b="1" dirty="0">
                <a:solidFill>
                  <a:srgbClr val="C00000"/>
                </a:solidFill>
              </a:rPr>
              <a:t> </a:t>
            </a:r>
            <a:r>
              <a:rPr lang="en-US" sz="3200" dirty="0"/>
              <a:t>and </a:t>
            </a:r>
            <a:r>
              <a:rPr lang="en-US" sz="3200" b="1" dirty="0">
                <a:solidFill>
                  <a:srgbClr val="FFC000"/>
                </a:solidFill>
              </a:rPr>
              <a:t>log-log axes</a:t>
            </a:r>
          </a:p>
          <a:p>
            <a:pPr marL="0" indent="0">
              <a:buNone/>
            </a:pPr>
            <a:endParaRPr lang="en-US" sz="3200" dirty="0"/>
          </a:p>
          <a:p>
            <a:pPr marL="0" indent="0">
              <a:buNone/>
            </a:pPr>
            <a:r>
              <a:rPr lang="en-US" sz="3200" dirty="0"/>
              <a:t>Decay to 1 kPa in </a:t>
            </a:r>
            <a:br>
              <a:rPr lang="en-US" sz="3200" dirty="0"/>
            </a:br>
            <a:r>
              <a:rPr lang="en-US" sz="3200" b="1" dirty="0"/>
              <a:t>18 minutes</a:t>
            </a:r>
          </a:p>
          <a:p>
            <a:pPr marL="0" indent="0">
              <a:buNone/>
            </a:pPr>
            <a:r>
              <a:rPr lang="en-US" sz="3200" dirty="0"/>
              <a:t>Decay to 0.1 kPa in </a:t>
            </a:r>
            <a:br>
              <a:rPr lang="en-US" sz="3200" dirty="0"/>
            </a:br>
            <a:r>
              <a:rPr lang="en-US" sz="3200" b="1" dirty="0"/>
              <a:t>800 years!</a:t>
            </a:r>
          </a:p>
        </p:txBody>
      </p:sp>
      <p:sp>
        <p:nvSpPr>
          <p:cNvPr id="7" name="Rectangle 6">
            <a:extLst>
              <a:ext uri="{FF2B5EF4-FFF2-40B4-BE49-F238E27FC236}">
                <a16:creationId xmlns:a16="http://schemas.microsoft.com/office/drawing/2014/main" id="{EECED738-7602-1CD3-F3CF-A3DF705DB36C}"/>
              </a:ext>
            </a:extLst>
          </p:cNvPr>
          <p:cNvSpPr/>
          <p:nvPr/>
        </p:nvSpPr>
        <p:spPr>
          <a:xfrm>
            <a:off x="113572" y="1198054"/>
            <a:ext cx="2813582" cy="5304346"/>
          </a:xfrm>
          <a:prstGeom prst="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cxnSp>
        <p:nvCxnSpPr>
          <p:cNvPr id="10" name="Straight Connector 9">
            <a:extLst>
              <a:ext uri="{FF2B5EF4-FFF2-40B4-BE49-F238E27FC236}">
                <a16:creationId xmlns:a16="http://schemas.microsoft.com/office/drawing/2014/main" id="{DB48B496-52B1-06B9-79E3-465CF947B114}"/>
              </a:ext>
            </a:extLst>
          </p:cNvPr>
          <p:cNvCxnSpPr>
            <a:cxnSpLocks/>
          </p:cNvCxnSpPr>
          <p:nvPr/>
        </p:nvCxnSpPr>
        <p:spPr>
          <a:xfrm flipV="1">
            <a:off x="3048000" y="1198054"/>
            <a:ext cx="10160" cy="5304346"/>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B180C66-AAC1-6E95-31FC-8CFC981A9855}"/>
              </a:ext>
            </a:extLst>
          </p:cNvPr>
          <p:cNvCxnSpPr>
            <a:cxnSpLocks/>
          </p:cNvCxnSpPr>
          <p:nvPr/>
        </p:nvCxnSpPr>
        <p:spPr>
          <a:xfrm flipH="1">
            <a:off x="3058160" y="1198054"/>
            <a:ext cx="2641600" cy="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5F8E5F5-4072-F6B6-57A7-F5E06B3FB4A6}"/>
              </a:ext>
            </a:extLst>
          </p:cNvPr>
          <p:cNvCxnSpPr>
            <a:cxnSpLocks/>
          </p:cNvCxnSpPr>
          <p:nvPr/>
        </p:nvCxnSpPr>
        <p:spPr>
          <a:xfrm flipV="1">
            <a:off x="5699760" y="2072640"/>
            <a:ext cx="0" cy="377952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6C1D36C-E248-364A-3304-A87BC2361F50}"/>
              </a:ext>
            </a:extLst>
          </p:cNvPr>
          <p:cNvCxnSpPr>
            <a:cxnSpLocks/>
          </p:cNvCxnSpPr>
          <p:nvPr/>
        </p:nvCxnSpPr>
        <p:spPr>
          <a:xfrm>
            <a:off x="5699760" y="1198054"/>
            <a:ext cx="0" cy="99514"/>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B286B1C-EBA6-5C6D-6735-2D24FF2B8128}"/>
              </a:ext>
            </a:extLst>
          </p:cNvPr>
          <p:cNvCxnSpPr>
            <a:cxnSpLocks/>
          </p:cNvCxnSpPr>
          <p:nvPr/>
        </p:nvCxnSpPr>
        <p:spPr>
          <a:xfrm>
            <a:off x="5699760" y="6176963"/>
            <a:ext cx="0" cy="32543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159C672-AE51-258E-5FE8-DD9BD926B13A}"/>
              </a:ext>
            </a:extLst>
          </p:cNvPr>
          <p:cNvCxnSpPr>
            <a:cxnSpLocks/>
          </p:cNvCxnSpPr>
          <p:nvPr/>
        </p:nvCxnSpPr>
        <p:spPr>
          <a:xfrm flipH="1">
            <a:off x="3058160" y="6502400"/>
            <a:ext cx="2641600" cy="0"/>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C257744A-FAAC-5BF8-817D-8EA429740DB0}"/>
              </a:ext>
            </a:extLst>
          </p:cNvPr>
          <p:cNvGrpSpPr/>
          <p:nvPr/>
        </p:nvGrpSpPr>
        <p:grpSpPr>
          <a:xfrm flipH="1">
            <a:off x="5749486" y="1198054"/>
            <a:ext cx="2276543" cy="5304346"/>
            <a:chOff x="3200400" y="1350454"/>
            <a:chExt cx="2651760" cy="5304346"/>
          </a:xfrm>
        </p:grpSpPr>
        <p:cxnSp>
          <p:nvCxnSpPr>
            <p:cNvPr id="29" name="Straight Connector 28">
              <a:extLst>
                <a:ext uri="{FF2B5EF4-FFF2-40B4-BE49-F238E27FC236}">
                  <a16:creationId xmlns:a16="http://schemas.microsoft.com/office/drawing/2014/main" id="{56860B64-8212-138C-4AB8-A389167106F7}"/>
                </a:ext>
              </a:extLst>
            </p:cNvPr>
            <p:cNvCxnSpPr>
              <a:cxnSpLocks/>
            </p:cNvCxnSpPr>
            <p:nvPr/>
          </p:nvCxnSpPr>
          <p:spPr>
            <a:xfrm flipH="1" flipV="1">
              <a:off x="3200400" y="1350454"/>
              <a:ext cx="10160" cy="5304346"/>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5C18EFF-120A-5C39-55F4-30AA29E73119}"/>
                </a:ext>
              </a:extLst>
            </p:cNvPr>
            <p:cNvCxnSpPr>
              <a:cxnSpLocks/>
            </p:cNvCxnSpPr>
            <p:nvPr/>
          </p:nvCxnSpPr>
          <p:spPr>
            <a:xfrm>
              <a:off x="3210560" y="1350454"/>
              <a:ext cx="2641600" cy="0"/>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3F1A97C-2734-61C9-2834-975AB812B735}"/>
                </a:ext>
              </a:extLst>
            </p:cNvPr>
            <p:cNvCxnSpPr>
              <a:cxnSpLocks/>
            </p:cNvCxnSpPr>
            <p:nvPr/>
          </p:nvCxnSpPr>
          <p:spPr>
            <a:xfrm flipH="1" flipV="1">
              <a:off x="5852160" y="2225040"/>
              <a:ext cx="0" cy="3779520"/>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18DE529-3B9E-287B-7F6A-BE497E45D89F}"/>
                </a:ext>
              </a:extLst>
            </p:cNvPr>
            <p:cNvCxnSpPr>
              <a:cxnSpLocks/>
            </p:cNvCxnSpPr>
            <p:nvPr/>
          </p:nvCxnSpPr>
          <p:spPr>
            <a:xfrm flipH="1">
              <a:off x="5852160" y="1350454"/>
              <a:ext cx="0" cy="99514"/>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2FFE57C-3F33-E0F8-1398-91F8E8B5E535}"/>
                </a:ext>
              </a:extLst>
            </p:cNvPr>
            <p:cNvCxnSpPr>
              <a:cxnSpLocks/>
            </p:cNvCxnSpPr>
            <p:nvPr/>
          </p:nvCxnSpPr>
          <p:spPr>
            <a:xfrm flipH="1">
              <a:off x="5852160" y="6329363"/>
              <a:ext cx="0" cy="325437"/>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9877943-CA70-C6BE-55EE-24D9171BDD02}"/>
                </a:ext>
              </a:extLst>
            </p:cNvPr>
            <p:cNvCxnSpPr>
              <a:cxnSpLocks/>
            </p:cNvCxnSpPr>
            <p:nvPr/>
          </p:nvCxnSpPr>
          <p:spPr>
            <a:xfrm>
              <a:off x="3210560" y="6654800"/>
              <a:ext cx="2641600" cy="0"/>
            </a:xfrm>
            <a:prstGeom prst="line">
              <a:avLst/>
            </a:prstGeom>
            <a:ln w="38100">
              <a:solidFill>
                <a:srgbClr val="FFC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79863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53E78B-DF94-E072-6347-B40F304AC831}"/>
              </a:ext>
            </a:extLst>
          </p:cNvPr>
          <p:cNvPicPr>
            <a:picLocks noChangeAspect="1"/>
          </p:cNvPicPr>
          <p:nvPr/>
        </p:nvPicPr>
        <p:blipFill>
          <a:blip r:embed="rId3"/>
          <a:stretch>
            <a:fillRect/>
          </a:stretch>
        </p:blipFill>
        <p:spPr>
          <a:xfrm>
            <a:off x="335343" y="6918"/>
            <a:ext cx="5669218" cy="1867619"/>
          </a:xfrm>
          <a:prstGeom prst="rect">
            <a:avLst/>
          </a:prstGeom>
        </p:spPr>
      </p:pic>
      <p:pic>
        <p:nvPicPr>
          <p:cNvPr id="7" name="Picture 6">
            <a:extLst>
              <a:ext uri="{FF2B5EF4-FFF2-40B4-BE49-F238E27FC236}">
                <a16:creationId xmlns:a16="http://schemas.microsoft.com/office/drawing/2014/main" id="{04B843EF-6189-9748-8360-4CA4CF96B5F5}"/>
              </a:ext>
            </a:extLst>
          </p:cNvPr>
          <p:cNvPicPr>
            <a:picLocks noChangeAspect="1"/>
          </p:cNvPicPr>
          <p:nvPr/>
        </p:nvPicPr>
        <p:blipFill rotWithShape="1">
          <a:blip r:embed="rId4"/>
          <a:srcRect b="6339"/>
          <a:stretch/>
        </p:blipFill>
        <p:spPr>
          <a:xfrm>
            <a:off x="321376" y="1901870"/>
            <a:ext cx="5451035" cy="2546500"/>
          </a:xfrm>
          <a:prstGeom prst="rect">
            <a:avLst/>
          </a:prstGeom>
        </p:spPr>
      </p:pic>
      <p:pic>
        <p:nvPicPr>
          <p:cNvPr id="9" name="Picture 8">
            <a:extLst>
              <a:ext uri="{FF2B5EF4-FFF2-40B4-BE49-F238E27FC236}">
                <a16:creationId xmlns:a16="http://schemas.microsoft.com/office/drawing/2014/main" id="{171CF6A3-808B-B0CE-B184-D2C22A5CF29C}"/>
              </a:ext>
            </a:extLst>
          </p:cNvPr>
          <p:cNvPicPr>
            <a:picLocks noChangeAspect="1"/>
          </p:cNvPicPr>
          <p:nvPr/>
        </p:nvPicPr>
        <p:blipFill rotWithShape="1">
          <a:blip r:embed="rId5"/>
          <a:srcRect b="4794"/>
          <a:stretch/>
        </p:blipFill>
        <p:spPr>
          <a:xfrm>
            <a:off x="1126026" y="4481457"/>
            <a:ext cx="3869667" cy="2369625"/>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DACEC78D-9191-00D7-E47D-A4646715DB96}"/>
              </a:ext>
            </a:extLst>
          </p:cNvPr>
          <p:cNvPicPr>
            <a:picLocks noChangeAspect="1"/>
          </p:cNvPicPr>
          <p:nvPr/>
        </p:nvPicPr>
        <p:blipFill>
          <a:blip r:embed="rId6">
            <a:extLst>
              <a:ext uri="{28A0092B-C50C-407E-A947-70E740481C1C}">
                <a14:useLocalDpi xmlns:a14="http://schemas.microsoft.com/office/drawing/2010/main" val="0"/>
              </a:ext>
            </a:extLst>
          </a:blip>
          <a:srcRect l="10221" t="23498" r="19647" b="42866"/>
          <a:stretch/>
        </p:blipFill>
        <p:spPr>
          <a:xfrm>
            <a:off x="6167719" y="34251"/>
            <a:ext cx="6024281" cy="1867619"/>
          </a:xfrm>
          <a:prstGeom prst="rect">
            <a:avLst/>
          </a:prstGeom>
        </p:spPr>
      </p:pic>
      <p:grpSp>
        <p:nvGrpSpPr>
          <p:cNvPr id="3" name="Group 2">
            <a:extLst>
              <a:ext uri="{FF2B5EF4-FFF2-40B4-BE49-F238E27FC236}">
                <a16:creationId xmlns:a16="http://schemas.microsoft.com/office/drawing/2014/main" id="{75D0F4CC-5FAD-7775-7854-8C50DD786A74}"/>
              </a:ext>
            </a:extLst>
          </p:cNvPr>
          <p:cNvGrpSpPr/>
          <p:nvPr/>
        </p:nvGrpSpPr>
        <p:grpSpPr>
          <a:xfrm>
            <a:off x="6638420" y="2209764"/>
            <a:ext cx="4316964" cy="4208454"/>
            <a:chOff x="6679737" y="2079135"/>
            <a:chExt cx="2464263" cy="2402322"/>
          </a:xfrm>
        </p:grpSpPr>
        <p:pic>
          <p:nvPicPr>
            <p:cNvPr id="6" name="Picture 5">
              <a:extLst>
                <a:ext uri="{FF2B5EF4-FFF2-40B4-BE49-F238E27FC236}">
                  <a16:creationId xmlns:a16="http://schemas.microsoft.com/office/drawing/2014/main" id="{B7902A56-FE2A-8B80-927A-D3EA42430FE3}"/>
                </a:ext>
              </a:extLst>
            </p:cNvPr>
            <p:cNvPicPr>
              <a:picLocks noChangeAspect="1"/>
            </p:cNvPicPr>
            <p:nvPr/>
          </p:nvPicPr>
          <p:blipFill>
            <a:blip r:embed="rId7"/>
            <a:srcRect l="1" r="65031" b="66577"/>
            <a:stretch>
              <a:fillRect/>
            </a:stretch>
          </p:blipFill>
          <p:spPr>
            <a:xfrm>
              <a:off x="6679737" y="2103991"/>
              <a:ext cx="2464263" cy="2377466"/>
            </a:xfrm>
            <a:prstGeom prst="rect">
              <a:avLst/>
            </a:prstGeom>
          </p:spPr>
        </p:pic>
        <p:pic>
          <p:nvPicPr>
            <p:cNvPr id="8" name="Picture 7">
              <a:extLst>
                <a:ext uri="{FF2B5EF4-FFF2-40B4-BE49-F238E27FC236}">
                  <a16:creationId xmlns:a16="http://schemas.microsoft.com/office/drawing/2014/main" id="{BC333848-BD6D-1056-1614-14382B71C01A}"/>
                </a:ext>
              </a:extLst>
            </p:cNvPr>
            <p:cNvPicPr>
              <a:picLocks noChangeAspect="1"/>
            </p:cNvPicPr>
            <p:nvPr/>
          </p:nvPicPr>
          <p:blipFill rotWithShape="1">
            <a:blip r:embed="rId8"/>
            <a:srcRect l="55071" r="35115" b="88948"/>
            <a:stretch/>
          </p:blipFill>
          <p:spPr>
            <a:xfrm>
              <a:off x="7931520" y="2079135"/>
              <a:ext cx="961696" cy="1093074"/>
            </a:xfrm>
            <a:prstGeom prst="rect">
              <a:avLst/>
            </a:prstGeom>
          </p:spPr>
        </p:pic>
        <p:sp>
          <p:nvSpPr>
            <p:cNvPr id="2" name="Rectangle: Rounded Corners 1">
              <a:extLst>
                <a:ext uri="{FF2B5EF4-FFF2-40B4-BE49-F238E27FC236}">
                  <a16:creationId xmlns:a16="http://schemas.microsoft.com/office/drawing/2014/main" id="{C6215D23-5474-4A8E-8F0F-1BE544B54556}"/>
                </a:ext>
              </a:extLst>
            </p:cNvPr>
            <p:cNvSpPr/>
            <p:nvPr/>
          </p:nvSpPr>
          <p:spPr>
            <a:xfrm>
              <a:off x="7773327" y="2857500"/>
              <a:ext cx="1278082" cy="314709"/>
            </a:xfrm>
            <a:prstGeom prst="round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68539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45B3C2DB-9FD5-560F-9B1E-5D48B3C5569C}"/>
              </a:ext>
            </a:extLst>
          </p:cNvPr>
          <p:cNvSpPr txBox="1"/>
          <p:nvPr/>
        </p:nvSpPr>
        <p:spPr>
          <a:xfrm>
            <a:off x="312440" y="2315025"/>
            <a:ext cx="2545618" cy="646331"/>
          </a:xfrm>
          <a:prstGeom prst="rect">
            <a:avLst/>
          </a:prstGeom>
          <a:noFill/>
        </p:spPr>
        <p:txBody>
          <a:bodyPr wrap="square" rtlCol="0">
            <a:spAutoFit/>
          </a:bodyPr>
          <a:lstStyle/>
          <a:p>
            <a:r>
              <a:rPr lang="en-US" b="1" dirty="0">
                <a:solidFill>
                  <a:schemeClr val="tx2">
                    <a:lumMod val="75000"/>
                    <a:lumOff val="25000"/>
                  </a:schemeClr>
                </a:solidFill>
              </a:rPr>
              <a:t>Stress in an individual proximal titin chain </a:t>
            </a:r>
            <a:endParaRPr lang="en-US" b="1" i="1" dirty="0">
              <a:solidFill>
                <a:schemeClr val="tx2">
                  <a:lumMod val="75000"/>
                  <a:lumOff val="25000"/>
                </a:schemeClr>
              </a:solidFill>
            </a:endParaRPr>
          </a:p>
        </p:txBody>
      </p:sp>
      <p:pic>
        <p:nvPicPr>
          <p:cNvPr id="55" name="Picture 54">
            <a:extLst>
              <a:ext uri="{FF2B5EF4-FFF2-40B4-BE49-F238E27FC236}">
                <a16:creationId xmlns:a16="http://schemas.microsoft.com/office/drawing/2014/main" id="{9BA9435E-1DFE-B339-B418-701B9EE32BC6}"/>
              </a:ext>
            </a:extLst>
          </p:cNvPr>
          <p:cNvPicPr>
            <a:picLocks noChangeAspect="1"/>
          </p:cNvPicPr>
          <p:nvPr/>
        </p:nvPicPr>
        <p:blipFill>
          <a:blip r:embed="rId3"/>
          <a:stretch>
            <a:fillRect/>
          </a:stretch>
        </p:blipFill>
        <p:spPr>
          <a:xfrm>
            <a:off x="164915" y="2902017"/>
            <a:ext cx="5488189" cy="508538"/>
          </a:xfrm>
          <a:prstGeom prst="rect">
            <a:avLst/>
          </a:prstGeom>
        </p:spPr>
      </p:pic>
      <p:grpSp>
        <p:nvGrpSpPr>
          <p:cNvPr id="91" name="Group 90">
            <a:extLst>
              <a:ext uri="{FF2B5EF4-FFF2-40B4-BE49-F238E27FC236}">
                <a16:creationId xmlns:a16="http://schemas.microsoft.com/office/drawing/2014/main" id="{A21BC832-422E-50CB-1F1A-24BDD93D739A}"/>
              </a:ext>
            </a:extLst>
          </p:cNvPr>
          <p:cNvGrpSpPr/>
          <p:nvPr/>
        </p:nvGrpSpPr>
        <p:grpSpPr>
          <a:xfrm>
            <a:off x="1" y="2672505"/>
            <a:ext cx="5683302" cy="4011052"/>
            <a:chOff x="-70270" y="1018600"/>
            <a:chExt cx="5683302" cy="4011052"/>
          </a:xfrm>
        </p:grpSpPr>
        <p:pic>
          <p:nvPicPr>
            <p:cNvPr id="56" name="Picture 55">
              <a:extLst>
                <a:ext uri="{FF2B5EF4-FFF2-40B4-BE49-F238E27FC236}">
                  <a16:creationId xmlns:a16="http://schemas.microsoft.com/office/drawing/2014/main" id="{567DED0C-0964-4DE0-01E6-FD7F1F2062E8}"/>
                </a:ext>
              </a:extLst>
            </p:cNvPr>
            <p:cNvPicPr>
              <a:picLocks noChangeAspect="1"/>
            </p:cNvPicPr>
            <p:nvPr/>
          </p:nvPicPr>
          <p:blipFill>
            <a:blip r:embed="rId4"/>
            <a:stretch>
              <a:fillRect/>
            </a:stretch>
          </p:blipFill>
          <p:spPr>
            <a:xfrm>
              <a:off x="246464" y="3226235"/>
              <a:ext cx="5366568" cy="1803417"/>
            </a:xfrm>
            <a:prstGeom prst="rect">
              <a:avLst/>
            </a:prstGeom>
          </p:spPr>
        </p:pic>
        <p:cxnSp>
          <p:nvCxnSpPr>
            <p:cNvPr id="53" name="Straight Arrow Connector 52">
              <a:extLst>
                <a:ext uri="{FF2B5EF4-FFF2-40B4-BE49-F238E27FC236}">
                  <a16:creationId xmlns:a16="http://schemas.microsoft.com/office/drawing/2014/main" id="{6981478F-400B-1D9B-BB14-0D62C226F410}"/>
                </a:ext>
              </a:extLst>
            </p:cNvPr>
            <p:cNvCxnSpPr>
              <a:cxnSpLocks/>
            </p:cNvCxnSpPr>
            <p:nvPr/>
          </p:nvCxnSpPr>
          <p:spPr>
            <a:xfrm flipH="1">
              <a:off x="669602" y="2816194"/>
              <a:ext cx="212232" cy="438192"/>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CA286EA7-CEC5-D96E-1A92-236D676F68EC}"/>
                </a:ext>
              </a:extLst>
            </p:cNvPr>
            <p:cNvSpPr txBox="1"/>
            <p:nvPr/>
          </p:nvSpPr>
          <p:spPr>
            <a:xfrm>
              <a:off x="814481" y="1816902"/>
              <a:ext cx="2349167" cy="1200329"/>
            </a:xfrm>
            <a:prstGeom prst="rect">
              <a:avLst/>
            </a:prstGeom>
            <a:noFill/>
          </p:spPr>
          <p:txBody>
            <a:bodyPr wrap="square" rtlCol="0">
              <a:spAutoFit/>
            </a:bodyPr>
            <a:lstStyle/>
            <a:p>
              <a:r>
                <a:rPr lang="en-US" dirty="0"/>
                <a:t>probability of a chain having </a:t>
              </a:r>
              <a:r>
                <a:rPr lang="en-US" i="1" dirty="0"/>
                <a:t>n</a:t>
              </a:r>
              <a:r>
                <a:rPr lang="en-US" dirty="0"/>
                <a:t> unfolded domains and strain (stretch) </a:t>
              </a:r>
              <a:r>
                <a:rPr lang="en-US" i="1" dirty="0"/>
                <a:t>s</a:t>
              </a:r>
            </a:p>
          </p:txBody>
        </p:sp>
        <p:cxnSp>
          <p:nvCxnSpPr>
            <p:cNvPr id="57" name="Straight Arrow Connector 56">
              <a:extLst>
                <a:ext uri="{FF2B5EF4-FFF2-40B4-BE49-F238E27FC236}">
                  <a16:creationId xmlns:a16="http://schemas.microsoft.com/office/drawing/2014/main" id="{91936227-360E-967E-ECCF-8387362E0990}"/>
                </a:ext>
              </a:extLst>
            </p:cNvPr>
            <p:cNvCxnSpPr>
              <a:cxnSpLocks/>
            </p:cNvCxnSpPr>
            <p:nvPr/>
          </p:nvCxnSpPr>
          <p:spPr>
            <a:xfrm flipH="1">
              <a:off x="2647180" y="2826430"/>
              <a:ext cx="429201" cy="376593"/>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84CC5B46-92C8-33CD-0F69-1C084EB4F2CF}"/>
                </a:ext>
              </a:extLst>
            </p:cNvPr>
            <p:cNvSpPr txBox="1"/>
            <p:nvPr/>
          </p:nvSpPr>
          <p:spPr>
            <a:xfrm>
              <a:off x="3133506" y="2522061"/>
              <a:ext cx="2002833" cy="646331"/>
            </a:xfrm>
            <a:prstGeom prst="rect">
              <a:avLst/>
            </a:prstGeom>
            <a:noFill/>
          </p:spPr>
          <p:txBody>
            <a:bodyPr wrap="square" rtlCol="0">
              <a:spAutoFit/>
            </a:bodyPr>
            <a:lstStyle/>
            <a:p>
              <a:r>
                <a:rPr lang="en-US" dirty="0"/>
                <a:t>stretching of chains </a:t>
              </a:r>
              <a:endParaRPr lang="en-US" i="1" dirty="0"/>
            </a:p>
          </p:txBody>
        </p:sp>
        <p:sp>
          <p:nvSpPr>
            <p:cNvPr id="76" name="TextBox 75">
              <a:extLst>
                <a:ext uri="{FF2B5EF4-FFF2-40B4-BE49-F238E27FC236}">
                  <a16:creationId xmlns:a16="http://schemas.microsoft.com/office/drawing/2014/main" id="{45232F75-F4D9-8A46-6316-B252637DAD06}"/>
                </a:ext>
              </a:extLst>
            </p:cNvPr>
            <p:cNvSpPr txBox="1"/>
            <p:nvPr/>
          </p:nvSpPr>
          <p:spPr>
            <a:xfrm>
              <a:off x="-70270" y="4039732"/>
              <a:ext cx="1280126" cy="646331"/>
            </a:xfrm>
            <a:prstGeom prst="rect">
              <a:avLst/>
            </a:prstGeom>
            <a:noFill/>
          </p:spPr>
          <p:txBody>
            <a:bodyPr wrap="square" rtlCol="0">
              <a:spAutoFit/>
            </a:bodyPr>
            <a:lstStyle/>
            <a:p>
              <a:r>
                <a:rPr lang="en-US" b="1" dirty="0">
                  <a:solidFill>
                    <a:srgbClr val="C00000"/>
                  </a:solidFill>
                </a:rPr>
                <a:t>Unfolding rates</a:t>
              </a:r>
              <a:endParaRPr lang="en-US" b="1" i="1" dirty="0">
                <a:solidFill>
                  <a:srgbClr val="C00000"/>
                </a:solidFill>
              </a:endParaRPr>
            </a:p>
          </p:txBody>
        </p:sp>
        <p:cxnSp>
          <p:nvCxnSpPr>
            <p:cNvPr id="77" name="Straight Arrow Connector 76">
              <a:extLst>
                <a:ext uri="{FF2B5EF4-FFF2-40B4-BE49-F238E27FC236}">
                  <a16:creationId xmlns:a16="http://schemas.microsoft.com/office/drawing/2014/main" id="{AED28ADE-7CCD-7E38-D539-481B8AEC0552}"/>
                </a:ext>
              </a:extLst>
            </p:cNvPr>
            <p:cNvCxnSpPr>
              <a:cxnSpLocks/>
              <a:stCxn id="76" idx="3"/>
            </p:cNvCxnSpPr>
            <p:nvPr/>
          </p:nvCxnSpPr>
          <p:spPr>
            <a:xfrm flipV="1">
              <a:off x="1209856" y="3971967"/>
              <a:ext cx="344866" cy="39093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F4C3422E-0206-307A-00C9-9523F36CB150}"/>
                </a:ext>
              </a:extLst>
            </p:cNvPr>
            <p:cNvCxnSpPr>
              <a:cxnSpLocks/>
              <a:stCxn id="76" idx="3"/>
            </p:cNvCxnSpPr>
            <p:nvPr/>
          </p:nvCxnSpPr>
          <p:spPr>
            <a:xfrm>
              <a:off x="1209856" y="4362898"/>
              <a:ext cx="344866" cy="26352"/>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C32E97CD-1C65-4403-F167-896642EA1E48}"/>
                </a:ext>
              </a:extLst>
            </p:cNvPr>
            <p:cNvCxnSpPr>
              <a:cxnSpLocks/>
            </p:cNvCxnSpPr>
            <p:nvPr/>
          </p:nvCxnSpPr>
          <p:spPr>
            <a:xfrm flipH="1">
              <a:off x="217280" y="1018600"/>
              <a:ext cx="35955" cy="381330"/>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grpSp>
      <p:cxnSp>
        <p:nvCxnSpPr>
          <p:cNvPr id="64" name="Straight Arrow Connector 63">
            <a:extLst>
              <a:ext uri="{FF2B5EF4-FFF2-40B4-BE49-F238E27FC236}">
                <a16:creationId xmlns:a16="http://schemas.microsoft.com/office/drawing/2014/main" id="{EE394D95-326C-D202-B1BB-C784A84E4E4C}"/>
              </a:ext>
            </a:extLst>
          </p:cNvPr>
          <p:cNvCxnSpPr>
            <a:cxnSpLocks/>
          </p:cNvCxnSpPr>
          <p:nvPr/>
        </p:nvCxnSpPr>
        <p:spPr>
          <a:xfrm flipH="1">
            <a:off x="3222025" y="2665033"/>
            <a:ext cx="429201" cy="376593"/>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B354FFF4-57F4-C03F-3F17-EE333C989236}"/>
              </a:ext>
            </a:extLst>
          </p:cNvPr>
          <p:cNvCxnSpPr>
            <a:cxnSpLocks/>
          </p:cNvCxnSpPr>
          <p:nvPr/>
        </p:nvCxnSpPr>
        <p:spPr>
          <a:xfrm flipH="1">
            <a:off x="2565794" y="2870231"/>
            <a:ext cx="205989" cy="242631"/>
          </a:xfrm>
          <a:prstGeom prst="straightConnector1">
            <a:avLst/>
          </a:prstGeom>
          <a:ln w="25400">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4C188A9C-E3A5-F8CE-7945-13F237151EE9}"/>
              </a:ext>
            </a:extLst>
          </p:cNvPr>
          <p:cNvGrpSpPr/>
          <p:nvPr/>
        </p:nvGrpSpPr>
        <p:grpSpPr>
          <a:xfrm>
            <a:off x="5892509" y="-79106"/>
            <a:ext cx="6172200" cy="6611194"/>
            <a:chOff x="0" y="-96690"/>
            <a:chExt cx="6172200" cy="6611194"/>
          </a:xfrm>
        </p:grpSpPr>
        <p:pic>
          <p:nvPicPr>
            <p:cNvPr id="86" name="Picture 85" descr="A graph of a function&#10;&#10;Description automatically generated">
              <a:extLst>
                <a:ext uri="{FF2B5EF4-FFF2-40B4-BE49-F238E27FC236}">
                  <a16:creationId xmlns:a16="http://schemas.microsoft.com/office/drawing/2014/main" id="{960DEDD5-AD87-F933-7A00-73F2F9A6AD6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4" y="3753244"/>
              <a:ext cx="6162546" cy="2761260"/>
            </a:xfrm>
            <a:prstGeom prst="rect">
              <a:avLst/>
            </a:prstGeom>
          </p:spPr>
        </p:pic>
        <p:sp>
          <p:nvSpPr>
            <p:cNvPr id="4" name="Rectangle 3">
              <a:extLst>
                <a:ext uri="{FF2B5EF4-FFF2-40B4-BE49-F238E27FC236}">
                  <a16:creationId xmlns:a16="http://schemas.microsoft.com/office/drawing/2014/main" id="{036ADE35-D9F1-59D9-3C5B-904E4322C49D}"/>
                </a:ext>
              </a:extLst>
            </p:cNvPr>
            <p:cNvSpPr/>
            <p:nvPr/>
          </p:nvSpPr>
          <p:spPr>
            <a:xfrm>
              <a:off x="231168" y="2008377"/>
              <a:ext cx="5531247" cy="229734"/>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M Roman 12" panose="00000500000000000000" pitchFamily="50" charset="0"/>
              </a:endParaRPr>
            </a:p>
          </p:txBody>
        </p:sp>
        <p:sp>
          <p:nvSpPr>
            <p:cNvPr id="5" name="Rectangle 4">
              <a:extLst>
                <a:ext uri="{FF2B5EF4-FFF2-40B4-BE49-F238E27FC236}">
                  <a16:creationId xmlns:a16="http://schemas.microsoft.com/office/drawing/2014/main" id="{67B298A7-860B-2E86-5EF3-B4F013536726}"/>
                </a:ext>
              </a:extLst>
            </p:cNvPr>
            <p:cNvSpPr/>
            <p:nvPr/>
          </p:nvSpPr>
          <p:spPr>
            <a:xfrm>
              <a:off x="231122" y="2237979"/>
              <a:ext cx="218883" cy="73143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6" name="Freeform: Shape 5">
              <a:extLst>
                <a:ext uri="{FF2B5EF4-FFF2-40B4-BE49-F238E27FC236}">
                  <a16:creationId xmlns:a16="http://schemas.microsoft.com/office/drawing/2014/main" id="{A4DF6484-1A8E-7001-12BF-A18AA4511290}"/>
                </a:ext>
              </a:extLst>
            </p:cNvPr>
            <p:cNvSpPr/>
            <p:nvPr/>
          </p:nvSpPr>
          <p:spPr>
            <a:xfrm>
              <a:off x="679185" y="2614976"/>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7" name="Oval 6">
              <a:extLst>
                <a:ext uri="{FF2B5EF4-FFF2-40B4-BE49-F238E27FC236}">
                  <a16:creationId xmlns:a16="http://schemas.microsoft.com/office/drawing/2014/main" id="{A6A11912-EF9B-2913-F589-41C6FEB8BC9A}"/>
                </a:ext>
              </a:extLst>
            </p:cNvPr>
            <p:cNvSpPr>
              <a:spLocks noChangeAspect="1"/>
            </p:cNvSpPr>
            <p:nvPr/>
          </p:nvSpPr>
          <p:spPr>
            <a:xfrm>
              <a:off x="1430449" y="2772475"/>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8" name="Freeform: Shape 7">
              <a:extLst>
                <a:ext uri="{FF2B5EF4-FFF2-40B4-BE49-F238E27FC236}">
                  <a16:creationId xmlns:a16="http://schemas.microsoft.com/office/drawing/2014/main" id="{9E8AFE2E-C6F9-92B9-ADCD-553DB698983E}"/>
                </a:ext>
              </a:extLst>
            </p:cNvPr>
            <p:cNvSpPr/>
            <p:nvPr/>
          </p:nvSpPr>
          <p:spPr>
            <a:xfrm>
              <a:off x="1456667" y="2614976"/>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9" name="Oval 8">
              <a:extLst>
                <a:ext uri="{FF2B5EF4-FFF2-40B4-BE49-F238E27FC236}">
                  <a16:creationId xmlns:a16="http://schemas.microsoft.com/office/drawing/2014/main" id="{74DF39D2-D160-AB6B-DC92-825DF46B4C4F}"/>
                </a:ext>
              </a:extLst>
            </p:cNvPr>
            <p:cNvSpPr>
              <a:spLocks noChangeAspect="1"/>
            </p:cNvSpPr>
            <p:nvPr/>
          </p:nvSpPr>
          <p:spPr>
            <a:xfrm>
              <a:off x="2207929" y="2772475"/>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10" name="Freeform: Shape 9">
              <a:extLst>
                <a:ext uri="{FF2B5EF4-FFF2-40B4-BE49-F238E27FC236}">
                  <a16:creationId xmlns:a16="http://schemas.microsoft.com/office/drawing/2014/main" id="{5114C69B-B0B8-3E18-E463-4FA9421FD5C5}"/>
                </a:ext>
              </a:extLst>
            </p:cNvPr>
            <p:cNvSpPr/>
            <p:nvPr/>
          </p:nvSpPr>
          <p:spPr>
            <a:xfrm>
              <a:off x="3319077" y="2607129"/>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cxnSp>
          <p:nvCxnSpPr>
            <p:cNvPr id="11" name="Straight Connector 10">
              <a:extLst>
                <a:ext uri="{FF2B5EF4-FFF2-40B4-BE49-F238E27FC236}">
                  <a16:creationId xmlns:a16="http://schemas.microsoft.com/office/drawing/2014/main" id="{D0E9FF88-0921-4D50-EF0C-EE3CAAA710FD}"/>
                </a:ext>
              </a:extLst>
            </p:cNvPr>
            <p:cNvCxnSpPr>
              <a:cxnSpLocks/>
              <a:endCxn id="12" idx="2"/>
            </p:cNvCxnSpPr>
            <p:nvPr/>
          </p:nvCxnSpPr>
          <p:spPr>
            <a:xfrm>
              <a:off x="2241366" y="2793345"/>
              <a:ext cx="1044277"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FD65A69D-A01E-E9D4-F125-5FF5FAA7C238}"/>
                </a:ext>
              </a:extLst>
            </p:cNvPr>
            <p:cNvSpPr>
              <a:spLocks noChangeAspect="1"/>
            </p:cNvSpPr>
            <p:nvPr/>
          </p:nvSpPr>
          <p:spPr>
            <a:xfrm>
              <a:off x="3285643" y="2768983"/>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cxnSp>
          <p:nvCxnSpPr>
            <p:cNvPr id="13" name="Straight Connector 12">
              <a:extLst>
                <a:ext uri="{FF2B5EF4-FFF2-40B4-BE49-F238E27FC236}">
                  <a16:creationId xmlns:a16="http://schemas.microsoft.com/office/drawing/2014/main" id="{2EBD309F-788B-488E-4546-909EC026929F}"/>
                </a:ext>
              </a:extLst>
            </p:cNvPr>
            <p:cNvCxnSpPr>
              <a:cxnSpLocks/>
            </p:cNvCxnSpPr>
            <p:nvPr/>
          </p:nvCxnSpPr>
          <p:spPr>
            <a:xfrm>
              <a:off x="142197" y="2810542"/>
              <a:ext cx="53698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B8728DC-D7F7-5C74-234E-D5009A493575}"/>
                </a:ext>
              </a:extLst>
            </p:cNvPr>
            <p:cNvCxnSpPr>
              <a:cxnSpLocks/>
            </p:cNvCxnSpPr>
            <p:nvPr/>
          </p:nvCxnSpPr>
          <p:spPr>
            <a:xfrm>
              <a:off x="456249" y="2237979"/>
              <a:ext cx="6830" cy="73143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85EAFC7-D9F1-CACE-7D50-BCF3A735FECB}"/>
                </a:ext>
              </a:extLst>
            </p:cNvPr>
            <p:cNvCxnSpPr>
              <a:cxnSpLocks/>
            </p:cNvCxnSpPr>
            <p:nvPr/>
          </p:nvCxnSpPr>
          <p:spPr>
            <a:xfrm>
              <a:off x="450005" y="2237979"/>
              <a:ext cx="5312411"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A49C96F-3C7B-4243-075C-F4A5D24D0F84}"/>
                </a:ext>
              </a:extLst>
            </p:cNvPr>
            <p:cNvCxnSpPr>
              <a:cxnSpLocks/>
            </p:cNvCxnSpPr>
            <p:nvPr/>
          </p:nvCxnSpPr>
          <p:spPr>
            <a:xfrm>
              <a:off x="4586128" y="2558773"/>
              <a:ext cx="0" cy="31524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BD122FD-6892-5E91-53AE-5CE3B00382D9}"/>
                </a:ext>
              </a:extLst>
            </p:cNvPr>
            <p:cNvGrpSpPr/>
            <p:nvPr/>
          </p:nvGrpSpPr>
          <p:grpSpPr>
            <a:xfrm>
              <a:off x="4557950" y="2218852"/>
              <a:ext cx="57472" cy="341268"/>
              <a:chOff x="7832189" y="1468658"/>
              <a:chExt cx="130463" cy="774691"/>
            </a:xfrm>
          </p:grpSpPr>
          <p:cxnSp>
            <p:nvCxnSpPr>
              <p:cNvPr id="18" name="Straight Connector 17">
                <a:extLst>
                  <a:ext uri="{FF2B5EF4-FFF2-40B4-BE49-F238E27FC236}">
                    <a16:creationId xmlns:a16="http://schemas.microsoft.com/office/drawing/2014/main" id="{82E1A826-0BD4-DEFF-5321-3D3967B4F42B}"/>
                  </a:ext>
                </a:extLst>
              </p:cNvPr>
              <p:cNvCxnSpPr>
                <a:cxnSpLocks/>
              </p:cNvCxnSpPr>
              <p:nvPr/>
            </p:nvCxnSpPr>
            <p:spPr>
              <a:xfrm>
                <a:off x="7893714" y="1527734"/>
                <a:ext cx="0" cy="71561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96E66096-D5CB-3351-F631-B89A440E7622}"/>
                  </a:ext>
                </a:extLst>
              </p:cNvPr>
              <p:cNvSpPr>
                <a:spLocks noChangeAspect="1"/>
              </p:cNvSpPr>
              <p:nvPr/>
            </p:nvSpPr>
            <p:spPr>
              <a:xfrm>
                <a:off x="7832189" y="1468658"/>
                <a:ext cx="130463" cy="130376"/>
              </a:xfrm>
              <a:prstGeom prst="ellipse">
                <a:avLst/>
              </a:prstGeom>
              <a:solidFill>
                <a:schemeClr val="bg1"/>
              </a:solidFill>
              <a:ln w="222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grpSp>
        <p:grpSp>
          <p:nvGrpSpPr>
            <p:cNvPr id="20" name="Group 19">
              <a:extLst>
                <a:ext uri="{FF2B5EF4-FFF2-40B4-BE49-F238E27FC236}">
                  <a16:creationId xmlns:a16="http://schemas.microsoft.com/office/drawing/2014/main" id="{8AB59388-9E8B-7336-FA9D-9B0472967DF5}"/>
                </a:ext>
              </a:extLst>
            </p:cNvPr>
            <p:cNvGrpSpPr/>
            <p:nvPr/>
          </p:nvGrpSpPr>
          <p:grpSpPr>
            <a:xfrm rot="18900000">
              <a:off x="4442167" y="2282711"/>
              <a:ext cx="57472" cy="342849"/>
              <a:chOff x="7846657" y="1465069"/>
              <a:chExt cx="130463" cy="778280"/>
            </a:xfrm>
            <a:solidFill>
              <a:schemeClr val="tx1"/>
            </a:solidFill>
          </p:grpSpPr>
          <p:cxnSp>
            <p:nvCxnSpPr>
              <p:cNvPr id="21" name="Straight Connector 20">
                <a:extLst>
                  <a:ext uri="{FF2B5EF4-FFF2-40B4-BE49-F238E27FC236}">
                    <a16:creationId xmlns:a16="http://schemas.microsoft.com/office/drawing/2014/main" id="{2F36E7AA-9BFC-6D2B-3B40-1CB33CE9C21F}"/>
                  </a:ext>
                </a:extLst>
              </p:cNvPr>
              <p:cNvCxnSpPr>
                <a:cxnSpLocks/>
              </p:cNvCxnSpPr>
              <p:nvPr/>
            </p:nvCxnSpPr>
            <p:spPr>
              <a:xfrm>
                <a:off x="7906622" y="1527733"/>
                <a:ext cx="0" cy="715616"/>
              </a:xfrm>
              <a:prstGeom prst="line">
                <a:avLst/>
              </a:prstGeom>
              <a:grpFill/>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A6676405-8ED2-CBCC-BC72-FE5FB272ECE9}"/>
                  </a:ext>
                </a:extLst>
              </p:cNvPr>
              <p:cNvSpPr>
                <a:spLocks noChangeAspect="1"/>
              </p:cNvSpPr>
              <p:nvPr/>
            </p:nvSpPr>
            <p:spPr>
              <a:xfrm>
                <a:off x="7846657" y="1465069"/>
                <a:ext cx="130463" cy="130376"/>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grpSp>
        <p:sp>
          <p:nvSpPr>
            <p:cNvPr id="23" name="TextBox 22">
              <a:extLst>
                <a:ext uri="{FF2B5EF4-FFF2-40B4-BE49-F238E27FC236}">
                  <a16:creationId xmlns:a16="http://schemas.microsoft.com/office/drawing/2014/main" id="{0AD8F92D-F9AF-2700-033D-FA304F6D2238}"/>
                </a:ext>
              </a:extLst>
            </p:cNvPr>
            <p:cNvSpPr txBox="1"/>
            <p:nvPr/>
          </p:nvSpPr>
          <p:spPr>
            <a:xfrm>
              <a:off x="773609" y="2309665"/>
              <a:ext cx="1326645" cy="307777"/>
            </a:xfrm>
            <a:prstGeom prst="rect">
              <a:avLst/>
            </a:prstGeom>
            <a:noFill/>
            <a:ln>
              <a:noFill/>
            </a:ln>
          </p:spPr>
          <p:txBody>
            <a:bodyPr wrap="none" rtlCol="0">
              <a:spAutoFit/>
            </a:bodyPr>
            <a:lstStyle/>
            <a:p>
              <a:r>
                <a:rPr lang="en-US" sz="1400" i="1" dirty="0">
                  <a:latin typeface="LM Roman 12" panose="00000500000000000000" pitchFamily="50" charset="0"/>
                </a:rPr>
                <a:t>folded Ig states</a:t>
              </a:r>
            </a:p>
          </p:txBody>
        </p:sp>
        <p:sp>
          <p:nvSpPr>
            <p:cNvPr id="24" name="TextBox 23">
              <a:extLst>
                <a:ext uri="{FF2B5EF4-FFF2-40B4-BE49-F238E27FC236}">
                  <a16:creationId xmlns:a16="http://schemas.microsoft.com/office/drawing/2014/main" id="{FD8D77A3-0EDA-1FB7-A750-CC6968325D0A}"/>
                </a:ext>
              </a:extLst>
            </p:cNvPr>
            <p:cNvSpPr txBox="1"/>
            <p:nvPr/>
          </p:nvSpPr>
          <p:spPr>
            <a:xfrm>
              <a:off x="2191193" y="2300375"/>
              <a:ext cx="1238481" cy="307777"/>
            </a:xfrm>
            <a:prstGeom prst="rect">
              <a:avLst/>
            </a:prstGeom>
            <a:noFill/>
            <a:ln>
              <a:noFill/>
            </a:ln>
          </p:spPr>
          <p:txBody>
            <a:bodyPr wrap="none" rtlCol="0">
              <a:spAutoFit/>
            </a:bodyPr>
            <a:lstStyle/>
            <a:p>
              <a:r>
                <a:rPr lang="en-US" sz="1400" i="1" dirty="0">
                  <a:latin typeface="LM Roman 12" panose="00000500000000000000" pitchFamily="50" charset="0"/>
                </a:rPr>
                <a:t>unfolded state</a:t>
              </a:r>
            </a:p>
          </p:txBody>
        </p:sp>
        <p:sp>
          <p:nvSpPr>
            <p:cNvPr id="25" name="TextBox 24">
              <a:extLst>
                <a:ext uri="{FF2B5EF4-FFF2-40B4-BE49-F238E27FC236}">
                  <a16:creationId xmlns:a16="http://schemas.microsoft.com/office/drawing/2014/main" id="{69A518B7-5DCF-E97C-E19B-6558E39E829E}"/>
                </a:ext>
              </a:extLst>
            </p:cNvPr>
            <p:cNvSpPr txBox="1"/>
            <p:nvPr/>
          </p:nvSpPr>
          <p:spPr>
            <a:xfrm>
              <a:off x="4584276" y="2231980"/>
              <a:ext cx="1225015" cy="461665"/>
            </a:xfrm>
            <a:prstGeom prst="rect">
              <a:avLst/>
            </a:prstGeom>
            <a:noFill/>
          </p:spPr>
          <p:txBody>
            <a:bodyPr wrap="none" rtlCol="0">
              <a:spAutoFit/>
            </a:bodyPr>
            <a:lstStyle/>
            <a:p>
              <a:r>
                <a:rPr lang="en-US" sz="1200" dirty="0">
                  <a:latin typeface="LM Roman 12" panose="00000500000000000000" pitchFamily="50" charset="0"/>
                </a:rPr>
                <a:t>Ca</a:t>
              </a:r>
              <a:r>
                <a:rPr lang="en-US" sz="1200" baseline="30000" dirty="0">
                  <a:latin typeface="LM Roman 12" panose="00000500000000000000" pitchFamily="50" charset="0"/>
                </a:rPr>
                <a:t>2+</a:t>
              </a:r>
              <a:r>
                <a:rPr lang="en-US" sz="1200" dirty="0">
                  <a:latin typeface="LM Roman 12" panose="00000500000000000000" pitchFamily="50" charset="0"/>
                </a:rPr>
                <a:t>-dependent</a:t>
              </a:r>
              <a:br>
                <a:rPr lang="en-US" sz="1200" dirty="0">
                  <a:latin typeface="LM Roman 12" panose="00000500000000000000" pitchFamily="50" charset="0"/>
                </a:rPr>
              </a:br>
              <a:r>
                <a:rPr lang="en-US" sz="1200" dirty="0">
                  <a:latin typeface="LM Roman 12" panose="00000500000000000000" pitchFamily="50" charset="0"/>
                </a:rPr>
                <a:t>association</a:t>
              </a:r>
            </a:p>
          </p:txBody>
        </p:sp>
        <p:cxnSp>
          <p:nvCxnSpPr>
            <p:cNvPr id="26" name="Straight Connector 25">
              <a:extLst>
                <a:ext uri="{FF2B5EF4-FFF2-40B4-BE49-F238E27FC236}">
                  <a16:creationId xmlns:a16="http://schemas.microsoft.com/office/drawing/2014/main" id="{82BB318F-2528-36C4-81B0-0B625C932DAD}"/>
                </a:ext>
              </a:extLst>
            </p:cNvPr>
            <p:cNvCxnSpPr>
              <a:cxnSpLocks/>
            </p:cNvCxnSpPr>
            <p:nvPr/>
          </p:nvCxnSpPr>
          <p:spPr>
            <a:xfrm flipV="1">
              <a:off x="4718826" y="2786929"/>
              <a:ext cx="42443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3A00B29D-08A1-1C0D-60FF-E4D5EE9F8668}"/>
                </a:ext>
              </a:extLst>
            </p:cNvPr>
            <p:cNvGrpSpPr/>
            <p:nvPr/>
          </p:nvGrpSpPr>
          <p:grpSpPr>
            <a:xfrm>
              <a:off x="5145154" y="2722930"/>
              <a:ext cx="407863" cy="143161"/>
              <a:chOff x="4962260" y="3796575"/>
              <a:chExt cx="1056873" cy="370965"/>
            </a:xfrm>
          </p:grpSpPr>
          <p:cxnSp>
            <p:nvCxnSpPr>
              <p:cNvPr id="28" name="Straight Connector 27">
                <a:extLst>
                  <a:ext uri="{FF2B5EF4-FFF2-40B4-BE49-F238E27FC236}">
                    <a16:creationId xmlns:a16="http://schemas.microsoft.com/office/drawing/2014/main" id="{318E6E24-59C4-BD48-9001-068999B7AFE6}"/>
                  </a:ext>
                </a:extLst>
              </p:cNvPr>
              <p:cNvCxnSpPr>
                <a:cxnSpLocks/>
              </p:cNvCxnSpPr>
              <p:nvPr/>
            </p:nvCxnSpPr>
            <p:spPr>
              <a:xfrm flipV="1">
                <a:off x="4962260" y="3796575"/>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D74A530-34B7-9C6D-A907-109C97ED812F}"/>
                  </a:ext>
                </a:extLst>
              </p:cNvPr>
              <p:cNvCxnSpPr>
                <a:cxnSpLocks/>
              </p:cNvCxnSpPr>
              <p:nvPr/>
            </p:nvCxnSpPr>
            <p:spPr>
              <a:xfrm flipH="1" flipV="1">
                <a:off x="5051080" y="3801780"/>
                <a:ext cx="160559"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3A4C372-C09C-3D30-9345-2DFE19C2B340}"/>
                  </a:ext>
                </a:extLst>
              </p:cNvPr>
              <p:cNvCxnSpPr>
                <a:cxnSpLocks/>
              </p:cNvCxnSpPr>
              <p:nvPr/>
            </p:nvCxnSpPr>
            <p:spPr>
              <a:xfrm flipH="1">
                <a:off x="5207995"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7E59BEA-39A0-4340-4440-E14FA9A41194}"/>
                  </a:ext>
                </a:extLst>
              </p:cNvPr>
              <p:cNvCxnSpPr>
                <a:cxnSpLocks/>
              </p:cNvCxnSpPr>
              <p:nvPr/>
            </p:nvCxnSpPr>
            <p:spPr>
              <a:xfrm flipH="1" flipV="1">
                <a:off x="5386722"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1A281DC-EE53-DCB5-5B6B-A5F445A20BCE}"/>
                  </a:ext>
                </a:extLst>
              </p:cNvPr>
              <p:cNvCxnSpPr>
                <a:cxnSpLocks/>
              </p:cNvCxnSpPr>
              <p:nvPr/>
            </p:nvCxnSpPr>
            <p:spPr>
              <a:xfrm flipH="1">
                <a:off x="5565581"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CD63120-A00A-5A75-50E7-EB6A50A48391}"/>
                  </a:ext>
                </a:extLst>
              </p:cNvPr>
              <p:cNvCxnSpPr>
                <a:cxnSpLocks/>
              </p:cNvCxnSpPr>
              <p:nvPr/>
            </p:nvCxnSpPr>
            <p:spPr>
              <a:xfrm flipH="1" flipV="1">
                <a:off x="5747024"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B8D94-8464-63A4-2DB2-1C7272D637D5}"/>
                  </a:ext>
                </a:extLst>
              </p:cNvPr>
              <p:cNvCxnSpPr>
                <a:cxnSpLocks/>
              </p:cNvCxnSpPr>
              <p:nvPr/>
            </p:nvCxnSpPr>
            <p:spPr>
              <a:xfrm flipV="1">
                <a:off x="5927693" y="3984660"/>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F0673CE8-DD8C-1D3C-50A8-2E854C937520}"/>
                </a:ext>
              </a:extLst>
            </p:cNvPr>
            <p:cNvCxnSpPr>
              <a:cxnSpLocks/>
              <a:endCxn id="79" idx="2"/>
            </p:cNvCxnSpPr>
            <p:nvPr/>
          </p:nvCxnSpPr>
          <p:spPr>
            <a:xfrm flipV="1">
              <a:off x="5550197" y="2792260"/>
              <a:ext cx="472167" cy="124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BDDDFC2-F153-B0F9-B30C-3E92B574BFD4}"/>
                </a:ext>
              </a:extLst>
            </p:cNvPr>
            <p:cNvSpPr txBox="1"/>
            <p:nvPr/>
          </p:nvSpPr>
          <p:spPr>
            <a:xfrm>
              <a:off x="5021411" y="2919300"/>
              <a:ext cx="792343" cy="461665"/>
            </a:xfrm>
            <a:prstGeom prst="rect">
              <a:avLst/>
            </a:prstGeom>
            <a:noFill/>
            <a:ln>
              <a:noFill/>
            </a:ln>
          </p:spPr>
          <p:txBody>
            <a:bodyPr wrap="square" rtlCol="0">
              <a:spAutoFit/>
            </a:bodyPr>
            <a:lstStyle/>
            <a:p>
              <a:r>
                <a:rPr lang="en-US" sz="1200" dirty="0">
                  <a:latin typeface="LM Roman 12" panose="00000500000000000000" pitchFamily="50" charset="0"/>
                </a:rPr>
                <a:t>distal Ig </a:t>
              </a:r>
              <a:br>
                <a:rPr lang="en-US" sz="1200" dirty="0">
                  <a:latin typeface="LM Roman 12" panose="00000500000000000000" pitchFamily="50" charset="0"/>
                </a:rPr>
              </a:br>
              <a:r>
                <a:rPr lang="en-US" sz="1200" dirty="0">
                  <a:latin typeface="LM Roman 12" panose="00000500000000000000" pitchFamily="50" charset="0"/>
                </a:rPr>
                <a:t>domain</a:t>
              </a:r>
            </a:p>
          </p:txBody>
        </p:sp>
        <p:sp>
          <p:nvSpPr>
            <p:cNvPr id="37" name="TextBox 36">
              <a:extLst>
                <a:ext uri="{FF2B5EF4-FFF2-40B4-BE49-F238E27FC236}">
                  <a16:creationId xmlns:a16="http://schemas.microsoft.com/office/drawing/2014/main" id="{BC89290E-E9A3-BDB8-FCA2-C5E02C16401D}"/>
                </a:ext>
              </a:extLst>
            </p:cNvPr>
            <p:cNvSpPr txBox="1"/>
            <p:nvPr/>
          </p:nvSpPr>
          <p:spPr>
            <a:xfrm>
              <a:off x="1268332" y="2919300"/>
              <a:ext cx="1975157" cy="276999"/>
            </a:xfrm>
            <a:prstGeom prst="rect">
              <a:avLst/>
            </a:prstGeom>
            <a:noFill/>
            <a:ln>
              <a:noFill/>
            </a:ln>
          </p:spPr>
          <p:txBody>
            <a:bodyPr wrap="square" rtlCol="0">
              <a:spAutoFit/>
            </a:bodyPr>
            <a:lstStyle/>
            <a:p>
              <a:pPr algn="ctr"/>
              <a:r>
                <a:rPr lang="en-US" sz="1200" dirty="0">
                  <a:latin typeface="LM Roman 12" panose="00000500000000000000" pitchFamily="50" charset="0"/>
                </a:rPr>
                <a:t>proximal Ig domain</a:t>
              </a:r>
            </a:p>
          </p:txBody>
        </p:sp>
        <p:sp>
          <p:nvSpPr>
            <p:cNvPr id="38" name="TextBox 37">
              <a:extLst>
                <a:ext uri="{FF2B5EF4-FFF2-40B4-BE49-F238E27FC236}">
                  <a16:creationId xmlns:a16="http://schemas.microsoft.com/office/drawing/2014/main" id="{8EE090C3-0ACE-8BA9-BB50-EA8CFC6D337C}"/>
                </a:ext>
              </a:extLst>
            </p:cNvPr>
            <p:cNvSpPr txBox="1"/>
            <p:nvPr/>
          </p:nvSpPr>
          <p:spPr>
            <a:xfrm>
              <a:off x="2823490" y="1958849"/>
              <a:ext cx="622286" cy="338554"/>
            </a:xfrm>
            <a:prstGeom prst="rect">
              <a:avLst/>
            </a:prstGeom>
            <a:noFill/>
            <a:ln>
              <a:noFill/>
            </a:ln>
          </p:spPr>
          <p:txBody>
            <a:bodyPr wrap="none" rtlCol="0">
              <a:spAutoFit/>
            </a:bodyPr>
            <a:lstStyle/>
            <a:p>
              <a:r>
                <a:rPr lang="en-US" sz="1600" dirty="0">
                  <a:latin typeface="LM Roman 12" panose="00000500000000000000" pitchFamily="50" charset="0"/>
                </a:rPr>
                <a:t>actin</a:t>
              </a:r>
            </a:p>
          </p:txBody>
        </p:sp>
        <p:sp>
          <p:nvSpPr>
            <p:cNvPr id="39" name="TextBox 38">
              <a:extLst>
                <a:ext uri="{FF2B5EF4-FFF2-40B4-BE49-F238E27FC236}">
                  <a16:creationId xmlns:a16="http://schemas.microsoft.com/office/drawing/2014/main" id="{2ADB64F0-70C7-36E5-0F9A-26F6A7DABE82}"/>
                </a:ext>
              </a:extLst>
            </p:cNvPr>
            <p:cNvSpPr txBox="1"/>
            <p:nvPr/>
          </p:nvSpPr>
          <p:spPr>
            <a:xfrm rot="16200000">
              <a:off x="-33428" y="2144216"/>
              <a:ext cx="728084" cy="338554"/>
            </a:xfrm>
            <a:prstGeom prst="rect">
              <a:avLst/>
            </a:prstGeom>
            <a:noFill/>
            <a:ln>
              <a:noFill/>
            </a:ln>
          </p:spPr>
          <p:txBody>
            <a:bodyPr wrap="none" rtlCol="0">
              <a:spAutoFit/>
            </a:bodyPr>
            <a:lstStyle/>
            <a:p>
              <a:r>
                <a:rPr lang="en-US" sz="1600" dirty="0">
                  <a:latin typeface="LM Roman 12" panose="00000500000000000000" pitchFamily="50" charset="0"/>
                </a:rPr>
                <a:t>Z disk</a:t>
              </a:r>
            </a:p>
          </p:txBody>
        </p:sp>
        <p:sp>
          <p:nvSpPr>
            <p:cNvPr id="40" name="Rectangle 39">
              <a:extLst>
                <a:ext uri="{FF2B5EF4-FFF2-40B4-BE49-F238E27FC236}">
                  <a16:creationId xmlns:a16="http://schemas.microsoft.com/office/drawing/2014/main" id="{A5640E51-4EC1-CC45-83C5-DC2F530AE1A0}"/>
                </a:ext>
              </a:extLst>
            </p:cNvPr>
            <p:cNvSpPr/>
            <p:nvPr/>
          </p:nvSpPr>
          <p:spPr>
            <a:xfrm>
              <a:off x="4396672" y="2721038"/>
              <a:ext cx="372788" cy="155144"/>
            </a:xfrm>
            <a:prstGeom prst="rect">
              <a:avLst/>
            </a:prstGeom>
            <a:solidFill>
              <a:schemeClr val="bg1"/>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41" name="TextBox 40">
              <a:extLst>
                <a:ext uri="{FF2B5EF4-FFF2-40B4-BE49-F238E27FC236}">
                  <a16:creationId xmlns:a16="http://schemas.microsoft.com/office/drawing/2014/main" id="{45DA0FC1-C620-F209-39E3-CE9D3B922C1D}"/>
                </a:ext>
              </a:extLst>
            </p:cNvPr>
            <p:cNvSpPr txBox="1"/>
            <p:nvPr/>
          </p:nvSpPr>
          <p:spPr>
            <a:xfrm>
              <a:off x="4219614" y="2919300"/>
              <a:ext cx="717504" cy="461665"/>
            </a:xfrm>
            <a:prstGeom prst="rect">
              <a:avLst/>
            </a:prstGeom>
            <a:noFill/>
            <a:ln>
              <a:noFill/>
            </a:ln>
          </p:spPr>
          <p:txBody>
            <a:bodyPr wrap="none" rtlCol="0">
              <a:spAutoFit/>
            </a:bodyPr>
            <a:lstStyle/>
            <a:p>
              <a:pPr algn="ctr"/>
              <a:r>
                <a:rPr lang="en-US" sz="1200" dirty="0">
                  <a:latin typeface="LM Roman 12" panose="00000500000000000000" pitchFamily="50" charset="0"/>
                </a:rPr>
                <a:t>PEVK</a:t>
              </a:r>
              <a:br>
                <a:rPr lang="en-US" sz="1200" dirty="0">
                  <a:latin typeface="LM Roman 12" panose="00000500000000000000" pitchFamily="50" charset="0"/>
                </a:rPr>
              </a:br>
              <a:r>
                <a:rPr lang="en-US" sz="1200" dirty="0">
                  <a:latin typeface="LM Roman 12" panose="00000500000000000000" pitchFamily="50" charset="0"/>
                </a:rPr>
                <a:t>segment</a:t>
              </a:r>
            </a:p>
          </p:txBody>
        </p:sp>
        <p:cxnSp>
          <p:nvCxnSpPr>
            <p:cNvPr id="60" name="Straight Connector 59">
              <a:extLst>
                <a:ext uri="{FF2B5EF4-FFF2-40B4-BE49-F238E27FC236}">
                  <a16:creationId xmlns:a16="http://schemas.microsoft.com/office/drawing/2014/main" id="{826FEA06-C891-E646-943A-872E2ECD04DD}"/>
                </a:ext>
              </a:extLst>
            </p:cNvPr>
            <p:cNvCxnSpPr>
              <a:cxnSpLocks/>
            </p:cNvCxnSpPr>
            <p:nvPr/>
          </p:nvCxnSpPr>
          <p:spPr>
            <a:xfrm flipV="1">
              <a:off x="48743" y="3396240"/>
              <a:ext cx="4193452" cy="11119"/>
            </a:xfrm>
            <a:prstGeom prst="line">
              <a:avLst/>
            </a:prstGeom>
            <a:ln w="22225">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DEFCECC-CB02-C21A-82BE-65E3C789539A}"/>
                </a:ext>
              </a:extLst>
            </p:cNvPr>
            <p:cNvCxnSpPr>
              <a:cxnSpLocks/>
            </p:cNvCxnSpPr>
            <p:nvPr/>
          </p:nvCxnSpPr>
          <p:spPr>
            <a:xfrm>
              <a:off x="4270352" y="3387553"/>
              <a:ext cx="1822104" cy="8687"/>
            </a:xfrm>
            <a:prstGeom prst="line">
              <a:avLst/>
            </a:prstGeom>
            <a:ln w="22225">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E8AF28-BA91-608B-DBA4-35AC457BBC75}"/>
                </a:ext>
              </a:extLst>
            </p:cNvPr>
            <p:cNvSpPr txBox="1"/>
            <p:nvPr/>
          </p:nvSpPr>
          <p:spPr>
            <a:xfrm>
              <a:off x="40676" y="3338679"/>
              <a:ext cx="4171502" cy="338554"/>
            </a:xfrm>
            <a:prstGeom prst="rect">
              <a:avLst/>
            </a:prstGeom>
            <a:noFill/>
            <a:ln>
              <a:noFill/>
            </a:ln>
          </p:spPr>
          <p:txBody>
            <a:bodyPr wrap="square" rtlCol="0" anchor="t">
              <a:spAutoFit/>
            </a:bodyPr>
            <a:lstStyle/>
            <a:p>
              <a:pPr algn="ctr"/>
              <a:r>
                <a:rPr lang="en-US" sz="1600" i="1" dirty="0" err="1">
                  <a:latin typeface="LM Roman 12" panose="00000500000000000000" pitchFamily="50" charset="0"/>
                </a:rPr>
                <a:t>L</a:t>
              </a:r>
              <a:r>
                <a:rPr lang="en-US" sz="1600" i="1" baseline="-25000" dirty="0" err="1">
                  <a:latin typeface="LM Roman 12" panose="00000500000000000000" pitchFamily="50" charset="0"/>
                </a:rPr>
                <a:t>p</a:t>
              </a:r>
              <a:endParaRPr lang="en-US" sz="1600" baseline="-25000" dirty="0">
                <a:latin typeface="LM Roman 12" panose="00000500000000000000" pitchFamily="50" charset="0"/>
              </a:endParaRPr>
            </a:p>
          </p:txBody>
        </p:sp>
        <p:sp>
          <p:nvSpPr>
            <p:cNvPr id="63" name="TextBox 62">
              <a:extLst>
                <a:ext uri="{FF2B5EF4-FFF2-40B4-BE49-F238E27FC236}">
                  <a16:creationId xmlns:a16="http://schemas.microsoft.com/office/drawing/2014/main" id="{56032AA6-D568-D677-FAC1-94BFD5AE4C5B}"/>
                </a:ext>
              </a:extLst>
            </p:cNvPr>
            <p:cNvSpPr txBox="1"/>
            <p:nvPr/>
          </p:nvSpPr>
          <p:spPr>
            <a:xfrm>
              <a:off x="4538987" y="3338679"/>
              <a:ext cx="986837" cy="338554"/>
            </a:xfrm>
            <a:prstGeom prst="rect">
              <a:avLst/>
            </a:prstGeom>
            <a:noFill/>
            <a:ln>
              <a:noFill/>
            </a:ln>
          </p:spPr>
          <p:txBody>
            <a:bodyPr wrap="square" rtlCol="0" anchor="t">
              <a:spAutoFit/>
            </a:bodyPr>
            <a:lstStyle/>
            <a:p>
              <a:pPr algn="ctr"/>
              <a:r>
                <a:rPr lang="en-US" sz="1600" i="1" dirty="0" err="1">
                  <a:latin typeface="LM Roman 12" panose="00000500000000000000" pitchFamily="50" charset="0"/>
                </a:rPr>
                <a:t>L</a:t>
              </a:r>
              <a:r>
                <a:rPr lang="en-US" sz="1600" i="1" baseline="-25000" dirty="0" err="1">
                  <a:latin typeface="LM Roman 12" panose="00000500000000000000" pitchFamily="50" charset="0"/>
                </a:rPr>
                <a:t>d</a:t>
              </a:r>
              <a:endParaRPr lang="en-US" sz="1600" baseline="-25000" dirty="0">
                <a:latin typeface="LM Roman 12" panose="00000500000000000000" pitchFamily="50" charset="0"/>
              </a:endParaRPr>
            </a:p>
          </p:txBody>
        </p:sp>
        <p:cxnSp>
          <p:nvCxnSpPr>
            <p:cNvPr id="72" name="Straight Connector 71">
              <a:extLst>
                <a:ext uri="{FF2B5EF4-FFF2-40B4-BE49-F238E27FC236}">
                  <a16:creationId xmlns:a16="http://schemas.microsoft.com/office/drawing/2014/main" id="{38B0924B-1F00-0945-B60C-C7BB381C6173}"/>
                </a:ext>
              </a:extLst>
            </p:cNvPr>
            <p:cNvCxnSpPr>
              <a:cxnSpLocks/>
              <a:stCxn id="10" idx="47"/>
            </p:cNvCxnSpPr>
            <p:nvPr/>
          </p:nvCxnSpPr>
          <p:spPr>
            <a:xfrm>
              <a:off x="4094171" y="2790374"/>
              <a:ext cx="302501" cy="857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05F4494-6136-8F67-C0C0-2E4981EC927E}"/>
                </a:ext>
              </a:extLst>
            </p:cNvPr>
            <p:cNvCxnSpPr>
              <a:cxnSpLocks/>
            </p:cNvCxnSpPr>
            <p:nvPr/>
          </p:nvCxnSpPr>
          <p:spPr>
            <a:xfrm>
              <a:off x="66281" y="1851792"/>
              <a:ext cx="282794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BF0C805B-FA9F-675F-C842-079F6CFA76A4}"/>
                </a:ext>
              </a:extLst>
            </p:cNvPr>
            <p:cNvGrpSpPr/>
            <p:nvPr/>
          </p:nvGrpSpPr>
          <p:grpSpPr>
            <a:xfrm>
              <a:off x="2884652" y="1763618"/>
              <a:ext cx="1141914" cy="183994"/>
              <a:chOff x="4962260" y="3796575"/>
              <a:chExt cx="1056873" cy="370965"/>
            </a:xfrm>
          </p:grpSpPr>
          <p:cxnSp>
            <p:nvCxnSpPr>
              <p:cNvPr id="65" name="Straight Connector 64">
                <a:extLst>
                  <a:ext uri="{FF2B5EF4-FFF2-40B4-BE49-F238E27FC236}">
                    <a16:creationId xmlns:a16="http://schemas.microsoft.com/office/drawing/2014/main" id="{CDA74EC7-24DD-66B0-167F-64A8D74753E4}"/>
                  </a:ext>
                </a:extLst>
              </p:cNvPr>
              <p:cNvCxnSpPr>
                <a:cxnSpLocks/>
              </p:cNvCxnSpPr>
              <p:nvPr/>
            </p:nvCxnSpPr>
            <p:spPr>
              <a:xfrm flipV="1">
                <a:off x="4962260" y="3796575"/>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48A6936-3DB3-AC08-3C29-F4E223BDE0F5}"/>
                  </a:ext>
                </a:extLst>
              </p:cNvPr>
              <p:cNvCxnSpPr>
                <a:cxnSpLocks/>
              </p:cNvCxnSpPr>
              <p:nvPr/>
            </p:nvCxnSpPr>
            <p:spPr>
              <a:xfrm flipH="1" flipV="1">
                <a:off x="5051080" y="3801780"/>
                <a:ext cx="160559"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2022F48-B157-1080-BDF9-9DD313481C90}"/>
                  </a:ext>
                </a:extLst>
              </p:cNvPr>
              <p:cNvCxnSpPr>
                <a:cxnSpLocks/>
              </p:cNvCxnSpPr>
              <p:nvPr/>
            </p:nvCxnSpPr>
            <p:spPr>
              <a:xfrm flipH="1">
                <a:off x="5207995"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59E58F8-F719-50FC-EB09-E2AF19498A99}"/>
                  </a:ext>
                </a:extLst>
              </p:cNvPr>
              <p:cNvCxnSpPr>
                <a:cxnSpLocks/>
              </p:cNvCxnSpPr>
              <p:nvPr/>
            </p:nvCxnSpPr>
            <p:spPr>
              <a:xfrm flipH="1" flipV="1">
                <a:off x="5386722"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EACF59-EAF2-F169-2A4B-C2C76C8E2C46}"/>
                  </a:ext>
                </a:extLst>
              </p:cNvPr>
              <p:cNvCxnSpPr>
                <a:cxnSpLocks/>
              </p:cNvCxnSpPr>
              <p:nvPr/>
            </p:nvCxnSpPr>
            <p:spPr>
              <a:xfrm flipH="1">
                <a:off x="5565581"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788748C-01E5-E615-BA39-B324DB7B9C73}"/>
                  </a:ext>
                </a:extLst>
              </p:cNvPr>
              <p:cNvCxnSpPr>
                <a:cxnSpLocks/>
              </p:cNvCxnSpPr>
              <p:nvPr/>
            </p:nvCxnSpPr>
            <p:spPr>
              <a:xfrm flipH="1" flipV="1">
                <a:off x="5747024"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A6E614C-46E0-ABC0-E25E-6450A30ECDD1}"/>
                  </a:ext>
                </a:extLst>
              </p:cNvPr>
              <p:cNvCxnSpPr>
                <a:cxnSpLocks/>
              </p:cNvCxnSpPr>
              <p:nvPr/>
            </p:nvCxnSpPr>
            <p:spPr>
              <a:xfrm flipV="1">
                <a:off x="5927693" y="3984660"/>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Straight Connector 72">
              <a:extLst>
                <a:ext uri="{FF2B5EF4-FFF2-40B4-BE49-F238E27FC236}">
                  <a16:creationId xmlns:a16="http://schemas.microsoft.com/office/drawing/2014/main" id="{BFFF2895-FDEE-8D2C-1526-3537EE380963}"/>
                </a:ext>
              </a:extLst>
            </p:cNvPr>
            <p:cNvCxnSpPr>
              <a:cxnSpLocks/>
            </p:cNvCxnSpPr>
            <p:nvPr/>
          </p:nvCxnSpPr>
          <p:spPr>
            <a:xfrm>
              <a:off x="4026566" y="1852377"/>
              <a:ext cx="2065890" cy="452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Right Triangle 77">
              <a:extLst>
                <a:ext uri="{FF2B5EF4-FFF2-40B4-BE49-F238E27FC236}">
                  <a16:creationId xmlns:a16="http://schemas.microsoft.com/office/drawing/2014/main" id="{F121BC61-7BCD-75B6-8CA0-DD56315BEA1E}"/>
                </a:ext>
              </a:extLst>
            </p:cNvPr>
            <p:cNvSpPr/>
            <p:nvPr/>
          </p:nvSpPr>
          <p:spPr>
            <a:xfrm rot="5400000">
              <a:off x="5744392" y="2026269"/>
              <a:ext cx="229733" cy="193688"/>
            </a:xfrm>
            <a:prstGeom prst="rtTriangle">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sp>
          <p:nvSpPr>
            <p:cNvPr id="79" name="Oval 78">
              <a:extLst>
                <a:ext uri="{FF2B5EF4-FFF2-40B4-BE49-F238E27FC236}">
                  <a16:creationId xmlns:a16="http://schemas.microsoft.com/office/drawing/2014/main" id="{B8D4D77C-37A1-FB19-A4BF-4B661A96B357}"/>
                </a:ext>
              </a:extLst>
            </p:cNvPr>
            <p:cNvSpPr/>
            <p:nvPr/>
          </p:nvSpPr>
          <p:spPr>
            <a:xfrm>
              <a:off x="6022364" y="2722168"/>
              <a:ext cx="140183" cy="14018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cxnSp>
          <p:nvCxnSpPr>
            <p:cNvPr id="82" name="Straight Connector 81">
              <a:extLst>
                <a:ext uri="{FF2B5EF4-FFF2-40B4-BE49-F238E27FC236}">
                  <a16:creationId xmlns:a16="http://schemas.microsoft.com/office/drawing/2014/main" id="{C3FC9A7D-62D7-DEBB-C285-D214FC01952D}"/>
                </a:ext>
              </a:extLst>
            </p:cNvPr>
            <p:cNvCxnSpPr>
              <a:cxnSpLocks/>
              <a:stCxn id="79" idx="0"/>
            </p:cNvCxnSpPr>
            <p:nvPr/>
          </p:nvCxnSpPr>
          <p:spPr>
            <a:xfrm flipV="1">
              <a:off x="6092456" y="1851792"/>
              <a:ext cx="0" cy="87037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Oval 89">
              <a:extLst>
                <a:ext uri="{FF2B5EF4-FFF2-40B4-BE49-F238E27FC236}">
                  <a16:creationId xmlns:a16="http://schemas.microsoft.com/office/drawing/2014/main" id="{04514949-C648-6D37-3A41-24E08E62A778}"/>
                </a:ext>
              </a:extLst>
            </p:cNvPr>
            <p:cNvSpPr/>
            <p:nvPr/>
          </p:nvSpPr>
          <p:spPr>
            <a:xfrm>
              <a:off x="0" y="2734413"/>
              <a:ext cx="140183" cy="14018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LM Roman 12" panose="00000500000000000000" pitchFamily="50" charset="0"/>
              </a:endParaRPr>
            </a:p>
          </p:txBody>
        </p:sp>
        <p:cxnSp>
          <p:nvCxnSpPr>
            <p:cNvPr id="93" name="Straight Connector 92">
              <a:extLst>
                <a:ext uri="{FF2B5EF4-FFF2-40B4-BE49-F238E27FC236}">
                  <a16:creationId xmlns:a16="http://schemas.microsoft.com/office/drawing/2014/main" id="{CF4C6004-7BE8-5B2B-7BCE-C8FCEEDD9DBC}"/>
                </a:ext>
              </a:extLst>
            </p:cNvPr>
            <p:cNvCxnSpPr>
              <a:cxnSpLocks/>
              <a:stCxn id="90" idx="0"/>
            </p:cNvCxnSpPr>
            <p:nvPr/>
          </p:nvCxnSpPr>
          <p:spPr>
            <a:xfrm flipH="1" flipV="1">
              <a:off x="66701" y="1851792"/>
              <a:ext cx="3391" cy="88262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036A3A3D-760A-C40F-A83A-840F43D62AAA}"/>
                    </a:ext>
                  </a:extLst>
                </p:cNvPr>
                <p:cNvSpPr txBox="1"/>
                <p:nvPr/>
              </p:nvSpPr>
              <p:spPr>
                <a:xfrm>
                  <a:off x="2372650" y="1183328"/>
                  <a:ext cx="671183" cy="513282"/>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baseline="-25000" smtClean="0">
                                <a:latin typeface="Cambria Math" panose="02040503050406030204" pitchFamily="18" charset="0"/>
                              </a:rPr>
                            </m:ctrlPr>
                          </m:sSubPr>
                          <m:e>
                            <m:r>
                              <a:rPr lang="en-US" sz="2800" b="0" i="1" baseline="-25000" smtClean="0">
                                <a:latin typeface="Cambria Math" panose="02040503050406030204" pitchFamily="18" charset="0"/>
                              </a:rPr>
                              <m:t>𝛩</m:t>
                            </m:r>
                          </m:e>
                          <m:sub>
                            <m:r>
                              <a:rPr lang="en-US" sz="2800" b="0" i="1" baseline="-25000" smtClean="0">
                                <a:latin typeface="Cambria Math" panose="02040503050406030204" pitchFamily="18" charset="0"/>
                              </a:rPr>
                              <m:t>𝑠𝑠</m:t>
                            </m:r>
                          </m:sub>
                        </m:sSub>
                      </m:oMath>
                    </m:oMathPara>
                  </a14:m>
                  <a:endParaRPr lang="en-US" sz="2800" i="1" baseline="-25000" dirty="0">
                    <a:latin typeface="LM Roman 12" panose="00000500000000000000" pitchFamily="50" charset="0"/>
                  </a:endParaRPr>
                </a:p>
              </p:txBody>
            </p:sp>
          </mc:Choice>
          <mc:Fallback xmlns="">
            <p:sp>
              <p:nvSpPr>
                <p:cNvPr id="97" name="TextBox 96">
                  <a:extLst>
                    <a:ext uri="{FF2B5EF4-FFF2-40B4-BE49-F238E27FC236}">
                      <a16:creationId xmlns:a16="http://schemas.microsoft.com/office/drawing/2014/main" id="{036A3A3D-760A-C40F-A83A-840F43D62AAA}"/>
                    </a:ext>
                  </a:extLst>
                </p:cNvPr>
                <p:cNvSpPr txBox="1">
                  <a:spLocks noRot="1" noChangeAspect="1" noMove="1" noResize="1" noEditPoints="1" noAdjustHandles="1" noChangeArrowheads="1" noChangeShapeType="1" noTextEdit="1"/>
                </p:cNvSpPr>
                <p:nvPr/>
              </p:nvSpPr>
              <p:spPr>
                <a:xfrm>
                  <a:off x="2372650" y="1183328"/>
                  <a:ext cx="671183" cy="513282"/>
                </a:xfrm>
                <a:prstGeom prst="rect">
                  <a:avLst/>
                </a:prstGeom>
                <a:blipFill>
                  <a:blip r:embed="rId6"/>
                  <a:stretch>
                    <a:fillRect b="-22619"/>
                  </a:stretch>
                </a:blipFill>
                <a:ln>
                  <a:noFill/>
                </a:ln>
              </p:spPr>
              <p:txBody>
                <a:bodyPr/>
                <a:lstStyle/>
                <a:p>
                  <a:r>
                    <a:rPr lang="en-US">
                      <a:noFill/>
                    </a:rPr>
                    <a:t> </a:t>
                  </a:r>
                </a:p>
              </p:txBody>
            </p:sp>
          </mc:Fallback>
        </mc:AlternateContent>
        <p:sp>
          <p:nvSpPr>
            <p:cNvPr id="88" name="TextBox 87">
              <a:extLst>
                <a:ext uri="{FF2B5EF4-FFF2-40B4-BE49-F238E27FC236}">
                  <a16:creationId xmlns:a16="http://schemas.microsoft.com/office/drawing/2014/main" id="{5417F265-A9B4-B6E1-D2B9-EF8E0E4A041B}"/>
                </a:ext>
              </a:extLst>
            </p:cNvPr>
            <p:cNvSpPr txBox="1"/>
            <p:nvPr/>
          </p:nvSpPr>
          <p:spPr>
            <a:xfrm>
              <a:off x="436777" y="1617423"/>
              <a:ext cx="421237" cy="584775"/>
            </a:xfrm>
            <a:prstGeom prst="rect">
              <a:avLst/>
            </a:prstGeom>
            <a:gradFill flip="none" rotWithShape="1">
              <a:gsLst>
                <a:gs pos="33000">
                  <a:srgbClr val="FFFFFF"/>
                </a:gs>
                <a:gs pos="0">
                  <a:schemeClr val="bg1"/>
                </a:gs>
                <a:gs pos="82000">
                  <a:schemeClr val="bg1">
                    <a:shade val="100000"/>
                    <a:satMod val="115000"/>
                    <a:alpha val="0"/>
                  </a:schemeClr>
                </a:gs>
              </a:gsLst>
              <a:path path="circle">
                <a:fillToRect l="50000" t="50000" r="50000" b="50000"/>
              </a:path>
              <a:tileRect/>
            </a:gradFill>
          </p:spPr>
          <p:txBody>
            <a:bodyPr wrap="square">
              <a:spAutoFit/>
            </a:bodyPr>
            <a:lstStyle/>
            <a:p>
              <a:r>
                <a:rPr lang="en-US" sz="3200" b="1" dirty="0">
                  <a:ln w="76200">
                    <a:noFill/>
                  </a:ln>
                  <a:latin typeface="LM Roman 12" panose="00000500000000000000" pitchFamily="50" charset="0"/>
                </a:rPr>
                <a:t>B</a:t>
              </a:r>
              <a:endParaRPr lang="en-US" b="1" dirty="0">
                <a:ln w="76200">
                  <a:noFill/>
                </a:ln>
                <a:latin typeface="LM Roman 12" panose="00000500000000000000" pitchFamily="50" charset="0"/>
              </a:endParaRPr>
            </a:p>
          </p:txBody>
        </p:sp>
        <p:pic>
          <p:nvPicPr>
            <p:cNvPr id="3" name="Picture 2">
              <a:extLst>
                <a:ext uri="{FF2B5EF4-FFF2-40B4-BE49-F238E27FC236}">
                  <a16:creationId xmlns:a16="http://schemas.microsoft.com/office/drawing/2014/main" id="{B71B810A-B634-EDF0-166C-7F3E21FFCFFF}"/>
                </a:ext>
              </a:extLst>
            </p:cNvPr>
            <p:cNvPicPr>
              <a:picLocks noChangeAspect="1"/>
            </p:cNvPicPr>
            <p:nvPr/>
          </p:nvPicPr>
          <p:blipFill rotWithShape="1">
            <a:blip r:embed="rId7"/>
            <a:srcRect b="58175"/>
            <a:stretch/>
          </p:blipFill>
          <p:spPr>
            <a:xfrm>
              <a:off x="0" y="173186"/>
              <a:ext cx="6162541" cy="1330056"/>
            </a:xfrm>
            <a:prstGeom prst="rect">
              <a:avLst/>
            </a:prstGeom>
          </p:spPr>
        </p:pic>
        <p:sp>
          <p:nvSpPr>
            <p:cNvPr id="42" name="TextBox 41">
              <a:extLst>
                <a:ext uri="{FF2B5EF4-FFF2-40B4-BE49-F238E27FC236}">
                  <a16:creationId xmlns:a16="http://schemas.microsoft.com/office/drawing/2014/main" id="{E34EDC45-1DAB-4E74-A906-99FB15D1128F}"/>
                </a:ext>
              </a:extLst>
            </p:cNvPr>
            <p:cNvSpPr txBox="1"/>
            <p:nvPr/>
          </p:nvSpPr>
          <p:spPr>
            <a:xfrm>
              <a:off x="462340" y="-96690"/>
              <a:ext cx="539664" cy="584775"/>
            </a:xfrm>
            <a:prstGeom prst="rect">
              <a:avLst/>
            </a:prstGeom>
            <a:noFill/>
          </p:spPr>
          <p:txBody>
            <a:bodyPr wrap="square">
              <a:spAutoFit/>
            </a:bodyPr>
            <a:lstStyle/>
            <a:p>
              <a:r>
                <a:rPr lang="en-US" sz="3200" b="1" dirty="0">
                  <a:latin typeface="LM Roman 12" panose="00000500000000000000" pitchFamily="50" charset="0"/>
                </a:rPr>
                <a:t>A</a:t>
              </a:r>
              <a:endParaRPr lang="en-US" b="1" dirty="0">
                <a:latin typeface="LM Roman 12" panose="00000500000000000000" pitchFamily="50" charset="0"/>
              </a:endParaRPr>
            </a:p>
          </p:txBody>
        </p:sp>
        <p:cxnSp>
          <p:nvCxnSpPr>
            <p:cNvPr id="46" name="Straight Connector 45">
              <a:extLst>
                <a:ext uri="{FF2B5EF4-FFF2-40B4-BE49-F238E27FC236}">
                  <a16:creationId xmlns:a16="http://schemas.microsoft.com/office/drawing/2014/main" id="{3C3A2EF5-C1E0-17A9-3D36-47A8169350FA}"/>
                </a:ext>
              </a:extLst>
            </p:cNvPr>
            <p:cNvCxnSpPr>
              <a:cxnSpLocks/>
            </p:cNvCxnSpPr>
            <p:nvPr/>
          </p:nvCxnSpPr>
          <p:spPr>
            <a:xfrm flipH="1">
              <a:off x="33355" y="995024"/>
              <a:ext cx="127982" cy="841754"/>
            </a:xfrm>
            <a:prstGeom prst="line">
              <a:avLst/>
            </a:prstGeom>
            <a:ln w="38100">
              <a:prstDash val="sysDash"/>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DF2259BA-59CE-6292-1284-3D6C2D7D233F}"/>
                </a:ext>
              </a:extLst>
            </p:cNvPr>
            <p:cNvCxnSpPr>
              <a:cxnSpLocks/>
            </p:cNvCxnSpPr>
            <p:nvPr/>
          </p:nvCxnSpPr>
          <p:spPr>
            <a:xfrm>
              <a:off x="3106210" y="1023730"/>
              <a:ext cx="3056331" cy="731136"/>
            </a:xfrm>
            <a:prstGeom prst="line">
              <a:avLst/>
            </a:prstGeom>
            <a:ln w="38100">
              <a:prstDash val="sysDash"/>
            </a:ln>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D43911B5-4A62-73B1-1616-4DA823CE0C55}"/>
                </a:ext>
              </a:extLst>
            </p:cNvPr>
            <p:cNvSpPr txBox="1"/>
            <p:nvPr/>
          </p:nvSpPr>
          <p:spPr>
            <a:xfrm>
              <a:off x="475711" y="5241495"/>
              <a:ext cx="562743" cy="584775"/>
            </a:xfrm>
            <a:prstGeom prst="rect">
              <a:avLst/>
            </a:prstGeom>
            <a:noFill/>
          </p:spPr>
          <p:txBody>
            <a:bodyPr wrap="square">
              <a:spAutoFit/>
            </a:bodyPr>
            <a:lstStyle/>
            <a:p>
              <a:pPr algn="r"/>
              <a:r>
                <a:rPr lang="en-US" sz="3200" b="1" dirty="0">
                  <a:latin typeface="LM Roman 12" panose="00000500000000000000" pitchFamily="50" charset="0"/>
                </a:rPr>
                <a:t>C</a:t>
              </a:r>
              <a:endParaRPr lang="en-US" b="1" dirty="0">
                <a:latin typeface="LM Roman 12" panose="00000500000000000000" pitchFamily="50" charset="0"/>
              </a:endParaRPr>
            </a:p>
          </p:txBody>
        </p:sp>
        <p:sp>
          <p:nvSpPr>
            <p:cNvPr id="87" name="TextBox 86">
              <a:extLst>
                <a:ext uri="{FF2B5EF4-FFF2-40B4-BE49-F238E27FC236}">
                  <a16:creationId xmlns:a16="http://schemas.microsoft.com/office/drawing/2014/main" id="{9472D4E7-3E32-CA9E-D340-ACC44FEF6BA5}"/>
                </a:ext>
              </a:extLst>
            </p:cNvPr>
            <p:cNvSpPr txBox="1"/>
            <p:nvPr/>
          </p:nvSpPr>
          <p:spPr>
            <a:xfrm>
              <a:off x="3451190" y="5241496"/>
              <a:ext cx="562743" cy="584775"/>
            </a:xfrm>
            <a:prstGeom prst="rect">
              <a:avLst/>
            </a:prstGeom>
            <a:noFill/>
          </p:spPr>
          <p:txBody>
            <a:bodyPr wrap="square">
              <a:spAutoFit/>
            </a:bodyPr>
            <a:lstStyle/>
            <a:p>
              <a:pPr algn="r"/>
              <a:r>
                <a:rPr lang="en-US" sz="3200" b="1" dirty="0">
                  <a:latin typeface="LM Roman 12" panose="00000500000000000000" pitchFamily="50" charset="0"/>
                </a:rPr>
                <a:t>D</a:t>
              </a:r>
              <a:endParaRPr lang="en-US" b="1" dirty="0">
                <a:latin typeface="LM Roman 12" panose="00000500000000000000" pitchFamily="50" charset="0"/>
              </a:endParaRPr>
            </a:p>
          </p:txBody>
        </p:sp>
      </p:grpSp>
      <p:sp>
        <p:nvSpPr>
          <p:cNvPr id="45" name="TextBox 44">
            <a:extLst>
              <a:ext uri="{FF2B5EF4-FFF2-40B4-BE49-F238E27FC236}">
                <a16:creationId xmlns:a16="http://schemas.microsoft.com/office/drawing/2014/main" id="{BC4391F9-CA39-3131-2E22-15F76282DD2F}"/>
              </a:ext>
            </a:extLst>
          </p:cNvPr>
          <p:cNvSpPr txBox="1"/>
          <p:nvPr/>
        </p:nvSpPr>
        <p:spPr>
          <a:xfrm>
            <a:off x="0" y="6547453"/>
            <a:ext cx="12237426" cy="307777"/>
          </a:xfrm>
          <a:prstGeom prst="rect">
            <a:avLst/>
          </a:prstGeom>
          <a:noFill/>
        </p:spPr>
        <p:txBody>
          <a:bodyPr wrap="square">
            <a:spAutoFit/>
          </a:bodyPr>
          <a:lstStyle/>
          <a:p>
            <a:pPr algn="r"/>
            <a:r>
              <a:rPr lang="cs-CZ" sz="1400" dirty="0"/>
              <a:t>Image from </a:t>
            </a:r>
            <a:r>
              <a:rPr lang="cs-CZ" sz="1400" dirty="0">
                <a:hlinkClick r:id="rId8"/>
              </a:rPr>
              <a:t>https://www.nature.com/articles/s41467-017-02528-7</a:t>
            </a:r>
            <a:r>
              <a:rPr lang="cs-CZ" sz="1400" dirty="0"/>
              <a:t> under CC by 4 international licence </a:t>
            </a:r>
            <a:r>
              <a:rPr lang="cs-CZ" sz="1400" dirty="0">
                <a:hlinkClick r:id="rId9"/>
              </a:rPr>
              <a:t>https://creativecommons.org/licenses/by/4.0/</a:t>
            </a:r>
            <a:r>
              <a:rPr lang="cs-CZ" sz="1400" dirty="0"/>
              <a:t> </a:t>
            </a:r>
            <a:endParaRPr lang="en-US" sz="1400" dirty="0"/>
          </a:p>
        </p:txBody>
      </p:sp>
      <p:sp>
        <p:nvSpPr>
          <p:cNvPr id="50" name="Title 49">
            <a:extLst>
              <a:ext uri="{FF2B5EF4-FFF2-40B4-BE49-F238E27FC236}">
                <a16:creationId xmlns:a16="http://schemas.microsoft.com/office/drawing/2014/main" id="{72EFBBB2-92FA-8608-8C0D-9FF74966BF1F}"/>
              </a:ext>
            </a:extLst>
          </p:cNvPr>
          <p:cNvSpPr>
            <a:spLocks noGrp="1"/>
          </p:cNvSpPr>
          <p:nvPr>
            <p:ph type="title"/>
          </p:nvPr>
        </p:nvSpPr>
        <p:spPr>
          <a:xfrm>
            <a:off x="269789" y="18158"/>
            <a:ext cx="10515600" cy="1325563"/>
          </a:xfrm>
        </p:spPr>
        <p:txBody>
          <a:bodyPr/>
          <a:lstStyle/>
          <a:p>
            <a:r>
              <a:rPr lang="en-US" dirty="0"/>
              <a:t>The mechanistic Model</a:t>
            </a:r>
          </a:p>
        </p:txBody>
      </p:sp>
      <p:sp>
        <p:nvSpPr>
          <p:cNvPr id="2" name="Rectangle 1">
            <a:extLst>
              <a:ext uri="{FF2B5EF4-FFF2-40B4-BE49-F238E27FC236}">
                <a16:creationId xmlns:a16="http://schemas.microsoft.com/office/drawing/2014/main" id="{60E151C4-EE20-844A-50FE-0B47E2BBEC8A}"/>
              </a:ext>
            </a:extLst>
          </p:cNvPr>
          <p:cNvSpPr/>
          <p:nvPr/>
        </p:nvSpPr>
        <p:spPr>
          <a:xfrm>
            <a:off x="5823781" y="3659215"/>
            <a:ext cx="2892218" cy="2888238"/>
          </a:xfrm>
          <a:prstGeom prst="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3" name="Rectangle 42">
            <a:extLst>
              <a:ext uri="{FF2B5EF4-FFF2-40B4-BE49-F238E27FC236}">
                <a16:creationId xmlns:a16="http://schemas.microsoft.com/office/drawing/2014/main" id="{EA42DC3F-9DCF-2B35-51B8-279AB019AD5C}"/>
              </a:ext>
            </a:extLst>
          </p:cNvPr>
          <p:cNvSpPr/>
          <p:nvPr/>
        </p:nvSpPr>
        <p:spPr>
          <a:xfrm>
            <a:off x="8777161" y="3663261"/>
            <a:ext cx="3365930" cy="288823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74" name="TextBox 73">
            <a:extLst>
              <a:ext uri="{FF2B5EF4-FFF2-40B4-BE49-F238E27FC236}">
                <a16:creationId xmlns:a16="http://schemas.microsoft.com/office/drawing/2014/main" id="{E732C530-8EFB-A144-0133-BA29125BE134}"/>
              </a:ext>
            </a:extLst>
          </p:cNvPr>
          <p:cNvSpPr txBox="1"/>
          <p:nvPr/>
        </p:nvSpPr>
        <p:spPr>
          <a:xfrm>
            <a:off x="3650882" y="2134286"/>
            <a:ext cx="2442968" cy="923330"/>
          </a:xfrm>
          <a:prstGeom prst="rect">
            <a:avLst/>
          </a:prstGeom>
          <a:noFill/>
        </p:spPr>
        <p:txBody>
          <a:bodyPr wrap="square" rtlCol="0">
            <a:spAutoFit/>
          </a:bodyPr>
          <a:lstStyle/>
          <a:p>
            <a:r>
              <a:rPr lang="en-US" dirty="0"/>
              <a:t>Slack associated </a:t>
            </a:r>
            <a:br>
              <a:rPr lang="en-US" dirty="0"/>
            </a:br>
            <a:r>
              <a:rPr lang="en-US" dirty="0"/>
              <a:t>with </a:t>
            </a:r>
            <a:r>
              <a:rPr lang="en-US" i="1" dirty="0"/>
              <a:t>1 </a:t>
            </a:r>
            <a:r>
              <a:rPr lang="en-US" dirty="0"/>
              <a:t>unfolded domain</a:t>
            </a:r>
            <a:endParaRPr lang="en-US" i="1" dirty="0"/>
          </a:p>
        </p:txBody>
      </p:sp>
      <p:sp>
        <p:nvSpPr>
          <p:cNvPr id="83" name="TextBox 82">
            <a:extLst>
              <a:ext uri="{FF2B5EF4-FFF2-40B4-BE49-F238E27FC236}">
                <a16:creationId xmlns:a16="http://schemas.microsoft.com/office/drawing/2014/main" id="{CAC390A0-C201-0FAC-0EBA-582F8AAEDF71}"/>
              </a:ext>
            </a:extLst>
          </p:cNvPr>
          <p:cNvSpPr txBox="1"/>
          <p:nvPr/>
        </p:nvSpPr>
        <p:spPr>
          <a:xfrm>
            <a:off x="2611150" y="2503480"/>
            <a:ext cx="2349167" cy="369332"/>
          </a:xfrm>
          <a:prstGeom prst="rect">
            <a:avLst/>
          </a:prstGeom>
          <a:noFill/>
        </p:spPr>
        <p:txBody>
          <a:bodyPr wrap="square" rtlCol="0">
            <a:spAutoFit/>
          </a:bodyPr>
          <a:lstStyle/>
          <a:p>
            <a:r>
              <a:rPr lang="en-US" dirty="0"/>
              <a:t>strain</a:t>
            </a:r>
            <a:endParaRPr lang="en-US" i="1" dirty="0"/>
          </a:p>
        </p:txBody>
      </p:sp>
      <p:sp>
        <p:nvSpPr>
          <p:cNvPr id="98" name="TextBox 97">
            <a:extLst>
              <a:ext uri="{FF2B5EF4-FFF2-40B4-BE49-F238E27FC236}">
                <a16:creationId xmlns:a16="http://schemas.microsoft.com/office/drawing/2014/main" id="{73FB9D74-68C6-2947-A8C5-C07E83A4EB02}"/>
              </a:ext>
            </a:extLst>
          </p:cNvPr>
          <p:cNvSpPr txBox="1"/>
          <p:nvPr/>
        </p:nvSpPr>
        <p:spPr>
          <a:xfrm>
            <a:off x="10850" y="1227009"/>
            <a:ext cx="5780345" cy="830997"/>
          </a:xfrm>
          <a:prstGeom prst="rect">
            <a:avLst/>
          </a:prstGeom>
          <a:noFill/>
        </p:spPr>
        <p:txBody>
          <a:bodyPr wrap="square">
            <a:spAutoFit/>
          </a:bodyPr>
          <a:lstStyle/>
          <a:p>
            <a:pPr marL="342900" indent="-342900">
              <a:buFont typeface="Arial" panose="020B0604020202020204" pitchFamily="34" charset="0"/>
              <a:buChar char="•"/>
            </a:pPr>
            <a:r>
              <a:rPr lang="en-US" sz="2400" dirty="0"/>
              <a:t>Serial immunoglobulin-like (Ig) domains in the titin chain can unfold reversibly</a:t>
            </a:r>
          </a:p>
        </p:txBody>
      </p:sp>
      <p:sp>
        <p:nvSpPr>
          <p:cNvPr id="99" name="Rectangle 98">
            <a:extLst>
              <a:ext uri="{FF2B5EF4-FFF2-40B4-BE49-F238E27FC236}">
                <a16:creationId xmlns:a16="http://schemas.microsoft.com/office/drawing/2014/main" id="{A9153488-097A-3D3C-BF0C-BC672A856A57}"/>
              </a:ext>
            </a:extLst>
          </p:cNvPr>
          <p:cNvSpPr/>
          <p:nvPr/>
        </p:nvSpPr>
        <p:spPr>
          <a:xfrm>
            <a:off x="10104687" y="2314987"/>
            <a:ext cx="1522155" cy="394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217801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252DB-539E-D327-1BD0-B6C80065CDF6}"/>
              </a:ext>
            </a:extLst>
          </p:cNvPr>
          <p:cNvSpPr>
            <a:spLocks noGrp="1"/>
          </p:cNvSpPr>
          <p:nvPr>
            <p:ph type="title"/>
          </p:nvPr>
        </p:nvSpPr>
        <p:spPr>
          <a:xfrm>
            <a:off x="428368" y="365125"/>
            <a:ext cx="10925431" cy="1325563"/>
          </a:xfrm>
        </p:spPr>
        <p:txBody>
          <a:bodyPr/>
          <a:lstStyle/>
          <a:p>
            <a:r>
              <a:rPr lang="en-US" dirty="0"/>
              <a:t>Fit to data captures observed power-law decay</a:t>
            </a:r>
          </a:p>
        </p:txBody>
      </p:sp>
      <p:pic>
        <p:nvPicPr>
          <p:cNvPr id="21" name="Content Placeholder 20" descr="A graph of a function&#10;&#10;Description automatically generated with medium confidence">
            <a:extLst>
              <a:ext uri="{FF2B5EF4-FFF2-40B4-BE49-F238E27FC236}">
                <a16:creationId xmlns:a16="http://schemas.microsoft.com/office/drawing/2014/main" id="{E54DDE2F-4129-9C22-E5C7-E15D498BB72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172200" y="1845661"/>
            <a:ext cx="5552038" cy="4034521"/>
          </a:xfrm>
        </p:spPr>
      </p:pic>
      <p:pic>
        <p:nvPicPr>
          <p:cNvPr id="27" name="Content Placeholder 26" descr="A graph of a function&#10;&#10;Description automatically generated with medium confidence">
            <a:extLst>
              <a:ext uri="{FF2B5EF4-FFF2-40B4-BE49-F238E27FC236}">
                <a16:creationId xmlns:a16="http://schemas.microsoft.com/office/drawing/2014/main" id="{4062B66C-1150-5A16-F595-0C138936B0D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231619" y="1918089"/>
            <a:ext cx="5552038" cy="3746410"/>
          </a:xfrm>
        </p:spPr>
      </p:pic>
      <p:sp>
        <p:nvSpPr>
          <p:cNvPr id="3" name="Rectangle 1">
            <a:extLst>
              <a:ext uri="{FF2B5EF4-FFF2-40B4-BE49-F238E27FC236}">
                <a16:creationId xmlns:a16="http://schemas.microsoft.com/office/drawing/2014/main" id="{DE24538C-F479-D381-200D-53B8B9F0CCF3}"/>
              </a:ext>
            </a:extLst>
          </p:cNvPr>
          <p:cNvSpPr>
            <a:spLocks noChangeArrowheads="1"/>
          </p:cNvSpPr>
          <p:nvPr/>
        </p:nvSpPr>
        <p:spPr bwMode="auto">
          <a:xfrm>
            <a:off x="428368" y="6212074"/>
            <a:ext cx="39047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With 10 adjustable parameters</a:t>
            </a:r>
          </a:p>
        </p:txBody>
      </p:sp>
    </p:spTree>
    <p:extLst>
      <p:ext uri="{BB962C8B-B14F-4D97-AF65-F5344CB8AC3E}">
        <p14:creationId xmlns:p14="http://schemas.microsoft.com/office/powerpoint/2010/main" val="380020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276CB-EB2D-9BA3-4F64-ADF0CA9774FA}"/>
              </a:ext>
            </a:extLst>
          </p:cNvPr>
          <p:cNvSpPr>
            <a:spLocks noGrp="1"/>
          </p:cNvSpPr>
          <p:nvPr>
            <p:ph type="title"/>
          </p:nvPr>
        </p:nvSpPr>
        <p:spPr>
          <a:xfrm>
            <a:off x="285938" y="160477"/>
            <a:ext cx="10515600" cy="962154"/>
          </a:xfrm>
        </p:spPr>
        <p:txBody>
          <a:bodyPr/>
          <a:lstStyle/>
          <a:p>
            <a:r>
              <a:rPr lang="en-US" dirty="0"/>
              <a:t>Simulation of stretch and relaxation</a:t>
            </a:r>
          </a:p>
        </p:txBody>
      </p:sp>
      <p:pic>
        <p:nvPicPr>
          <p:cNvPr id="8" name="Content Placeholder 7">
            <a:extLst>
              <a:ext uri="{FF2B5EF4-FFF2-40B4-BE49-F238E27FC236}">
                <a16:creationId xmlns:a16="http://schemas.microsoft.com/office/drawing/2014/main" id="{36DECE5F-ABC0-FF93-8C76-58C8FF2D5054}"/>
              </a:ext>
            </a:extLst>
          </p:cNvPr>
          <p:cNvPicPr>
            <a:picLocks noGrp="1" noChangeAspect="1"/>
          </p:cNvPicPr>
          <p:nvPr>
            <p:ph sz="half" idx="2"/>
          </p:nvPr>
        </p:nvPicPr>
        <p:blipFill rotWithShape="1">
          <a:blip r:embed="rId2"/>
          <a:srcRect t="4717"/>
          <a:stretch/>
        </p:blipFill>
        <p:spPr>
          <a:xfrm>
            <a:off x="1113576" y="1475715"/>
            <a:ext cx="9590503" cy="4834549"/>
          </a:xfrm>
        </p:spPr>
      </p:pic>
    </p:spTree>
    <p:extLst>
      <p:ext uri="{BB962C8B-B14F-4D97-AF65-F5344CB8AC3E}">
        <p14:creationId xmlns:p14="http://schemas.microsoft.com/office/powerpoint/2010/main" val="3014144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80A87C-7360-6DF9-2B07-1901EDA5D914}"/>
              </a:ext>
            </a:extLst>
          </p:cNvPr>
          <p:cNvSpPr>
            <a:spLocks noGrp="1"/>
          </p:cNvSpPr>
          <p:nvPr>
            <p:ph type="title"/>
          </p:nvPr>
        </p:nvSpPr>
        <p:spPr/>
        <p:txBody>
          <a:bodyPr/>
          <a:lstStyle/>
          <a:p>
            <a:r>
              <a:rPr lang="en-US" dirty="0"/>
              <a:t>What if we add calcium?</a:t>
            </a:r>
          </a:p>
        </p:txBody>
      </p:sp>
      <p:sp>
        <p:nvSpPr>
          <p:cNvPr id="6" name="Text Placeholder 5">
            <a:extLst>
              <a:ext uri="{FF2B5EF4-FFF2-40B4-BE49-F238E27FC236}">
                <a16:creationId xmlns:a16="http://schemas.microsoft.com/office/drawing/2014/main" id="{A728DF22-3926-E2C6-BE2E-87C8F18DB91A}"/>
              </a:ext>
            </a:extLst>
          </p:cNvPr>
          <p:cNvSpPr>
            <a:spLocks noGrp="1"/>
          </p:cNvSpPr>
          <p:nvPr>
            <p:ph type="body" idx="1"/>
          </p:nvPr>
        </p:nvSpPr>
        <p:spPr/>
        <p:txBody>
          <a:bodyPr/>
          <a:lstStyle/>
          <a:p>
            <a:r>
              <a:rPr lang="en-US" dirty="0"/>
              <a:t>How does titin act during systole?</a:t>
            </a:r>
          </a:p>
          <a:p>
            <a:endParaRPr lang="en-US" dirty="0"/>
          </a:p>
          <a:p>
            <a:r>
              <a:rPr lang="en-US" dirty="0"/>
              <a:t>Simulate diastolic dysfunctions</a:t>
            </a:r>
          </a:p>
        </p:txBody>
      </p:sp>
    </p:spTree>
    <p:extLst>
      <p:ext uri="{BB962C8B-B14F-4D97-AF65-F5344CB8AC3E}">
        <p14:creationId xmlns:p14="http://schemas.microsoft.com/office/powerpoint/2010/main" val="344636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xplosion Boom Vector Vector Stock Vector - Illustration of symbol, bomb:  107147344">
            <a:extLst>
              <a:ext uri="{FF2B5EF4-FFF2-40B4-BE49-F238E27FC236}">
                <a16:creationId xmlns:a16="http://schemas.microsoft.com/office/drawing/2014/main" id="{F1B48A3B-6D36-FB03-30B0-B7D80FCAD3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1270" y="641105"/>
            <a:ext cx="5085984" cy="479976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165F4A1-5D44-0A50-9E81-6CF6D0C83AFD}"/>
              </a:ext>
            </a:extLst>
          </p:cNvPr>
          <p:cNvSpPr/>
          <p:nvPr/>
        </p:nvSpPr>
        <p:spPr>
          <a:xfrm rot="21116347">
            <a:off x="2205820" y="2705724"/>
            <a:ext cx="7456653" cy="1446550"/>
          </a:xfrm>
          <a:prstGeom prst="rect">
            <a:avLst/>
          </a:prstGeom>
          <a:noFill/>
          <a:scene3d>
            <a:camera prst="orthographicFront">
              <a:rot lat="0" lon="21599966" rev="0"/>
            </a:camera>
            <a:lightRig rig="threePt" dir="t"/>
          </a:scene3d>
        </p:spPr>
        <p:txBody>
          <a:bodyPr wrap="square" lIns="91440" tIns="45720" rIns="91440" bIns="45720">
            <a:prstTxWarp prst="textArchUp">
              <a:avLst/>
            </a:prstTxWarp>
            <a:spAutoFit/>
          </a:bodyPr>
          <a:lstStyle/>
          <a:p>
            <a:pPr algn="ctr"/>
            <a:r>
              <a:rPr lang="en-US" sz="8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Contraction!</a:t>
            </a:r>
          </a:p>
        </p:txBody>
      </p:sp>
    </p:spTree>
    <p:extLst>
      <p:ext uri="{BB962C8B-B14F-4D97-AF65-F5344CB8AC3E}">
        <p14:creationId xmlns:p14="http://schemas.microsoft.com/office/powerpoint/2010/main" val="3144033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5520F-71EC-BCD0-A295-0F0738322C9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9C6184-EC34-7871-0216-B7378C6E6C77}"/>
              </a:ext>
            </a:extLst>
          </p:cNvPr>
          <p:cNvSpPr>
            <a:spLocks noGrp="1"/>
          </p:cNvSpPr>
          <p:nvPr>
            <p:ph type="title"/>
          </p:nvPr>
        </p:nvSpPr>
        <p:spPr>
          <a:xfrm>
            <a:off x="831850" y="1709738"/>
            <a:ext cx="10932258" cy="2852737"/>
          </a:xfrm>
        </p:spPr>
        <p:txBody>
          <a:bodyPr/>
          <a:lstStyle/>
          <a:p>
            <a:r>
              <a:rPr lang="en-US" dirty="0"/>
              <a:t>What if we add calcium</a:t>
            </a:r>
            <a:br>
              <a:rPr lang="en-US" dirty="0"/>
            </a:br>
            <a:r>
              <a:rPr lang="en-US" dirty="0"/>
              <a:t>and </a:t>
            </a:r>
            <a:r>
              <a:rPr lang="en-US" b="1" dirty="0"/>
              <a:t>suppress myosin activation</a:t>
            </a:r>
            <a:r>
              <a:rPr lang="en-US" dirty="0"/>
              <a:t>?</a:t>
            </a:r>
          </a:p>
        </p:txBody>
      </p:sp>
      <p:sp>
        <p:nvSpPr>
          <p:cNvPr id="6" name="Text Placeholder 5">
            <a:extLst>
              <a:ext uri="{FF2B5EF4-FFF2-40B4-BE49-F238E27FC236}">
                <a16:creationId xmlns:a16="http://schemas.microsoft.com/office/drawing/2014/main" id="{4C7EE686-CC90-F680-94DD-F842B8C1DA6C}"/>
              </a:ext>
            </a:extLst>
          </p:cNvPr>
          <p:cNvSpPr>
            <a:spLocks noGrp="1"/>
          </p:cNvSpPr>
          <p:nvPr>
            <p:ph type="body" idx="1"/>
          </p:nvPr>
        </p:nvSpPr>
        <p:spPr/>
        <p:txBody>
          <a:bodyPr/>
          <a:lstStyle/>
          <a:p>
            <a:r>
              <a:rPr lang="en-US" dirty="0"/>
              <a:t>Para-nitro-</a:t>
            </a:r>
            <a:r>
              <a:rPr lang="en-US" dirty="0" err="1"/>
              <a:t>blebbistatin</a:t>
            </a:r>
            <a:r>
              <a:rPr lang="en-US" dirty="0"/>
              <a:t> + </a:t>
            </a:r>
            <a:r>
              <a:rPr lang="en-US" dirty="0" err="1"/>
              <a:t>mavacamten</a:t>
            </a:r>
            <a:r>
              <a:rPr lang="en-US" dirty="0"/>
              <a:t> (</a:t>
            </a:r>
            <a:r>
              <a:rPr lang="el-GR" dirty="0"/>
              <a:t>50 μ</a:t>
            </a:r>
            <a:r>
              <a:rPr lang="en-US" dirty="0"/>
              <a:t>M PNB + </a:t>
            </a:r>
            <a:r>
              <a:rPr lang="el-GR" dirty="0"/>
              <a:t>50 μ</a:t>
            </a:r>
            <a:r>
              <a:rPr lang="en-US" dirty="0"/>
              <a:t>M Mava)</a:t>
            </a:r>
          </a:p>
        </p:txBody>
      </p:sp>
    </p:spTree>
    <p:extLst>
      <p:ext uri="{BB962C8B-B14F-4D97-AF65-F5344CB8AC3E}">
        <p14:creationId xmlns:p14="http://schemas.microsoft.com/office/powerpoint/2010/main" val="4214304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3EF6D-3DB4-695C-A9B4-CDA6EEEDF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7FAFC-2AA0-F89A-8FE9-EA65EEE36691}"/>
              </a:ext>
            </a:extLst>
          </p:cNvPr>
          <p:cNvSpPr>
            <a:spLocks noGrp="1"/>
          </p:cNvSpPr>
          <p:nvPr>
            <p:ph type="title"/>
          </p:nvPr>
        </p:nvSpPr>
        <p:spPr/>
        <p:txBody>
          <a:bodyPr/>
          <a:lstStyle/>
          <a:p>
            <a:r>
              <a:rPr lang="cs-CZ" dirty="0"/>
              <a:t>Calcium increases the viscoelastic stiffness</a:t>
            </a:r>
            <a:endParaRPr lang="en-US" dirty="0"/>
          </a:p>
        </p:txBody>
      </p:sp>
      <p:sp>
        <p:nvSpPr>
          <p:cNvPr id="9" name="Content Placeholder 8">
            <a:extLst>
              <a:ext uri="{FF2B5EF4-FFF2-40B4-BE49-F238E27FC236}">
                <a16:creationId xmlns:a16="http://schemas.microsoft.com/office/drawing/2014/main" id="{0F6ECA88-50F3-68A8-418D-38139D18712A}"/>
              </a:ext>
            </a:extLst>
          </p:cNvPr>
          <p:cNvSpPr>
            <a:spLocks noGrp="1"/>
          </p:cNvSpPr>
          <p:nvPr>
            <p:ph idx="1"/>
          </p:nvPr>
        </p:nvSpPr>
        <p:spPr>
          <a:xfrm>
            <a:off x="838200" y="1825625"/>
            <a:ext cx="4161333" cy="4351338"/>
          </a:xfrm>
        </p:spPr>
        <p:txBody>
          <a:bodyPr>
            <a:normAutofit/>
          </a:bodyPr>
          <a:lstStyle/>
          <a:p>
            <a:r>
              <a:rPr lang="en-US" b="1" dirty="0">
                <a:solidFill>
                  <a:schemeClr val="tx2">
                    <a:lumMod val="75000"/>
                    <a:lumOff val="25000"/>
                  </a:schemeClr>
                </a:solidFill>
              </a:rPr>
              <a:t>Increases the viscoelastic peak</a:t>
            </a:r>
          </a:p>
          <a:p>
            <a:r>
              <a:rPr lang="en-US" b="1" dirty="0">
                <a:solidFill>
                  <a:srgbClr val="C00000"/>
                </a:solidFill>
              </a:rPr>
              <a:t>Up to 6-fold increase in viscoelastic force!</a:t>
            </a:r>
          </a:p>
          <a:p>
            <a:r>
              <a:rPr lang="en-US" b="1" dirty="0">
                <a:solidFill>
                  <a:srgbClr val="FFC000"/>
                </a:solidFill>
              </a:rPr>
              <a:t>Over a range of </a:t>
            </a:r>
            <a:r>
              <a:rPr lang="en-US" b="1" dirty="0" err="1">
                <a:solidFill>
                  <a:srgbClr val="FFC000"/>
                </a:solidFill>
              </a:rPr>
              <a:t>pCa</a:t>
            </a:r>
            <a:br>
              <a:rPr lang="en-US" b="1" dirty="0">
                <a:solidFill>
                  <a:srgbClr val="FFC000"/>
                </a:solidFill>
              </a:rPr>
            </a:br>
            <a:r>
              <a:rPr lang="en-US" sz="2000" i="1" dirty="0"/>
              <a:t>( </a:t>
            </a:r>
            <a:r>
              <a:rPr lang="en-US" sz="2000" i="1" dirty="0" err="1"/>
              <a:t>pCa</a:t>
            </a:r>
            <a:r>
              <a:rPr lang="en-US" sz="2000" i="1" dirty="0"/>
              <a:t> = -log(Ca</a:t>
            </a:r>
            <a:r>
              <a:rPr lang="en-US" sz="2000" i="1" baseline="30000" dirty="0"/>
              <a:t>2+)</a:t>
            </a:r>
            <a:r>
              <a:rPr lang="en-US" sz="2000" i="1" dirty="0"/>
              <a:t>) )</a:t>
            </a:r>
          </a:p>
          <a:p>
            <a:pPr marL="0" indent="0">
              <a:buNone/>
            </a:pPr>
            <a:endParaRPr lang="en-US" dirty="0"/>
          </a:p>
          <a:p>
            <a:pPr marL="0" indent="0">
              <a:buNone/>
            </a:pPr>
            <a:endParaRPr lang="en-US" dirty="0"/>
          </a:p>
          <a:p>
            <a:r>
              <a:rPr lang="en-US" b="1" dirty="0"/>
              <a:t>Is it real though?</a:t>
            </a:r>
          </a:p>
        </p:txBody>
      </p:sp>
      <p:grpSp>
        <p:nvGrpSpPr>
          <p:cNvPr id="46" name="Group 45">
            <a:extLst>
              <a:ext uri="{FF2B5EF4-FFF2-40B4-BE49-F238E27FC236}">
                <a16:creationId xmlns:a16="http://schemas.microsoft.com/office/drawing/2014/main" id="{D8C9ECB3-5113-8F7E-3B15-79A9D7D60CBF}"/>
              </a:ext>
            </a:extLst>
          </p:cNvPr>
          <p:cNvGrpSpPr/>
          <p:nvPr/>
        </p:nvGrpSpPr>
        <p:grpSpPr>
          <a:xfrm>
            <a:off x="9097079" y="1512253"/>
            <a:ext cx="3055082" cy="5270429"/>
            <a:chOff x="9097079" y="1619347"/>
            <a:chExt cx="3055082" cy="5270429"/>
          </a:xfrm>
        </p:grpSpPr>
        <p:grpSp>
          <p:nvGrpSpPr>
            <p:cNvPr id="25" name="Group 24">
              <a:extLst>
                <a:ext uri="{FF2B5EF4-FFF2-40B4-BE49-F238E27FC236}">
                  <a16:creationId xmlns:a16="http://schemas.microsoft.com/office/drawing/2014/main" id="{29AEC795-31D5-FB34-F2EB-80DDBA452FD9}"/>
                </a:ext>
              </a:extLst>
            </p:cNvPr>
            <p:cNvGrpSpPr/>
            <p:nvPr/>
          </p:nvGrpSpPr>
          <p:grpSpPr>
            <a:xfrm>
              <a:off x="9168919" y="1619347"/>
              <a:ext cx="2254544" cy="1046449"/>
              <a:chOff x="3780495" y="1407160"/>
              <a:chExt cx="3365500" cy="1562100"/>
            </a:xfrm>
          </p:grpSpPr>
          <p:pic>
            <p:nvPicPr>
              <p:cNvPr id="16" name="Picture 15">
                <a:extLst>
                  <a:ext uri="{FF2B5EF4-FFF2-40B4-BE49-F238E27FC236}">
                    <a16:creationId xmlns:a16="http://schemas.microsoft.com/office/drawing/2014/main" id="{9013C833-E101-A284-A8AA-0B4B3EA4C2F3}"/>
                  </a:ext>
                </a:extLst>
              </p:cNvPr>
              <p:cNvPicPr>
                <a:picLocks noChangeAspect="1"/>
              </p:cNvPicPr>
              <p:nvPr/>
            </p:nvPicPr>
            <p:blipFill>
              <a:blip r:embed="rId3"/>
              <a:stretch>
                <a:fillRect/>
              </a:stretch>
            </p:blipFill>
            <p:spPr>
              <a:xfrm>
                <a:off x="3780495" y="1407160"/>
                <a:ext cx="3365500" cy="1562100"/>
              </a:xfrm>
              <a:prstGeom prst="rect">
                <a:avLst/>
              </a:prstGeom>
            </p:spPr>
          </p:pic>
          <p:sp>
            <p:nvSpPr>
              <p:cNvPr id="17" name="TextBox 12">
                <a:extLst>
                  <a:ext uri="{FF2B5EF4-FFF2-40B4-BE49-F238E27FC236}">
                    <a16:creationId xmlns:a16="http://schemas.microsoft.com/office/drawing/2014/main" id="{CE7C0A96-0DFE-A33C-BC1A-F0653C2CF08F}"/>
                  </a:ext>
                </a:extLst>
              </p:cNvPr>
              <p:cNvSpPr txBox="1"/>
              <p:nvPr/>
            </p:nvSpPr>
            <p:spPr>
              <a:xfrm>
                <a:off x="6226045" y="1826261"/>
                <a:ext cx="912175" cy="367550"/>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dirty="0"/>
                  <a:t>Muscle</a:t>
                </a:r>
              </a:p>
            </p:txBody>
          </p:sp>
        </p:grpSp>
        <p:grpSp>
          <p:nvGrpSpPr>
            <p:cNvPr id="26" name="Group 25">
              <a:extLst>
                <a:ext uri="{FF2B5EF4-FFF2-40B4-BE49-F238E27FC236}">
                  <a16:creationId xmlns:a16="http://schemas.microsoft.com/office/drawing/2014/main" id="{F0B0B254-48EE-ECC3-595C-AFD136BC46CD}"/>
                </a:ext>
              </a:extLst>
            </p:cNvPr>
            <p:cNvGrpSpPr/>
            <p:nvPr/>
          </p:nvGrpSpPr>
          <p:grpSpPr>
            <a:xfrm>
              <a:off x="9203828" y="2574710"/>
              <a:ext cx="2381684" cy="1651412"/>
              <a:chOff x="3831295" y="4569460"/>
              <a:chExt cx="3644900" cy="2527300"/>
            </a:xfrm>
          </p:grpSpPr>
          <p:pic>
            <p:nvPicPr>
              <p:cNvPr id="11" name="Picture 10">
                <a:extLst>
                  <a:ext uri="{FF2B5EF4-FFF2-40B4-BE49-F238E27FC236}">
                    <a16:creationId xmlns:a16="http://schemas.microsoft.com/office/drawing/2014/main" id="{796B7390-55E0-F6DD-B462-EC56FD73F59D}"/>
                  </a:ext>
                </a:extLst>
              </p:cNvPr>
              <p:cNvPicPr>
                <a:picLocks noChangeAspect="1"/>
              </p:cNvPicPr>
              <p:nvPr/>
            </p:nvPicPr>
            <p:blipFill>
              <a:blip r:embed="rId4"/>
              <a:stretch>
                <a:fillRect/>
              </a:stretch>
            </p:blipFill>
            <p:spPr>
              <a:xfrm>
                <a:off x="3831295" y="4569460"/>
                <a:ext cx="3644900" cy="2527300"/>
              </a:xfrm>
              <a:prstGeom prst="rect">
                <a:avLst/>
              </a:prstGeom>
            </p:spPr>
          </p:pic>
          <p:cxnSp>
            <p:nvCxnSpPr>
              <p:cNvPr id="12" name="Straight Connector 11">
                <a:extLst>
                  <a:ext uri="{FF2B5EF4-FFF2-40B4-BE49-F238E27FC236}">
                    <a16:creationId xmlns:a16="http://schemas.microsoft.com/office/drawing/2014/main" id="{AD7FB60E-B353-A89F-780C-C50E423A9938}"/>
                  </a:ext>
                </a:extLst>
              </p:cNvPr>
              <p:cNvCxnSpPr>
                <a:cxnSpLocks/>
              </p:cNvCxnSpPr>
              <p:nvPr/>
            </p:nvCxnSpPr>
            <p:spPr>
              <a:xfrm>
                <a:off x="5152095" y="5026660"/>
                <a:ext cx="1943100" cy="0"/>
              </a:xfrm>
              <a:prstGeom prst="line">
                <a:avLst/>
              </a:prstGeom>
              <a:ln w="254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4238A23-71EA-1995-B8E0-481C32C7CE0A}"/>
                  </a:ext>
                </a:extLst>
              </p:cNvPr>
              <p:cNvCxnSpPr/>
              <p:nvPr/>
            </p:nvCxnSpPr>
            <p:spPr>
              <a:xfrm>
                <a:off x="7057095" y="5064760"/>
                <a:ext cx="0" cy="3810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TextBox 14">
                <a:extLst>
                  <a:ext uri="{FF2B5EF4-FFF2-40B4-BE49-F238E27FC236}">
                    <a16:creationId xmlns:a16="http://schemas.microsoft.com/office/drawing/2014/main" id="{0F1A0D4F-1A58-BF58-1459-E755A57BEB30}"/>
                  </a:ext>
                </a:extLst>
              </p:cNvPr>
              <p:cNvSpPr txBox="1"/>
              <p:nvPr/>
            </p:nvSpPr>
            <p:spPr>
              <a:xfrm>
                <a:off x="5759890" y="5064761"/>
                <a:ext cx="1379199" cy="376813"/>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dirty="0"/>
                  <a:t>Viscoelastic</a:t>
                </a:r>
              </a:p>
            </p:txBody>
          </p:sp>
          <p:sp>
            <p:nvSpPr>
              <p:cNvPr id="23" name="TextBox 10">
                <a:extLst>
                  <a:ext uri="{FF2B5EF4-FFF2-40B4-BE49-F238E27FC236}">
                    <a16:creationId xmlns:a16="http://schemas.microsoft.com/office/drawing/2014/main" id="{C0BABD88-0E88-AED5-4175-A7CC65C387B4}"/>
                  </a:ext>
                </a:extLst>
              </p:cNvPr>
              <p:cNvSpPr txBox="1"/>
              <p:nvPr/>
            </p:nvSpPr>
            <p:spPr>
              <a:xfrm>
                <a:off x="6214840" y="5909684"/>
                <a:ext cx="891009" cy="376813"/>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dirty="0"/>
                  <a:t>Elastic</a:t>
                </a:r>
              </a:p>
            </p:txBody>
          </p:sp>
          <p:cxnSp>
            <p:nvCxnSpPr>
              <p:cNvPr id="24" name="Straight Arrow Connector 23">
                <a:extLst>
                  <a:ext uri="{FF2B5EF4-FFF2-40B4-BE49-F238E27FC236}">
                    <a16:creationId xmlns:a16="http://schemas.microsoft.com/office/drawing/2014/main" id="{9471BC54-B587-7099-137E-865C8D555243}"/>
                  </a:ext>
                </a:extLst>
              </p:cNvPr>
              <p:cNvCxnSpPr>
                <a:cxnSpLocks/>
              </p:cNvCxnSpPr>
              <p:nvPr/>
            </p:nvCxnSpPr>
            <p:spPr>
              <a:xfrm>
                <a:off x="7054849" y="5699014"/>
                <a:ext cx="0" cy="786653"/>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FFB3623E-19C5-DEEE-7190-E6302735D92B}"/>
                </a:ext>
              </a:extLst>
            </p:cNvPr>
            <p:cNvGrpSpPr/>
            <p:nvPr/>
          </p:nvGrpSpPr>
          <p:grpSpPr>
            <a:xfrm>
              <a:off x="9097079" y="4347304"/>
              <a:ext cx="3055082" cy="2542472"/>
              <a:chOff x="7314009" y="4309587"/>
              <a:chExt cx="3055082" cy="2542472"/>
            </a:xfrm>
          </p:grpSpPr>
          <p:sp>
            <p:nvSpPr>
              <p:cNvPr id="28" name="TextBox 8">
                <a:extLst>
                  <a:ext uri="{FF2B5EF4-FFF2-40B4-BE49-F238E27FC236}">
                    <a16:creationId xmlns:a16="http://schemas.microsoft.com/office/drawing/2014/main" id="{2A9560E2-058E-8AE3-5FEC-A7D3E35E9D2A}"/>
                  </a:ext>
                </a:extLst>
              </p:cNvPr>
              <p:cNvSpPr txBox="1"/>
              <p:nvPr/>
            </p:nvSpPr>
            <p:spPr>
              <a:xfrm>
                <a:off x="7930691" y="4309587"/>
                <a:ext cx="1215397" cy="523220"/>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solidFill>
                      <a:srgbClr val="FF0000"/>
                    </a:solidFill>
                    <a:latin typeface="Arial" panose="020B0604020202020204" pitchFamily="34" charset="0"/>
                    <a:cs typeface="Arial" panose="020B0604020202020204" pitchFamily="34" charset="0"/>
                  </a:rPr>
                  <a:t>Ca</a:t>
                </a:r>
                <a:r>
                  <a:rPr lang="en-US" sz="1400" b="1" baseline="30000" dirty="0">
                    <a:solidFill>
                      <a:srgbClr val="FF0000"/>
                    </a:solidFill>
                    <a:latin typeface="Arial" panose="020B0604020202020204" pitchFamily="34" charset="0"/>
                    <a:cs typeface="Arial" panose="020B0604020202020204" pitchFamily="34" charset="0"/>
                  </a:rPr>
                  <a:t>2+</a:t>
                </a:r>
                <a:r>
                  <a:rPr lang="en-US" sz="1400" b="1" dirty="0">
                    <a:solidFill>
                      <a:srgbClr val="FF0000"/>
                    </a:solidFill>
                    <a:latin typeface="Arial" panose="020B0604020202020204" pitchFamily="34" charset="0"/>
                    <a:cs typeface="Arial" panose="020B0604020202020204" pitchFamily="34" charset="0"/>
                  </a:rPr>
                  <a:t> </a:t>
                </a:r>
              </a:p>
              <a:p>
                <a:pPr algn="ctr"/>
                <a:r>
                  <a:rPr lang="en-US" sz="1400" b="1" dirty="0">
                    <a:solidFill>
                      <a:srgbClr val="FF0000"/>
                    </a:solidFill>
                    <a:latin typeface="Arial" panose="020B0604020202020204" pitchFamily="34" charset="0"/>
                    <a:cs typeface="Arial" panose="020B0604020202020204" pitchFamily="34" charset="0"/>
                  </a:rPr>
                  <a:t>PNB + </a:t>
                </a:r>
                <a:r>
                  <a:rPr lang="en-US" sz="1400" b="1" dirty="0" err="1">
                    <a:solidFill>
                      <a:srgbClr val="FF0000"/>
                    </a:solidFill>
                    <a:latin typeface="Arial" panose="020B0604020202020204" pitchFamily="34" charset="0"/>
                    <a:cs typeface="Arial" panose="020B0604020202020204" pitchFamily="34" charset="0"/>
                  </a:rPr>
                  <a:t>Mava</a:t>
                </a:r>
                <a:endParaRPr lang="en-US" sz="1400" b="1" dirty="0">
                  <a:solidFill>
                    <a:srgbClr val="FF0000"/>
                  </a:solidFill>
                  <a:latin typeface="Arial" panose="020B0604020202020204" pitchFamily="34" charset="0"/>
                  <a:cs typeface="Arial" panose="020B0604020202020204" pitchFamily="34" charset="0"/>
                </a:endParaRPr>
              </a:p>
            </p:txBody>
          </p:sp>
          <p:sp>
            <p:nvSpPr>
              <p:cNvPr id="29" name="TextBox 9">
                <a:extLst>
                  <a:ext uri="{FF2B5EF4-FFF2-40B4-BE49-F238E27FC236}">
                    <a16:creationId xmlns:a16="http://schemas.microsoft.com/office/drawing/2014/main" id="{B483AE92-722B-8C33-3626-BBE9E468F535}"/>
                  </a:ext>
                </a:extLst>
              </p:cNvPr>
              <p:cNvSpPr txBox="1"/>
              <p:nvPr/>
            </p:nvSpPr>
            <p:spPr>
              <a:xfrm>
                <a:off x="8768891" y="5640110"/>
                <a:ext cx="662361" cy="307777"/>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latin typeface="Arial" panose="020B0604020202020204" pitchFamily="34" charset="0"/>
                    <a:cs typeface="Arial" panose="020B0604020202020204" pitchFamily="34" charset="0"/>
                  </a:rPr>
                  <a:t>Relax</a:t>
                </a:r>
              </a:p>
            </p:txBody>
          </p:sp>
          <p:sp>
            <p:nvSpPr>
              <p:cNvPr id="30" name="Right Brace 29">
                <a:extLst>
                  <a:ext uri="{FF2B5EF4-FFF2-40B4-BE49-F238E27FC236}">
                    <a16:creationId xmlns:a16="http://schemas.microsoft.com/office/drawing/2014/main" id="{7E5FAAB7-F6DB-EFD6-7680-18D0AA562857}"/>
                  </a:ext>
                </a:extLst>
              </p:cNvPr>
              <p:cNvSpPr/>
              <p:nvPr/>
            </p:nvSpPr>
            <p:spPr>
              <a:xfrm>
                <a:off x="9645191" y="4807864"/>
                <a:ext cx="129260" cy="1216223"/>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en-US"/>
              </a:p>
            </p:txBody>
          </p:sp>
          <p:sp>
            <p:nvSpPr>
              <p:cNvPr id="31" name="TextBox 14">
                <a:extLst>
                  <a:ext uri="{FF2B5EF4-FFF2-40B4-BE49-F238E27FC236}">
                    <a16:creationId xmlns:a16="http://schemas.microsoft.com/office/drawing/2014/main" id="{2CE0737F-EEDB-68BF-A9D4-F6A8E7C4BBDA}"/>
                  </a:ext>
                </a:extLst>
              </p:cNvPr>
              <p:cNvSpPr txBox="1"/>
              <p:nvPr/>
            </p:nvSpPr>
            <p:spPr>
              <a:xfrm>
                <a:off x="9748780" y="5262087"/>
                <a:ext cx="620311"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dirty="0">
                    <a:latin typeface="Arial" panose="020B0604020202020204" pitchFamily="34" charset="0"/>
                    <a:cs typeface="Arial" panose="020B0604020202020204" pitchFamily="34" charset="0"/>
                  </a:rPr>
                  <a:t>****</a:t>
                </a:r>
              </a:p>
            </p:txBody>
          </p:sp>
          <p:pic>
            <p:nvPicPr>
              <p:cNvPr id="32" name="Picture 31">
                <a:extLst>
                  <a:ext uri="{FF2B5EF4-FFF2-40B4-BE49-F238E27FC236}">
                    <a16:creationId xmlns:a16="http://schemas.microsoft.com/office/drawing/2014/main" id="{CA28933C-F6BB-49C9-F6C0-F4EC6BA9BF90}"/>
                  </a:ext>
                </a:extLst>
              </p:cNvPr>
              <p:cNvPicPr>
                <a:picLocks noChangeAspect="1"/>
              </p:cNvPicPr>
              <p:nvPr/>
            </p:nvPicPr>
            <p:blipFill>
              <a:blip r:embed="rId5"/>
              <a:stretch>
                <a:fillRect/>
              </a:stretch>
            </p:blipFill>
            <p:spPr>
              <a:xfrm>
                <a:off x="7314009" y="4312059"/>
                <a:ext cx="2717800" cy="2540000"/>
              </a:xfrm>
              <a:prstGeom prst="rect">
                <a:avLst/>
              </a:prstGeom>
            </p:spPr>
          </p:pic>
        </p:grpSp>
      </p:grpSp>
      <p:grpSp>
        <p:nvGrpSpPr>
          <p:cNvPr id="41" name="Group 40">
            <a:extLst>
              <a:ext uri="{FF2B5EF4-FFF2-40B4-BE49-F238E27FC236}">
                <a16:creationId xmlns:a16="http://schemas.microsoft.com/office/drawing/2014/main" id="{3C1C80E1-5B25-E9F1-585B-9F3B0CB99E11}"/>
              </a:ext>
            </a:extLst>
          </p:cNvPr>
          <p:cNvGrpSpPr/>
          <p:nvPr/>
        </p:nvGrpSpPr>
        <p:grpSpPr>
          <a:xfrm>
            <a:off x="5284855" y="1367128"/>
            <a:ext cx="3866609" cy="2882556"/>
            <a:chOff x="-48076" y="3495044"/>
            <a:chExt cx="3866609" cy="2882556"/>
          </a:xfrm>
        </p:grpSpPr>
        <p:pic>
          <p:nvPicPr>
            <p:cNvPr id="36" name="Picture 35">
              <a:extLst>
                <a:ext uri="{FF2B5EF4-FFF2-40B4-BE49-F238E27FC236}">
                  <a16:creationId xmlns:a16="http://schemas.microsoft.com/office/drawing/2014/main" id="{94597A07-E8DD-A9F7-B07D-9658B5888AE7}"/>
                </a:ext>
              </a:extLst>
            </p:cNvPr>
            <p:cNvPicPr>
              <a:picLocks noChangeAspect="1"/>
            </p:cNvPicPr>
            <p:nvPr/>
          </p:nvPicPr>
          <p:blipFill>
            <a:blip r:embed="rId6"/>
            <a:stretch>
              <a:fillRect/>
            </a:stretch>
          </p:blipFill>
          <p:spPr>
            <a:xfrm>
              <a:off x="173633" y="4294800"/>
              <a:ext cx="3644900" cy="2082800"/>
            </a:xfrm>
            <a:prstGeom prst="rect">
              <a:avLst/>
            </a:prstGeom>
          </p:spPr>
        </p:pic>
        <p:sp>
          <p:nvSpPr>
            <p:cNvPr id="37" name="TextBox 28">
              <a:extLst>
                <a:ext uri="{FF2B5EF4-FFF2-40B4-BE49-F238E27FC236}">
                  <a16:creationId xmlns:a16="http://schemas.microsoft.com/office/drawing/2014/main" id="{79A8544D-DAD8-A20C-06CD-BB5ADABA8F65}"/>
                </a:ext>
              </a:extLst>
            </p:cNvPr>
            <p:cNvSpPr txBox="1"/>
            <p:nvPr/>
          </p:nvSpPr>
          <p:spPr>
            <a:xfrm>
              <a:off x="15395" y="3495044"/>
              <a:ext cx="351378"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latin typeface="Arial" panose="020B0604020202020204" pitchFamily="34" charset="0"/>
                  <a:cs typeface="Arial" panose="020B0604020202020204" pitchFamily="34" charset="0"/>
                </a:rPr>
                <a:t>A</a:t>
              </a:r>
            </a:p>
          </p:txBody>
        </p:sp>
        <p:sp>
          <p:nvSpPr>
            <p:cNvPr id="38" name="TextBox 20">
              <a:extLst>
                <a:ext uri="{FF2B5EF4-FFF2-40B4-BE49-F238E27FC236}">
                  <a16:creationId xmlns:a16="http://schemas.microsoft.com/office/drawing/2014/main" id="{0F613FCD-0DD3-B359-E5DE-030D8C575BA0}"/>
                </a:ext>
              </a:extLst>
            </p:cNvPr>
            <p:cNvSpPr txBox="1"/>
            <p:nvPr/>
          </p:nvSpPr>
          <p:spPr>
            <a:xfrm>
              <a:off x="934112" y="4372770"/>
              <a:ext cx="1067921" cy="46166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200" b="1" dirty="0">
                  <a:solidFill>
                    <a:srgbClr val="FF0000"/>
                  </a:solidFill>
                  <a:latin typeface="Arial" panose="020B0604020202020204" pitchFamily="34" charset="0"/>
                  <a:cs typeface="Arial" panose="020B0604020202020204" pitchFamily="34" charset="0"/>
                </a:rPr>
                <a:t>Ca</a:t>
              </a:r>
              <a:r>
                <a:rPr lang="en-US" sz="1200" b="1" baseline="30000" dirty="0">
                  <a:solidFill>
                    <a:srgbClr val="FF0000"/>
                  </a:solidFill>
                  <a:latin typeface="Arial" panose="020B0604020202020204" pitchFamily="34" charset="0"/>
                  <a:cs typeface="Arial" panose="020B0604020202020204" pitchFamily="34" charset="0"/>
                </a:rPr>
                <a:t>2+</a:t>
              </a:r>
            </a:p>
            <a:p>
              <a:pPr algn="ctr"/>
              <a:r>
                <a:rPr lang="en-US" sz="1200" b="1" dirty="0">
                  <a:solidFill>
                    <a:srgbClr val="FF0000"/>
                  </a:solidFill>
                  <a:latin typeface="Arial" panose="020B0604020202020204" pitchFamily="34" charset="0"/>
                  <a:cs typeface="Arial" panose="020B0604020202020204" pitchFamily="34" charset="0"/>
                </a:rPr>
                <a:t>PNB + </a:t>
              </a:r>
              <a:r>
                <a:rPr lang="en-US" sz="1200" b="1" dirty="0" err="1">
                  <a:solidFill>
                    <a:srgbClr val="FF0000"/>
                  </a:solidFill>
                  <a:latin typeface="Arial" panose="020B0604020202020204" pitchFamily="34" charset="0"/>
                  <a:cs typeface="Arial" panose="020B0604020202020204" pitchFamily="34" charset="0"/>
                </a:rPr>
                <a:t>Mava</a:t>
              </a:r>
              <a:endParaRPr lang="en-US" sz="1200" b="1" dirty="0">
                <a:solidFill>
                  <a:srgbClr val="FF0000"/>
                </a:solidFill>
                <a:latin typeface="Arial" panose="020B0604020202020204" pitchFamily="34" charset="0"/>
                <a:cs typeface="Arial" panose="020B0604020202020204" pitchFamily="34" charset="0"/>
              </a:endParaRPr>
            </a:p>
          </p:txBody>
        </p:sp>
        <p:sp>
          <p:nvSpPr>
            <p:cNvPr id="39" name="TextBox 16">
              <a:extLst>
                <a:ext uri="{FF2B5EF4-FFF2-40B4-BE49-F238E27FC236}">
                  <a16:creationId xmlns:a16="http://schemas.microsoft.com/office/drawing/2014/main" id="{D2DE25B5-A5AF-C179-7F6F-DC36CA9716C9}"/>
                </a:ext>
              </a:extLst>
            </p:cNvPr>
            <p:cNvSpPr txBox="1"/>
            <p:nvPr/>
          </p:nvSpPr>
          <p:spPr>
            <a:xfrm>
              <a:off x="907863" y="5580245"/>
              <a:ext cx="593432" cy="276999"/>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b="1" dirty="0">
                  <a:latin typeface="Arial" panose="020B0604020202020204" pitchFamily="34" charset="0"/>
                  <a:cs typeface="Arial" panose="020B0604020202020204" pitchFamily="34" charset="0"/>
                </a:rPr>
                <a:t>Relax</a:t>
              </a:r>
            </a:p>
          </p:txBody>
        </p:sp>
        <p:pic>
          <p:nvPicPr>
            <p:cNvPr id="40" name="Picture 39">
              <a:extLst>
                <a:ext uri="{FF2B5EF4-FFF2-40B4-BE49-F238E27FC236}">
                  <a16:creationId xmlns:a16="http://schemas.microsoft.com/office/drawing/2014/main" id="{3419B594-3986-B913-5E39-7D378FFFBDFC}"/>
                </a:ext>
              </a:extLst>
            </p:cNvPr>
            <p:cNvPicPr>
              <a:picLocks noChangeAspect="1"/>
            </p:cNvPicPr>
            <p:nvPr/>
          </p:nvPicPr>
          <p:blipFill>
            <a:blip r:embed="rId7"/>
            <a:stretch>
              <a:fillRect/>
            </a:stretch>
          </p:blipFill>
          <p:spPr>
            <a:xfrm>
              <a:off x="-48076" y="3837562"/>
              <a:ext cx="3543300" cy="647700"/>
            </a:xfrm>
            <a:prstGeom prst="rect">
              <a:avLst/>
            </a:prstGeom>
          </p:spPr>
        </p:pic>
      </p:grpSp>
      <p:pic>
        <p:nvPicPr>
          <p:cNvPr id="42" name="Picture 41">
            <a:extLst>
              <a:ext uri="{FF2B5EF4-FFF2-40B4-BE49-F238E27FC236}">
                <a16:creationId xmlns:a16="http://schemas.microsoft.com/office/drawing/2014/main" id="{17D071AB-ED7D-12AC-1977-499BBF86B792}"/>
              </a:ext>
            </a:extLst>
          </p:cNvPr>
          <p:cNvPicPr>
            <a:picLocks noChangeAspect="1"/>
          </p:cNvPicPr>
          <p:nvPr/>
        </p:nvPicPr>
        <p:blipFill>
          <a:blip r:embed="rId8"/>
          <a:stretch>
            <a:fillRect/>
          </a:stretch>
        </p:blipFill>
        <p:spPr>
          <a:xfrm>
            <a:off x="5312360" y="4299480"/>
            <a:ext cx="3454400" cy="2514600"/>
          </a:xfrm>
          <a:prstGeom prst="rect">
            <a:avLst/>
          </a:prstGeom>
        </p:spPr>
      </p:pic>
      <p:sp>
        <p:nvSpPr>
          <p:cNvPr id="43" name="Rectangle 42">
            <a:extLst>
              <a:ext uri="{FF2B5EF4-FFF2-40B4-BE49-F238E27FC236}">
                <a16:creationId xmlns:a16="http://schemas.microsoft.com/office/drawing/2014/main" id="{44CE854E-0C7E-16F8-9780-499A0E081556}"/>
              </a:ext>
            </a:extLst>
          </p:cNvPr>
          <p:cNvSpPr/>
          <p:nvPr/>
        </p:nvSpPr>
        <p:spPr>
          <a:xfrm>
            <a:off x="5274852" y="1309814"/>
            <a:ext cx="3664852" cy="2938634"/>
          </a:xfrm>
          <a:prstGeom prst="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4" name="Rectangle 43">
            <a:extLst>
              <a:ext uri="{FF2B5EF4-FFF2-40B4-BE49-F238E27FC236}">
                <a16:creationId xmlns:a16="http://schemas.microsoft.com/office/drawing/2014/main" id="{EACBCD23-6C43-96F9-FD35-E7B72344A05D}"/>
              </a:ext>
            </a:extLst>
          </p:cNvPr>
          <p:cNvSpPr/>
          <p:nvPr/>
        </p:nvSpPr>
        <p:spPr>
          <a:xfrm>
            <a:off x="9049864" y="1311962"/>
            <a:ext cx="3102297" cy="5502118"/>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sp>
        <p:nvSpPr>
          <p:cNvPr id="45" name="Rectangle 44">
            <a:extLst>
              <a:ext uri="{FF2B5EF4-FFF2-40B4-BE49-F238E27FC236}">
                <a16:creationId xmlns:a16="http://schemas.microsoft.com/office/drawing/2014/main" id="{B20EA591-EBAE-1DCA-6276-E1ED48A099F1}"/>
              </a:ext>
            </a:extLst>
          </p:cNvPr>
          <p:cNvSpPr/>
          <p:nvPr/>
        </p:nvSpPr>
        <p:spPr>
          <a:xfrm>
            <a:off x="5274852" y="4350433"/>
            <a:ext cx="3664852" cy="2463647"/>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090962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BEF1-9F69-6BD9-358A-FD8526302441}"/>
              </a:ext>
            </a:extLst>
          </p:cNvPr>
          <p:cNvSpPr>
            <a:spLocks noGrp="1"/>
          </p:cNvSpPr>
          <p:nvPr>
            <p:ph type="title"/>
          </p:nvPr>
        </p:nvSpPr>
        <p:spPr/>
        <p:txBody>
          <a:bodyPr/>
          <a:lstStyle/>
          <a:p>
            <a:r>
              <a:rPr lang="en-US" dirty="0"/>
              <a:t>PNB and MAVA alone does not affect the viscoelasticity</a:t>
            </a:r>
          </a:p>
        </p:txBody>
      </p:sp>
      <p:sp>
        <p:nvSpPr>
          <p:cNvPr id="5" name="Content Placeholder 4">
            <a:extLst>
              <a:ext uri="{FF2B5EF4-FFF2-40B4-BE49-F238E27FC236}">
                <a16:creationId xmlns:a16="http://schemas.microsoft.com/office/drawing/2014/main" id="{D9F9011D-AE16-79D4-2A36-A1FC65C37F30}"/>
              </a:ext>
            </a:extLst>
          </p:cNvPr>
          <p:cNvSpPr>
            <a:spLocks noGrp="1"/>
          </p:cNvSpPr>
          <p:nvPr>
            <p:ph sz="half" idx="1"/>
          </p:nvPr>
        </p:nvSpPr>
        <p:spPr/>
        <p:txBody>
          <a:bodyPr/>
          <a:lstStyle/>
          <a:p>
            <a:r>
              <a:rPr lang="en-US" dirty="0"/>
              <a:t>Only a slight preconditioning effect present</a:t>
            </a:r>
          </a:p>
        </p:txBody>
      </p:sp>
      <p:pic>
        <p:nvPicPr>
          <p:cNvPr id="7" name="Content Placeholder 6">
            <a:extLst>
              <a:ext uri="{FF2B5EF4-FFF2-40B4-BE49-F238E27FC236}">
                <a16:creationId xmlns:a16="http://schemas.microsoft.com/office/drawing/2014/main" id="{2BBE0835-4F47-E028-B3AD-31B54C644EF1}"/>
              </a:ext>
            </a:extLst>
          </p:cNvPr>
          <p:cNvPicPr>
            <a:picLocks noGrp="1" noChangeAspect="1"/>
          </p:cNvPicPr>
          <p:nvPr>
            <p:ph sz="half" idx="2"/>
          </p:nvPr>
        </p:nvPicPr>
        <p:blipFill>
          <a:blip r:embed="rId3"/>
          <a:stretch>
            <a:fillRect/>
          </a:stretch>
        </p:blipFill>
        <p:spPr>
          <a:xfrm>
            <a:off x="7030721" y="3258143"/>
            <a:ext cx="3217862" cy="3012006"/>
          </a:xfrm>
          <a:prstGeom prst="rect">
            <a:avLst/>
          </a:prstGeom>
        </p:spPr>
      </p:pic>
      <p:grpSp>
        <p:nvGrpSpPr>
          <p:cNvPr id="10" name="Group 9">
            <a:extLst>
              <a:ext uri="{FF2B5EF4-FFF2-40B4-BE49-F238E27FC236}">
                <a16:creationId xmlns:a16="http://schemas.microsoft.com/office/drawing/2014/main" id="{61B2F8CE-149F-7CAF-3891-79C40299736B}"/>
              </a:ext>
            </a:extLst>
          </p:cNvPr>
          <p:cNvGrpSpPr/>
          <p:nvPr/>
        </p:nvGrpSpPr>
        <p:grpSpPr>
          <a:xfrm>
            <a:off x="7204069" y="1379685"/>
            <a:ext cx="2709132" cy="1878458"/>
            <a:chOff x="3831295" y="4569460"/>
            <a:chExt cx="3644900" cy="2527300"/>
          </a:xfrm>
        </p:grpSpPr>
        <p:pic>
          <p:nvPicPr>
            <p:cNvPr id="17" name="Picture 16">
              <a:extLst>
                <a:ext uri="{FF2B5EF4-FFF2-40B4-BE49-F238E27FC236}">
                  <a16:creationId xmlns:a16="http://schemas.microsoft.com/office/drawing/2014/main" id="{374FFBA4-6764-DAE5-D2E0-5A266FFEA032}"/>
                </a:ext>
              </a:extLst>
            </p:cNvPr>
            <p:cNvPicPr>
              <a:picLocks noChangeAspect="1"/>
            </p:cNvPicPr>
            <p:nvPr/>
          </p:nvPicPr>
          <p:blipFill>
            <a:blip r:embed="rId4"/>
            <a:stretch>
              <a:fillRect/>
            </a:stretch>
          </p:blipFill>
          <p:spPr>
            <a:xfrm>
              <a:off x="3831295" y="4569460"/>
              <a:ext cx="3644900" cy="2527300"/>
            </a:xfrm>
            <a:prstGeom prst="rect">
              <a:avLst/>
            </a:prstGeom>
          </p:spPr>
        </p:pic>
        <p:cxnSp>
          <p:nvCxnSpPr>
            <p:cNvPr id="18" name="Straight Connector 17">
              <a:extLst>
                <a:ext uri="{FF2B5EF4-FFF2-40B4-BE49-F238E27FC236}">
                  <a16:creationId xmlns:a16="http://schemas.microsoft.com/office/drawing/2014/main" id="{95EBD80D-22DC-2662-A757-E9A61C54EE09}"/>
                </a:ext>
              </a:extLst>
            </p:cNvPr>
            <p:cNvCxnSpPr>
              <a:cxnSpLocks/>
            </p:cNvCxnSpPr>
            <p:nvPr/>
          </p:nvCxnSpPr>
          <p:spPr>
            <a:xfrm>
              <a:off x="5152095" y="5026660"/>
              <a:ext cx="1943100" cy="0"/>
            </a:xfrm>
            <a:prstGeom prst="line">
              <a:avLst/>
            </a:prstGeom>
            <a:ln w="25400">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B095BA0-DC57-B5A9-85E4-520D53263626}"/>
                </a:ext>
              </a:extLst>
            </p:cNvPr>
            <p:cNvCxnSpPr/>
            <p:nvPr/>
          </p:nvCxnSpPr>
          <p:spPr>
            <a:xfrm>
              <a:off x="7057095" y="5064760"/>
              <a:ext cx="0" cy="381000"/>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0" name="TextBox 14">
              <a:extLst>
                <a:ext uri="{FF2B5EF4-FFF2-40B4-BE49-F238E27FC236}">
                  <a16:creationId xmlns:a16="http://schemas.microsoft.com/office/drawing/2014/main" id="{E69F854F-F8A3-DFE7-512A-9DEA153458F7}"/>
                </a:ext>
              </a:extLst>
            </p:cNvPr>
            <p:cNvSpPr txBox="1"/>
            <p:nvPr/>
          </p:nvSpPr>
          <p:spPr>
            <a:xfrm>
              <a:off x="5675649" y="5066853"/>
              <a:ext cx="1379199" cy="376813"/>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dirty="0"/>
                <a:t>Viscoelastic</a:t>
              </a:r>
            </a:p>
          </p:txBody>
        </p:sp>
        <p:sp>
          <p:nvSpPr>
            <p:cNvPr id="21" name="TextBox 10">
              <a:extLst>
                <a:ext uri="{FF2B5EF4-FFF2-40B4-BE49-F238E27FC236}">
                  <a16:creationId xmlns:a16="http://schemas.microsoft.com/office/drawing/2014/main" id="{F1B9D564-424E-17CA-B94E-7F460274A193}"/>
                </a:ext>
              </a:extLst>
            </p:cNvPr>
            <p:cNvSpPr txBox="1"/>
            <p:nvPr/>
          </p:nvSpPr>
          <p:spPr>
            <a:xfrm>
              <a:off x="6214840" y="5909684"/>
              <a:ext cx="891009" cy="376813"/>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000" b="1" dirty="0"/>
                <a:t>Elastic</a:t>
              </a:r>
            </a:p>
          </p:txBody>
        </p:sp>
        <p:cxnSp>
          <p:nvCxnSpPr>
            <p:cNvPr id="22" name="Straight Arrow Connector 21">
              <a:extLst>
                <a:ext uri="{FF2B5EF4-FFF2-40B4-BE49-F238E27FC236}">
                  <a16:creationId xmlns:a16="http://schemas.microsoft.com/office/drawing/2014/main" id="{3D57B5C3-8D18-D0FF-4CEB-C4B7B212438D}"/>
                </a:ext>
              </a:extLst>
            </p:cNvPr>
            <p:cNvCxnSpPr>
              <a:cxnSpLocks/>
            </p:cNvCxnSpPr>
            <p:nvPr/>
          </p:nvCxnSpPr>
          <p:spPr>
            <a:xfrm>
              <a:off x="7054849" y="5699014"/>
              <a:ext cx="0" cy="786653"/>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5312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4ADC3-FDBF-B111-055E-E538384BCAF9}"/>
              </a:ext>
            </a:extLst>
          </p:cNvPr>
          <p:cNvSpPr>
            <a:spLocks noGrp="1"/>
          </p:cNvSpPr>
          <p:nvPr>
            <p:ph type="title"/>
          </p:nvPr>
        </p:nvSpPr>
        <p:spPr/>
        <p:txBody>
          <a:bodyPr/>
          <a:lstStyle/>
          <a:p>
            <a:r>
              <a:rPr lang="en-US" dirty="0"/>
              <a:t>Active contraction is completely suppressed</a:t>
            </a:r>
          </a:p>
        </p:txBody>
      </p:sp>
      <p:sp>
        <p:nvSpPr>
          <p:cNvPr id="3" name="Content Placeholder 2">
            <a:extLst>
              <a:ext uri="{FF2B5EF4-FFF2-40B4-BE49-F238E27FC236}">
                <a16:creationId xmlns:a16="http://schemas.microsoft.com/office/drawing/2014/main" id="{40A12652-60D0-89F4-874C-9C3C69E7ADD2}"/>
              </a:ext>
            </a:extLst>
          </p:cNvPr>
          <p:cNvSpPr>
            <a:spLocks noGrp="1"/>
          </p:cNvSpPr>
          <p:nvPr>
            <p:ph idx="1"/>
          </p:nvPr>
        </p:nvSpPr>
        <p:spPr>
          <a:xfrm>
            <a:off x="838200" y="1825625"/>
            <a:ext cx="3767902" cy="4351338"/>
          </a:xfrm>
        </p:spPr>
        <p:txBody>
          <a:bodyPr/>
          <a:lstStyle/>
          <a:p>
            <a:r>
              <a:rPr lang="en-US" dirty="0"/>
              <a:t>Micro-displacements do not induce force</a:t>
            </a:r>
            <a:br>
              <a:rPr lang="en-US" dirty="0"/>
            </a:br>
            <a:r>
              <a:rPr lang="en-US" dirty="0"/>
              <a:t>(no attached myosin)</a:t>
            </a:r>
          </a:p>
          <a:p>
            <a:endParaRPr lang="en-US" dirty="0"/>
          </a:p>
          <a:p>
            <a:endParaRPr lang="en-US" dirty="0"/>
          </a:p>
          <a:p>
            <a:endParaRPr lang="en-US" dirty="0"/>
          </a:p>
          <a:p>
            <a:r>
              <a:rPr lang="en-US" dirty="0"/>
              <a:t>Lower temperature gives same results</a:t>
            </a:r>
          </a:p>
          <a:p>
            <a:endParaRPr lang="en-US" dirty="0"/>
          </a:p>
        </p:txBody>
      </p:sp>
      <p:grpSp>
        <p:nvGrpSpPr>
          <p:cNvPr id="15" name="Group 14">
            <a:extLst>
              <a:ext uri="{FF2B5EF4-FFF2-40B4-BE49-F238E27FC236}">
                <a16:creationId xmlns:a16="http://schemas.microsoft.com/office/drawing/2014/main" id="{D0F9621A-548B-0AF0-6A4D-472B7E0FD263}"/>
              </a:ext>
            </a:extLst>
          </p:cNvPr>
          <p:cNvGrpSpPr/>
          <p:nvPr/>
        </p:nvGrpSpPr>
        <p:grpSpPr>
          <a:xfrm>
            <a:off x="4440194" y="4622980"/>
            <a:ext cx="7751805" cy="2345548"/>
            <a:chOff x="2202606" y="3945928"/>
            <a:chExt cx="9989394" cy="3022600"/>
          </a:xfrm>
        </p:grpSpPr>
        <p:pic>
          <p:nvPicPr>
            <p:cNvPr id="8" name="Picture 7">
              <a:extLst>
                <a:ext uri="{FF2B5EF4-FFF2-40B4-BE49-F238E27FC236}">
                  <a16:creationId xmlns:a16="http://schemas.microsoft.com/office/drawing/2014/main" id="{54ACEBCA-4547-9DF4-BAC8-AA230BE7BE6C}"/>
                </a:ext>
              </a:extLst>
            </p:cNvPr>
            <p:cNvPicPr>
              <a:picLocks noChangeAspect="1"/>
            </p:cNvPicPr>
            <p:nvPr/>
          </p:nvPicPr>
          <p:blipFill>
            <a:blip r:embed="rId3"/>
            <a:stretch>
              <a:fillRect/>
            </a:stretch>
          </p:blipFill>
          <p:spPr>
            <a:xfrm>
              <a:off x="7960376" y="3945928"/>
              <a:ext cx="2044700" cy="3022600"/>
            </a:xfrm>
            <a:prstGeom prst="rect">
              <a:avLst/>
            </a:prstGeom>
          </p:spPr>
        </p:pic>
        <p:pic>
          <p:nvPicPr>
            <p:cNvPr id="9" name="Picture 8">
              <a:extLst>
                <a:ext uri="{FF2B5EF4-FFF2-40B4-BE49-F238E27FC236}">
                  <a16:creationId xmlns:a16="http://schemas.microsoft.com/office/drawing/2014/main" id="{59F984E3-34ED-88E6-8383-EBA0633CA31C}"/>
                </a:ext>
              </a:extLst>
            </p:cNvPr>
            <p:cNvPicPr>
              <a:picLocks noChangeAspect="1"/>
            </p:cNvPicPr>
            <p:nvPr/>
          </p:nvPicPr>
          <p:blipFill>
            <a:blip r:embed="rId4"/>
            <a:stretch>
              <a:fillRect/>
            </a:stretch>
          </p:blipFill>
          <p:spPr>
            <a:xfrm>
              <a:off x="10147300" y="3945928"/>
              <a:ext cx="2044700" cy="3022600"/>
            </a:xfrm>
            <a:prstGeom prst="rect">
              <a:avLst/>
            </a:prstGeom>
          </p:spPr>
        </p:pic>
        <p:grpSp>
          <p:nvGrpSpPr>
            <p:cNvPr id="14" name="Group 13">
              <a:extLst>
                <a:ext uri="{FF2B5EF4-FFF2-40B4-BE49-F238E27FC236}">
                  <a16:creationId xmlns:a16="http://schemas.microsoft.com/office/drawing/2014/main" id="{473FCB43-DBF0-6B9C-5865-B4F657818D49}"/>
                </a:ext>
              </a:extLst>
            </p:cNvPr>
            <p:cNvGrpSpPr/>
            <p:nvPr/>
          </p:nvGrpSpPr>
          <p:grpSpPr>
            <a:xfrm>
              <a:off x="2202606" y="4054500"/>
              <a:ext cx="3553898" cy="2260600"/>
              <a:chOff x="-85817" y="4707928"/>
              <a:chExt cx="3553898" cy="2260600"/>
            </a:xfrm>
          </p:grpSpPr>
          <p:pic>
            <p:nvPicPr>
              <p:cNvPr id="10" name="Picture 9">
                <a:extLst>
                  <a:ext uri="{FF2B5EF4-FFF2-40B4-BE49-F238E27FC236}">
                    <a16:creationId xmlns:a16="http://schemas.microsoft.com/office/drawing/2014/main" id="{4CD95661-DD8E-BA85-7FB4-43622BAB058F}"/>
                  </a:ext>
                </a:extLst>
              </p:cNvPr>
              <p:cNvPicPr>
                <a:picLocks noChangeAspect="1"/>
              </p:cNvPicPr>
              <p:nvPr/>
            </p:nvPicPr>
            <p:blipFill>
              <a:blip r:embed="rId5"/>
              <a:stretch>
                <a:fillRect/>
              </a:stretch>
            </p:blipFill>
            <p:spPr>
              <a:xfrm>
                <a:off x="-85817" y="4707928"/>
                <a:ext cx="3543300" cy="647700"/>
              </a:xfrm>
              <a:prstGeom prst="rect">
                <a:avLst/>
              </a:prstGeom>
            </p:spPr>
          </p:pic>
          <p:pic>
            <p:nvPicPr>
              <p:cNvPr id="11" name="Picture 10">
                <a:extLst>
                  <a:ext uri="{FF2B5EF4-FFF2-40B4-BE49-F238E27FC236}">
                    <a16:creationId xmlns:a16="http://schemas.microsoft.com/office/drawing/2014/main" id="{2BECFD18-7997-7559-063A-398DD18A4C09}"/>
                  </a:ext>
                </a:extLst>
              </p:cNvPr>
              <p:cNvPicPr>
                <a:picLocks noChangeAspect="1"/>
              </p:cNvPicPr>
              <p:nvPr/>
            </p:nvPicPr>
            <p:blipFill>
              <a:blip r:embed="rId6"/>
              <a:stretch>
                <a:fillRect/>
              </a:stretch>
            </p:blipFill>
            <p:spPr>
              <a:xfrm>
                <a:off x="127981" y="5355628"/>
                <a:ext cx="3340100" cy="1612900"/>
              </a:xfrm>
              <a:prstGeom prst="rect">
                <a:avLst/>
              </a:prstGeom>
            </p:spPr>
          </p:pic>
        </p:grpSp>
        <p:pic>
          <p:nvPicPr>
            <p:cNvPr id="12" name="Picture 11">
              <a:extLst>
                <a:ext uri="{FF2B5EF4-FFF2-40B4-BE49-F238E27FC236}">
                  <a16:creationId xmlns:a16="http://schemas.microsoft.com/office/drawing/2014/main" id="{3E5802A5-53A5-9548-B962-5F179B59D281}"/>
                </a:ext>
              </a:extLst>
            </p:cNvPr>
            <p:cNvPicPr>
              <a:picLocks noChangeAspect="1"/>
            </p:cNvPicPr>
            <p:nvPr/>
          </p:nvPicPr>
          <p:blipFill>
            <a:blip r:embed="rId7"/>
            <a:stretch>
              <a:fillRect/>
            </a:stretch>
          </p:blipFill>
          <p:spPr>
            <a:xfrm>
              <a:off x="6022364" y="4003798"/>
              <a:ext cx="1866900" cy="2273300"/>
            </a:xfrm>
            <a:prstGeom prst="rect">
              <a:avLst/>
            </a:prstGeom>
          </p:spPr>
        </p:pic>
      </p:grpSp>
      <p:grpSp>
        <p:nvGrpSpPr>
          <p:cNvPr id="27" name="Group 26">
            <a:extLst>
              <a:ext uri="{FF2B5EF4-FFF2-40B4-BE49-F238E27FC236}">
                <a16:creationId xmlns:a16="http://schemas.microsoft.com/office/drawing/2014/main" id="{95E3FCEF-7B14-15EB-D432-D18B3B8D02B4}"/>
              </a:ext>
            </a:extLst>
          </p:cNvPr>
          <p:cNvGrpSpPr/>
          <p:nvPr/>
        </p:nvGrpSpPr>
        <p:grpSpPr>
          <a:xfrm>
            <a:off x="4606102" y="1369410"/>
            <a:ext cx="7782748" cy="2462005"/>
            <a:chOff x="3315739" y="1131094"/>
            <a:chExt cx="9073111" cy="2870200"/>
          </a:xfrm>
        </p:grpSpPr>
        <p:pic>
          <p:nvPicPr>
            <p:cNvPr id="23" name="Picture 22">
              <a:extLst>
                <a:ext uri="{FF2B5EF4-FFF2-40B4-BE49-F238E27FC236}">
                  <a16:creationId xmlns:a16="http://schemas.microsoft.com/office/drawing/2014/main" id="{0034E739-6517-3C91-F6B4-A657FF1E7352}"/>
                </a:ext>
              </a:extLst>
            </p:cNvPr>
            <p:cNvPicPr>
              <a:picLocks noChangeAspect="1"/>
            </p:cNvPicPr>
            <p:nvPr/>
          </p:nvPicPr>
          <p:blipFill>
            <a:blip r:embed="rId8"/>
            <a:stretch>
              <a:fillRect/>
            </a:stretch>
          </p:blipFill>
          <p:spPr>
            <a:xfrm>
              <a:off x="3315739" y="1532885"/>
              <a:ext cx="3429000" cy="2146300"/>
            </a:xfrm>
            <a:prstGeom prst="rect">
              <a:avLst/>
            </a:prstGeom>
          </p:spPr>
        </p:pic>
        <p:grpSp>
          <p:nvGrpSpPr>
            <p:cNvPr id="25" name="Group 24">
              <a:extLst>
                <a:ext uri="{FF2B5EF4-FFF2-40B4-BE49-F238E27FC236}">
                  <a16:creationId xmlns:a16="http://schemas.microsoft.com/office/drawing/2014/main" id="{F811BEB4-5B44-84DC-4476-E76728C12FAC}"/>
                </a:ext>
              </a:extLst>
            </p:cNvPr>
            <p:cNvGrpSpPr/>
            <p:nvPr/>
          </p:nvGrpSpPr>
          <p:grpSpPr>
            <a:xfrm>
              <a:off x="6830372" y="1391781"/>
              <a:ext cx="3416300" cy="2133600"/>
              <a:chOff x="8480167" y="2436903"/>
              <a:chExt cx="3416300" cy="2133600"/>
            </a:xfrm>
          </p:grpSpPr>
          <p:pic>
            <p:nvPicPr>
              <p:cNvPr id="22" name="Picture 21">
                <a:extLst>
                  <a:ext uri="{FF2B5EF4-FFF2-40B4-BE49-F238E27FC236}">
                    <a16:creationId xmlns:a16="http://schemas.microsoft.com/office/drawing/2014/main" id="{4D0C2CA6-036B-ED54-914E-770D9D668D28}"/>
                  </a:ext>
                </a:extLst>
              </p:cNvPr>
              <p:cNvPicPr>
                <a:picLocks noChangeAspect="1"/>
              </p:cNvPicPr>
              <p:nvPr/>
            </p:nvPicPr>
            <p:blipFill>
              <a:blip r:embed="rId9"/>
              <a:stretch>
                <a:fillRect/>
              </a:stretch>
            </p:blipFill>
            <p:spPr>
              <a:xfrm>
                <a:off x="8480167" y="3110003"/>
                <a:ext cx="3416300" cy="1460500"/>
              </a:xfrm>
              <a:prstGeom prst="rect">
                <a:avLst/>
              </a:prstGeom>
            </p:spPr>
          </p:pic>
          <p:pic>
            <p:nvPicPr>
              <p:cNvPr id="24" name="Picture 23">
                <a:extLst>
                  <a:ext uri="{FF2B5EF4-FFF2-40B4-BE49-F238E27FC236}">
                    <a16:creationId xmlns:a16="http://schemas.microsoft.com/office/drawing/2014/main" id="{3AC6C3CC-2040-2881-C4AB-6519289B7563}"/>
                  </a:ext>
                </a:extLst>
              </p:cNvPr>
              <p:cNvPicPr>
                <a:picLocks noChangeAspect="1"/>
              </p:cNvPicPr>
              <p:nvPr/>
            </p:nvPicPr>
            <p:blipFill>
              <a:blip r:embed="rId10"/>
              <a:stretch>
                <a:fillRect/>
              </a:stretch>
            </p:blipFill>
            <p:spPr>
              <a:xfrm>
                <a:off x="8505567" y="2436903"/>
                <a:ext cx="3378200" cy="723900"/>
              </a:xfrm>
              <a:prstGeom prst="rect">
                <a:avLst/>
              </a:prstGeom>
            </p:spPr>
          </p:pic>
        </p:grpSp>
        <p:pic>
          <p:nvPicPr>
            <p:cNvPr id="26" name="Picture 25">
              <a:extLst>
                <a:ext uri="{FF2B5EF4-FFF2-40B4-BE49-F238E27FC236}">
                  <a16:creationId xmlns:a16="http://schemas.microsoft.com/office/drawing/2014/main" id="{431FBC29-546E-2E41-8AE1-38F1A0A600D7}"/>
                </a:ext>
              </a:extLst>
            </p:cNvPr>
            <p:cNvPicPr>
              <a:picLocks noChangeAspect="1"/>
            </p:cNvPicPr>
            <p:nvPr/>
          </p:nvPicPr>
          <p:blipFill>
            <a:blip r:embed="rId11"/>
            <a:stretch>
              <a:fillRect/>
            </a:stretch>
          </p:blipFill>
          <p:spPr>
            <a:xfrm>
              <a:off x="10318750" y="1131094"/>
              <a:ext cx="2070100" cy="2870200"/>
            </a:xfrm>
            <a:prstGeom prst="rect">
              <a:avLst/>
            </a:prstGeom>
          </p:spPr>
        </p:pic>
      </p:grpSp>
    </p:spTree>
    <p:extLst>
      <p:ext uri="{BB962C8B-B14F-4D97-AF65-F5344CB8AC3E}">
        <p14:creationId xmlns:p14="http://schemas.microsoft.com/office/powerpoint/2010/main" val="305107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32EE-4372-6F25-7019-9CAFF227DFE5}"/>
              </a:ext>
            </a:extLst>
          </p:cNvPr>
          <p:cNvSpPr>
            <a:spLocks noGrp="1"/>
          </p:cNvSpPr>
          <p:nvPr>
            <p:ph type="title"/>
          </p:nvPr>
        </p:nvSpPr>
        <p:spPr/>
        <p:txBody>
          <a:bodyPr/>
          <a:lstStyle/>
          <a:p>
            <a:r>
              <a:rPr lang="en-US" dirty="0"/>
              <a:t>Active contraction is completely suppressed</a:t>
            </a:r>
          </a:p>
        </p:txBody>
      </p:sp>
      <p:sp>
        <p:nvSpPr>
          <p:cNvPr id="3" name="Content Placeholder 2">
            <a:extLst>
              <a:ext uri="{FF2B5EF4-FFF2-40B4-BE49-F238E27FC236}">
                <a16:creationId xmlns:a16="http://schemas.microsoft.com/office/drawing/2014/main" id="{F31B4120-B692-DAE8-FBF1-90BEE6BB3829}"/>
              </a:ext>
            </a:extLst>
          </p:cNvPr>
          <p:cNvSpPr>
            <a:spLocks noGrp="1"/>
          </p:cNvSpPr>
          <p:nvPr>
            <p:ph idx="1"/>
          </p:nvPr>
        </p:nvSpPr>
        <p:spPr>
          <a:xfrm>
            <a:off x="838200" y="1825625"/>
            <a:ext cx="10515600" cy="695153"/>
          </a:xfrm>
        </p:spPr>
        <p:txBody>
          <a:bodyPr/>
          <a:lstStyle/>
          <a:p>
            <a:r>
              <a:rPr lang="en-US" dirty="0"/>
              <a:t>Preliminary data on ATP dependency (n=1), unpublished</a:t>
            </a:r>
          </a:p>
          <a:p>
            <a:endParaRPr lang="en-US" dirty="0"/>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455D4FF7-3FB9-4518-307B-DE7BBDD3DE42}"/>
              </a:ext>
            </a:extLst>
          </p:cNvPr>
          <p:cNvPicPr>
            <a:picLocks noChangeAspect="1"/>
          </p:cNvPicPr>
          <p:nvPr/>
        </p:nvPicPr>
        <p:blipFill>
          <a:blip r:embed="rId3"/>
          <a:stretch>
            <a:fillRect/>
          </a:stretch>
        </p:blipFill>
        <p:spPr>
          <a:xfrm>
            <a:off x="1285103" y="2322765"/>
            <a:ext cx="3520810" cy="3444063"/>
          </a:xfrm>
          <a:prstGeom prst="rect">
            <a:avLst/>
          </a:prstGeom>
        </p:spPr>
      </p:pic>
      <p:sp>
        <p:nvSpPr>
          <p:cNvPr id="7" name="TextBox 6">
            <a:extLst>
              <a:ext uri="{FF2B5EF4-FFF2-40B4-BE49-F238E27FC236}">
                <a16:creationId xmlns:a16="http://schemas.microsoft.com/office/drawing/2014/main" id="{5BFA4B2E-4788-AF31-4380-B8A8E94F2673}"/>
              </a:ext>
            </a:extLst>
          </p:cNvPr>
          <p:cNvSpPr txBox="1"/>
          <p:nvPr/>
        </p:nvSpPr>
        <p:spPr>
          <a:xfrm>
            <a:off x="1062682" y="5903893"/>
            <a:ext cx="9028670" cy="954107"/>
          </a:xfrm>
          <a:prstGeom prst="rect">
            <a:avLst/>
          </a:prstGeom>
          <a:noFill/>
        </p:spPr>
        <p:txBody>
          <a:bodyPr wrap="square">
            <a:spAutoFit/>
          </a:bodyPr>
          <a:lstStyle/>
          <a:p>
            <a:pPr marL="285750" indent="-285750">
              <a:buFont typeface="Arial" panose="020B0604020202020204" pitchFamily="34" charset="0"/>
              <a:buChar char="•"/>
            </a:pPr>
            <a:r>
              <a:rPr lang="en-US" sz="2800" dirty="0"/>
              <a:t>No ATP dependency observed, either with or without Ca</a:t>
            </a:r>
          </a:p>
          <a:p>
            <a:pPr marL="285750" indent="-285750">
              <a:buFont typeface="Arial" panose="020B0604020202020204" pitchFamily="34" charset="0"/>
              <a:buChar char="•"/>
            </a:pPr>
            <a:r>
              <a:rPr lang="en-US" sz="2800" b="1" dirty="0"/>
              <a:t>No active contribution to the viscoelastic difference</a:t>
            </a:r>
          </a:p>
        </p:txBody>
      </p:sp>
      <p:pic>
        <p:nvPicPr>
          <p:cNvPr id="9" name="Picture 8">
            <a:extLst>
              <a:ext uri="{FF2B5EF4-FFF2-40B4-BE49-F238E27FC236}">
                <a16:creationId xmlns:a16="http://schemas.microsoft.com/office/drawing/2014/main" id="{B541292C-FB99-5561-55FE-0734B6F5AB52}"/>
              </a:ext>
            </a:extLst>
          </p:cNvPr>
          <p:cNvPicPr>
            <a:picLocks noChangeAspect="1"/>
          </p:cNvPicPr>
          <p:nvPr/>
        </p:nvPicPr>
        <p:blipFill>
          <a:blip r:embed="rId4"/>
          <a:stretch>
            <a:fillRect/>
          </a:stretch>
        </p:blipFill>
        <p:spPr>
          <a:xfrm>
            <a:off x="6688224" y="2322765"/>
            <a:ext cx="3403128" cy="3448025"/>
          </a:xfrm>
          <a:prstGeom prst="rect">
            <a:avLst/>
          </a:prstGeom>
        </p:spPr>
      </p:pic>
      <p:sp>
        <p:nvSpPr>
          <p:cNvPr id="11" name="TextBox 10">
            <a:extLst>
              <a:ext uri="{FF2B5EF4-FFF2-40B4-BE49-F238E27FC236}">
                <a16:creationId xmlns:a16="http://schemas.microsoft.com/office/drawing/2014/main" id="{CBAC4D64-148C-FFB5-8045-EC59DEC9E950}"/>
              </a:ext>
            </a:extLst>
          </p:cNvPr>
          <p:cNvSpPr txBox="1"/>
          <p:nvPr/>
        </p:nvSpPr>
        <p:spPr>
          <a:xfrm>
            <a:off x="4805913" y="5002382"/>
            <a:ext cx="2553730" cy="830997"/>
          </a:xfrm>
          <a:prstGeom prst="rect">
            <a:avLst/>
          </a:prstGeom>
          <a:noFill/>
        </p:spPr>
        <p:txBody>
          <a:bodyPr wrap="square">
            <a:spAutoFit/>
          </a:bodyPr>
          <a:lstStyle/>
          <a:p>
            <a:r>
              <a:rPr lang="en-US" sz="2400" dirty="0" err="1"/>
              <a:t>pCa</a:t>
            </a:r>
            <a:r>
              <a:rPr lang="en-US" sz="2400" dirty="0"/>
              <a:t> = 4.5</a:t>
            </a:r>
            <a:br>
              <a:rPr lang="en-US" sz="2400" dirty="0"/>
            </a:br>
            <a:r>
              <a:rPr lang="en-US" sz="2400" dirty="0"/>
              <a:t>ATP = </a:t>
            </a:r>
            <a:r>
              <a:rPr lang="en-US" sz="2400" b="1" dirty="0"/>
              <a:t>8 mM</a:t>
            </a:r>
          </a:p>
        </p:txBody>
      </p:sp>
      <p:sp>
        <p:nvSpPr>
          <p:cNvPr id="12" name="TextBox 11">
            <a:extLst>
              <a:ext uri="{FF2B5EF4-FFF2-40B4-BE49-F238E27FC236}">
                <a16:creationId xmlns:a16="http://schemas.microsoft.com/office/drawing/2014/main" id="{CA7718CB-B3B3-5B33-31EE-A9091847444B}"/>
              </a:ext>
            </a:extLst>
          </p:cNvPr>
          <p:cNvSpPr txBox="1"/>
          <p:nvPr/>
        </p:nvSpPr>
        <p:spPr>
          <a:xfrm>
            <a:off x="10091352" y="5010307"/>
            <a:ext cx="2553730" cy="830997"/>
          </a:xfrm>
          <a:prstGeom prst="rect">
            <a:avLst/>
          </a:prstGeom>
          <a:noFill/>
        </p:spPr>
        <p:txBody>
          <a:bodyPr wrap="square">
            <a:spAutoFit/>
          </a:bodyPr>
          <a:lstStyle/>
          <a:p>
            <a:r>
              <a:rPr lang="en-US" sz="2400" dirty="0" err="1"/>
              <a:t>pCa</a:t>
            </a:r>
            <a:r>
              <a:rPr lang="en-US" sz="2400" dirty="0"/>
              <a:t> = 4.5</a:t>
            </a:r>
            <a:br>
              <a:rPr lang="en-US" sz="2400" dirty="0"/>
            </a:br>
            <a:r>
              <a:rPr lang="en-US" sz="2400" dirty="0"/>
              <a:t>ATP = </a:t>
            </a:r>
            <a:r>
              <a:rPr lang="en-US" sz="2400" b="1" dirty="0"/>
              <a:t>0.2 mM</a:t>
            </a:r>
          </a:p>
        </p:txBody>
      </p:sp>
    </p:spTree>
    <p:extLst>
      <p:ext uri="{BB962C8B-B14F-4D97-AF65-F5344CB8AC3E}">
        <p14:creationId xmlns:p14="http://schemas.microsoft.com/office/powerpoint/2010/main" val="1207031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8FF0A-FDEF-655E-005C-208E4B595F37}"/>
              </a:ext>
            </a:extLst>
          </p:cNvPr>
          <p:cNvSpPr>
            <a:spLocks noGrp="1"/>
          </p:cNvSpPr>
          <p:nvPr>
            <p:ph type="title"/>
          </p:nvPr>
        </p:nvSpPr>
        <p:spPr/>
        <p:txBody>
          <a:bodyPr/>
          <a:lstStyle/>
          <a:p>
            <a:r>
              <a:rPr lang="en-US" dirty="0"/>
              <a:t>Ca sensitivity can be attributed to titin</a:t>
            </a:r>
          </a:p>
        </p:txBody>
      </p:sp>
      <p:sp>
        <p:nvSpPr>
          <p:cNvPr id="3" name="Content Placeholder 2">
            <a:extLst>
              <a:ext uri="{FF2B5EF4-FFF2-40B4-BE49-F238E27FC236}">
                <a16:creationId xmlns:a16="http://schemas.microsoft.com/office/drawing/2014/main" id="{4D04EEB1-704A-E081-A822-F0F7A4EA87D2}"/>
              </a:ext>
            </a:extLst>
          </p:cNvPr>
          <p:cNvSpPr>
            <a:spLocks noGrp="1"/>
          </p:cNvSpPr>
          <p:nvPr>
            <p:ph sz="half" idx="1"/>
          </p:nvPr>
        </p:nvSpPr>
        <p:spPr/>
        <p:txBody>
          <a:bodyPr>
            <a:normAutofit fontScale="85000" lnSpcReduction="20000"/>
          </a:bodyPr>
          <a:lstStyle/>
          <a:p>
            <a:r>
              <a:rPr lang="en-US" dirty="0"/>
              <a:t>high-salt extraction protocol removes &gt;95% of myosin and actin</a:t>
            </a:r>
          </a:p>
          <a:p>
            <a:pPr lvl="1"/>
            <a:r>
              <a:rPr lang="en-US" dirty="0"/>
              <a:t>Titin unanchored from the sarcomere </a:t>
            </a:r>
          </a:p>
          <a:p>
            <a:r>
              <a:rPr lang="en-US" dirty="0"/>
              <a:t>non-myofilament structures left </a:t>
            </a:r>
          </a:p>
          <a:p>
            <a:pPr lvl="1"/>
            <a:r>
              <a:rPr lang="en-US" dirty="0"/>
              <a:t>collagen</a:t>
            </a:r>
          </a:p>
          <a:p>
            <a:r>
              <a:rPr lang="en-US" dirty="0"/>
              <a:t>no Ca effect on viscoelastic force</a:t>
            </a:r>
          </a:p>
          <a:p>
            <a:endParaRPr lang="en-US" dirty="0"/>
          </a:p>
          <a:p>
            <a:r>
              <a:rPr lang="en-US" dirty="0"/>
              <a:t>Some resting viscoelastic force remains</a:t>
            </a:r>
          </a:p>
          <a:p>
            <a:endParaRPr lang="en-US" dirty="0"/>
          </a:p>
          <a:p>
            <a:r>
              <a:rPr lang="en-US" b="1" dirty="0"/>
              <a:t>The Ca effect does not apply outside of sarcomere</a:t>
            </a:r>
          </a:p>
          <a:p>
            <a:endParaRPr lang="en-US" dirty="0"/>
          </a:p>
          <a:p>
            <a:endParaRPr lang="en-US" dirty="0"/>
          </a:p>
        </p:txBody>
      </p:sp>
      <p:pic>
        <p:nvPicPr>
          <p:cNvPr id="5" name="Content Placeholder 4">
            <a:extLst>
              <a:ext uri="{FF2B5EF4-FFF2-40B4-BE49-F238E27FC236}">
                <a16:creationId xmlns:a16="http://schemas.microsoft.com/office/drawing/2014/main" id="{95A71606-6046-F738-7238-697E9A11A4EB}"/>
              </a:ext>
            </a:extLst>
          </p:cNvPr>
          <p:cNvPicPr>
            <a:picLocks noGrp="1" noChangeAspect="1"/>
          </p:cNvPicPr>
          <p:nvPr>
            <p:ph sz="half" idx="2"/>
          </p:nvPr>
        </p:nvPicPr>
        <p:blipFill>
          <a:blip r:embed="rId2"/>
          <a:stretch>
            <a:fillRect/>
          </a:stretch>
        </p:blipFill>
        <p:spPr>
          <a:xfrm>
            <a:off x="6248400" y="2191544"/>
            <a:ext cx="5029200" cy="3619500"/>
          </a:xfrm>
          <a:prstGeom prst="rect">
            <a:avLst/>
          </a:prstGeom>
        </p:spPr>
      </p:pic>
    </p:spTree>
    <p:extLst>
      <p:ext uri="{BB962C8B-B14F-4D97-AF65-F5344CB8AC3E}">
        <p14:creationId xmlns:p14="http://schemas.microsoft.com/office/powerpoint/2010/main" val="2039916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1ECED-38DD-55A4-12E4-8805601664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284136-E0E9-8B5B-26C1-87500E923E82}"/>
              </a:ext>
            </a:extLst>
          </p:cNvPr>
          <p:cNvSpPr>
            <a:spLocks noGrp="1"/>
          </p:cNvSpPr>
          <p:nvPr>
            <p:ph type="title"/>
          </p:nvPr>
        </p:nvSpPr>
        <p:spPr/>
        <p:txBody>
          <a:bodyPr/>
          <a:lstStyle/>
          <a:p>
            <a:r>
              <a:rPr lang="en-US" dirty="0"/>
              <a:t>Passive viscoelastic properties are calcium-dependent</a:t>
            </a:r>
          </a:p>
        </p:txBody>
      </p:sp>
      <p:sp>
        <p:nvSpPr>
          <p:cNvPr id="6" name="Text Placeholder 5">
            <a:extLst>
              <a:ext uri="{FF2B5EF4-FFF2-40B4-BE49-F238E27FC236}">
                <a16:creationId xmlns:a16="http://schemas.microsoft.com/office/drawing/2014/main" id="{FE88ED95-82F9-18C3-CE38-D81B62E6E466}"/>
              </a:ext>
            </a:extLst>
          </p:cNvPr>
          <p:cNvSpPr>
            <a:spLocks noGrp="1"/>
          </p:cNvSpPr>
          <p:nvPr>
            <p:ph type="body" idx="1"/>
          </p:nvPr>
        </p:nvSpPr>
        <p:spPr/>
        <p:txBody>
          <a:bodyPr>
            <a:normAutofit/>
          </a:bodyPr>
          <a:lstStyle/>
          <a:p>
            <a:r>
              <a:rPr lang="en-US" dirty="0"/>
              <a:t>Can we quantify that in model </a:t>
            </a:r>
            <a:r>
              <a:rPr lang="cs-CZ" dirty="0"/>
              <a:t>and find the mechanism?</a:t>
            </a:r>
            <a:endParaRPr lang="en-US" dirty="0"/>
          </a:p>
          <a:p>
            <a:endParaRPr lang="en-US" dirty="0"/>
          </a:p>
          <a:p>
            <a:r>
              <a:rPr lang="en-US" dirty="0"/>
              <a:t>Decouple from active mechanisms to investigate diastolic dysfunctions</a:t>
            </a:r>
          </a:p>
        </p:txBody>
      </p:sp>
    </p:spTree>
    <p:extLst>
      <p:ext uri="{BB962C8B-B14F-4D97-AF65-F5344CB8AC3E}">
        <p14:creationId xmlns:p14="http://schemas.microsoft.com/office/powerpoint/2010/main" val="314436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5DCD5-598E-CCC1-0297-54EC85D7FEB2}"/>
              </a:ext>
            </a:extLst>
          </p:cNvPr>
          <p:cNvSpPr>
            <a:spLocks noGrp="1"/>
          </p:cNvSpPr>
          <p:nvPr>
            <p:ph type="title"/>
          </p:nvPr>
        </p:nvSpPr>
        <p:spPr/>
        <p:txBody>
          <a:bodyPr/>
          <a:lstStyle/>
          <a:p>
            <a:r>
              <a:rPr lang="en-US" dirty="0"/>
              <a:t>The response does not follow a power law</a:t>
            </a:r>
          </a:p>
        </p:txBody>
      </p:sp>
      <p:sp>
        <p:nvSpPr>
          <p:cNvPr id="3" name="Content Placeholder 2">
            <a:extLst>
              <a:ext uri="{FF2B5EF4-FFF2-40B4-BE49-F238E27FC236}">
                <a16:creationId xmlns:a16="http://schemas.microsoft.com/office/drawing/2014/main" id="{E4602B22-0AFA-8ED5-663F-69C5AAB426D5}"/>
              </a:ext>
            </a:extLst>
          </p:cNvPr>
          <p:cNvSpPr>
            <a:spLocks noGrp="1"/>
          </p:cNvSpPr>
          <p:nvPr>
            <p:ph sz="half" idx="1"/>
          </p:nvPr>
        </p:nvSpPr>
        <p:spPr>
          <a:xfrm>
            <a:off x="838200" y="1825625"/>
            <a:ext cx="8487032" cy="4351338"/>
          </a:xfrm>
        </p:spPr>
        <p:txBody>
          <a:bodyPr/>
          <a:lstStyle/>
          <a:p>
            <a:r>
              <a:rPr lang="en-US" b="1" dirty="0">
                <a:solidFill>
                  <a:schemeClr val="tx2">
                    <a:lumMod val="75000"/>
                    <a:lumOff val="25000"/>
                  </a:schemeClr>
                </a:solidFill>
              </a:rPr>
              <a:t>Not a power law ANYMORE</a:t>
            </a:r>
          </a:p>
          <a:p>
            <a:pPr lvl="1"/>
            <a:r>
              <a:rPr lang="en-US" dirty="0"/>
              <a:t>Some other (exponential</a:t>
            </a:r>
            <a:r>
              <a:rPr lang="cs-CZ" dirty="0"/>
              <a:t>?</a:t>
            </a:r>
            <a:r>
              <a:rPr lang="en-US" dirty="0"/>
              <a:t>) process</a:t>
            </a:r>
          </a:p>
          <a:p>
            <a:pPr lvl="1"/>
            <a:r>
              <a:rPr lang="en-US" dirty="0"/>
              <a:t>PEVK attachment</a:t>
            </a:r>
            <a:r>
              <a:rPr lang="en-US" baseline="30000" dirty="0"/>
              <a:t>a)</a:t>
            </a:r>
            <a:endParaRPr lang="en-US" dirty="0"/>
          </a:p>
          <a:p>
            <a:endParaRPr lang="en-US" dirty="0"/>
          </a:p>
        </p:txBody>
      </p:sp>
      <p:sp>
        <p:nvSpPr>
          <p:cNvPr id="77" name="Rectangle 1">
            <a:extLst>
              <a:ext uri="{FF2B5EF4-FFF2-40B4-BE49-F238E27FC236}">
                <a16:creationId xmlns:a16="http://schemas.microsoft.com/office/drawing/2014/main" id="{7DBA2291-35A2-5E81-2DFD-15B495D78F93}"/>
              </a:ext>
            </a:extLst>
          </p:cNvPr>
          <p:cNvSpPr>
            <a:spLocks noChangeArrowheads="1"/>
          </p:cNvSpPr>
          <p:nvPr/>
        </p:nvSpPr>
        <p:spPr bwMode="auto">
          <a:xfrm>
            <a:off x="98194" y="6363227"/>
            <a:ext cx="60311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marL="228600" marR="0" lvl="0" indent="-228600" algn="l" defTabSz="914400" rtl="0" eaLnBrk="0" fontAlgn="base" latinLnBrk="0" hangingPunct="0">
              <a:lnSpc>
                <a:spcPct val="100000"/>
              </a:lnSpc>
              <a:spcBef>
                <a:spcPct val="0"/>
              </a:spcBef>
              <a:spcAft>
                <a:spcPct val="0"/>
              </a:spcAft>
              <a:buClrTx/>
              <a:buSzTx/>
              <a:buFontTx/>
              <a:buAutoNum type="alphaLcParenR"/>
              <a:tabLst/>
            </a:pPr>
            <a:r>
              <a:rPr kumimoji="0" lang="en-US" altLang="en-US" sz="1200" b="0" i="0" u="none" strike="noStrike" cap="none" normalizeH="0" baseline="0" dirty="0" err="1">
                <a:ln>
                  <a:noFill/>
                </a:ln>
                <a:solidFill>
                  <a:schemeClr val="tx1"/>
                </a:solidFill>
                <a:effectLst/>
                <a:latin typeface="Arial" panose="020B0604020202020204" pitchFamily="34" charset="0"/>
              </a:rPr>
              <a:t>Squarci</a:t>
            </a:r>
            <a:r>
              <a:rPr kumimoji="0" lang="en-US" altLang="en-US" sz="1200" b="0" i="0" u="none" strike="noStrike" cap="none" normalizeH="0" baseline="0" dirty="0">
                <a:ln>
                  <a:noFill/>
                </a:ln>
                <a:solidFill>
                  <a:schemeClr val="tx1"/>
                </a:solidFill>
                <a:effectLst/>
                <a:latin typeface="Arial" panose="020B0604020202020204" pitchFamily="34" charset="0"/>
              </a:rPr>
              <a:t> C, et al. Titin activates myosin filaments in skeletal muscle by switching from an extensible spring to a mechanical rectifier. PNAS 2023</a:t>
            </a:r>
          </a:p>
        </p:txBody>
      </p:sp>
      <p:grpSp>
        <p:nvGrpSpPr>
          <p:cNvPr id="80" name="Group 79">
            <a:extLst>
              <a:ext uri="{FF2B5EF4-FFF2-40B4-BE49-F238E27FC236}">
                <a16:creationId xmlns:a16="http://schemas.microsoft.com/office/drawing/2014/main" id="{903A8328-1C2A-7DF9-5393-DB5DAB94ACCE}"/>
              </a:ext>
            </a:extLst>
          </p:cNvPr>
          <p:cNvGrpSpPr/>
          <p:nvPr/>
        </p:nvGrpSpPr>
        <p:grpSpPr>
          <a:xfrm>
            <a:off x="728609" y="3124043"/>
            <a:ext cx="5093952" cy="2815000"/>
            <a:chOff x="285469" y="3281882"/>
            <a:chExt cx="5810531" cy="3210993"/>
          </a:xfrm>
        </p:grpSpPr>
        <p:grpSp>
          <p:nvGrpSpPr>
            <p:cNvPr id="76" name="Group 75">
              <a:extLst>
                <a:ext uri="{FF2B5EF4-FFF2-40B4-BE49-F238E27FC236}">
                  <a16:creationId xmlns:a16="http://schemas.microsoft.com/office/drawing/2014/main" id="{FBEA4B64-72FC-217F-FD6B-AB13C4C087F2}"/>
                </a:ext>
              </a:extLst>
            </p:cNvPr>
            <p:cNvGrpSpPr/>
            <p:nvPr/>
          </p:nvGrpSpPr>
          <p:grpSpPr>
            <a:xfrm>
              <a:off x="285469" y="3281882"/>
              <a:ext cx="5810531" cy="3210993"/>
              <a:chOff x="822602" y="3517557"/>
              <a:chExt cx="5810531" cy="3210993"/>
            </a:xfrm>
          </p:grpSpPr>
          <p:sp>
            <p:nvSpPr>
              <p:cNvPr id="38" name="TextBox 37">
                <a:extLst>
                  <a:ext uri="{FF2B5EF4-FFF2-40B4-BE49-F238E27FC236}">
                    <a16:creationId xmlns:a16="http://schemas.microsoft.com/office/drawing/2014/main" id="{F02EB07D-C49B-231B-03AB-E0D96CBC36E3}"/>
                  </a:ext>
                </a:extLst>
              </p:cNvPr>
              <p:cNvSpPr txBox="1"/>
              <p:nvPr/>
            </p:nvSpPr>
            <p:spPr>
              <a:xfrm>
                <a:off x="822602" y="6466940"/>
                <a:ext cx="3860162" cy="261610"/>
              </a:xfrm>
              <a:prstGeom prst="rect">
                <a:avLst/>
              </a:prstGeom>
              <a:noFill/>
              <a:ln>
                <a:noFill/>
              </a:ln>
            </p:spPr>
            <p:txBody>
              <a:bodyPr wrap="square" rtlCol="0" anchor="t">
                <a:spAutoFit/>
              </a:bodyPr>
              <a:lstStyle/>
              <a:p>
                <a:pPr algn="ctr"/>
                <a:r>
                  <a:rPr lang="en-US" sz="1100" i="1" dirty="0" err="1">
                    <a:latin typeface="LM Roman 12" panose="00000500000000000000" pitchFamily="50" charset="0"/>
                  </a:rPr>
                  <a:t>L</a:t>
                </a:r>
                <a:r>
                  <a:rPr lang="en-US" sz="1100" i="1" baseline="-25000" dirty="0" err="1">
                    <a:latin typeface="LM Roman 12" panose="00000500000000000000" pitchFamily="50" charset="0"/>
                  </a:rPr>
                  <a:t>p</a:t>
                </a:r>
                <a:endParaRPr lang="en-US" sz="1100" baseline="-25000" dirty="0">
                  <a:latin typeface="LM Roman 12" panose="00000500000000000000" pitchFamily="50" charset="0"/>
                </a:endParaRPr>
              </a:p>
            </p:txBody>
          </p:sp>
          <p:sp>
            <p:nvSpPr>
              <p:cNvPr id="39" name="TextBox 38">
                <a:extLst>
                  <a:ext uri="{FF2B5EF4-FFF2-40B4-BE49-F238E27FC236}">
                    <a16:creationId xmlns:a16="http://schemas.microsoft.com/office/drawing/2014/main" id="{50D09247-82BD-1FC1-DF0A-D13DB2E1CDFF}"/>
                  </a:ext>
                </a:extLst>
              </p:cNvPr>
              <p:cNvSpPr txBox="1"/>
              <p:nvPr/>
            </p:nvSpPr>
            <p:spPr>
              <a:xfrm>
                <a:off x="5083226" y="6466940"/>
                <a:ext cx="913184" cy="261610"/>
              </a:xfrm>
              <a:prstGeom prst="rect">
                <a:avLst/>
              </a:prstGeom>
              <a:noFill/>
              <a:ln>
                <a:noFill/>
              </a:ln>
            </p:spPr>
            <p:txBody>
              <a:bodyPr wrap="square" rtlCol="0" anchor="t">
                <a:spAutoFit/>
              </a:bodyPr>
              <a:lstStyle/>
              <a:p>
                <a:pPr algn="ctr"/>
                <a:r>
                  <a:rPr lang="en-US" sz="1100" i="1" dirty="0" err="1">
                    <a:latin typeface="LM Roman 12" panose="00000500000000000000" pitchFamily="50" charset="0"/>
                  </a:rPr>
                  <a:t>L</a:t>
                </a:r>
                <a:r>
                  <a:rPr lang="en-US" sz="1100" i="1" baseline="-25000" dirty="0" err="1">
                    <a:latin typeface="LM Roman 12" panose="00000500000000000000" pitchFamily="50" charset="0"/>
                  </a:rPr>
                  <a:t>d</a:t>
                </a:r>
                <a:endParaRPr lang="en-US" sz="1100" baseline="-25000" dirty="0">
                  <a:latin typeface="LM Roman 12" panose="00000500000000000000" pitchFamily="50" charset="0"/>
                </a:endParaRPr>
              </a:p>
            </p:txBody>
          </p:sp>
          <p:grpSp>
            <p:nvGrpSpPr>
              <p:cNvPr id="75" name="Group 74">
                <a:extLst>
                  <a:ext uri="{FF2B5EF4-FFF2-40B4-BE49-F238E27FC236}">
                    <a16:creationId xmlns:a16="http://schemas.microsoft.com/office/drawing/2014/main" id="{FEAE3A3C-334B-7BB3-E8F3-E72F386DFA0F}"/>
                  </a:ext>
                </a:extLst>
              </p:cNvPr>
              <p:cNvGrpSpPr/>
              <p:nvPr/>
            </p:nvGrpSpPr>
            <p:grpSpPr>
              <a:xfrm>
                <a:off x="930519" y="3517557"/>
                <a:ext cx="5702614" cy="2992795"/>
                <a:chOff x="470586" y="3276179"/>
                <a:chExt cx="6162547" cy="3234173"/>
              </a:xfrm>
            </p:grpSpPr>
            <p:sp>
              <p:nvSpPr>
                <p:cNvPr id="9" name="Rectangle 8">
                  <a:extLst>
                    <a:ext uri="{FF2B5EF4-FFF2-40B4-BE49-F238E27FC236}">
                      <a16:creationId xmlns:a16="http://schemas.microsoft.com/office/drawing/2014/main" id="{F18B30C8-6283-1259-A54E-660A57DF3FC3}"/>
                    </a:ext>
                  </a:extLst>
                </p:cNvPr>
                <p:cNvSpPr/>
                <p:nvPr/>
              </p:nvSpPr>
              <p:spPr>
                <a:xfrm>
                  <a:off x="701754" y="5111370"/>
                  <a:ext cx="5531247" cy="229734"/>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LM Roman 12" panose="00000500000000000000" pitchFamily="50" charset="0"/>
                  </a:endParaRPr>
                </a:p>
              </p:txBody>
            </p:sp>
            <p:sp>
              <p:nvSpPr>
                <p:cNvPr id="10" name="Rectangle 9">
                  <a:extLst>
                    <a:ext uri="{FF2B5EF4-FFF2-40B4-BE49-F238E27FC236}">
                      <a16:creationId xmlns:a16="http://schemas.microsoft.com/office/drawing/2014/main" id="{036A59C1-F9E9-E7D2-5AD1-1E448696E995}"/>
                    </a:ext>
                  </a:extLst>
                </p:cNvPr>
                <p:cNvSpPr/>
                <p:nvPr/>
              </p:nvSpPr>
              <p:spPr>
                <a:xfrm>
                  <a:off x="701708" y="5340972"/>
                  <a:ext cx="218883" cy="731435"/>
                </a:xfrm>
                <a:prstGeom prst="rect">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11" name="Freeform: Shape 10">
                  <a:extLst>
                    <a:ext uri="{FF2B5EF4-FFF2-40B4-BE49-F238E27FC236}">
                      <a16:creationId xmlns:a16="http://schemas.microsoft.com/office/drawing/2014/main" id="{85C831D2-CFE9-5D49-DB8F-24F01DE49C05}"/>
                    </a:ext>
                  </a:extLst>
                </p:cNvPr>
                <p:cNvSpPr/>
                <p:nvPr/>
              </p:nvSpPr>
              <p:spPr>
                <a:xfrm>
                  <a:off x="1149771" y="5717969"/>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12" name="Oval 11">
                  <a:extLst>
                    <a:ext uri="{FF2B5EF4-FFF2-40B4-BE49-F238E27FC236}">
                      <a16:creationId xmlns:a16="http://schemas.microsoft.com/office/drawing/2014/main" id="{36F7FD57-CDD6-88E9-E8A3-E65E52D9944A}"/>
                    </a:ext>
                  </a:extLst>
                </p:cNvPr>
                <p:cNvSpPr>
                  <a:spLocks noChangeAspect="1"/>
                </p:cNvSpPr>
                <p:nvPr/>
              </p:nvSpPr>
              <p:spPr>
                <a:xfrm>
                  <a:off x="1901035" y="5875468"/>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13" name="Freeform: Shape 12">
                  <a:extLst>
                    <a:ext uri="{FF2B5EF4-FFF2-40B4-BE49-F238E27FC236}">
                      <a16:creationId xmlns:a16="http://schemas.microsoft.com/office/drawing/2014/main" id="{CF59F61B-C044-B354-2738-5F66D1764108}"/>
                    </a:ext>
                  </a:extLst>
                </p:cNvPr>
                <p:cNvSpPr/>
                <p:nvPr/>
              </p:nvSpPr>
              <p:spPr>
                <a:xfrm>
                  <a:off x="1927253" y="5717969"/>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14" name="Oval 13">
                  <a:extLst>
                    <a:ext uri="{FF2B5EF4-FFF2-40B4-BE49-F238E27FC236}">
                      <a16:creationId xmlns:a16="http://schemas.microsoft.com/office/drawing/2014/main" id="{179CB365-3E21-F80D-9E8C-6CAC31D570CD}"/>
                    </a:ext>
                  </a:extLst>
                </p:cNvPr>
                <p:cNvSpPr>
                  <a:spLocks noChangeAspect="1"/>
                </p:cNvSpPr>
                <p:nvPr/>
              </p:nvSpPr>
              <p:spPr>
                <a:xfrm>
                  <a:off x="2678515" y="5875468"/>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15" name="Freeform: Shape 14">
                  <a:extLst>
                    <a:ext uri="{FF2B5EF4-FFF2-40B4-BE49-F238E27FC236}">
                      <a16:creationId xmlns:a16="http://schemas.microsoft.com/office/drawing/2014/main" id="{C34BA8B1-AB35-8455-2D7E-66CA10767029}"/>
                    </a:ext>
                  </a:extLst>
                </p:cNvPr>
                <p:cNvSpPr/>
                <p:nvPr/>
              </p:nvSpPr>
              <p:spPr>
                <a:xfrm>
                  <a:off x="3789663" y="5710122"/>
                  <a:ext cx="775095" cy="354438"/>
                </a:xfrm>
                <a:custGeom>
                  <a:avLst/>
                  <a:gdLst>
                    <a:gd name="connsiteX0" fmla="*/ 0 w 2751438"/>
                    <a:gd name="connsiteY0" fmla="*/ 900508 h 1646192"/>
                    <a:gd name="connsiteX1" fmla="*/ 609600 w 2751438"/>
                    <a:gd name="connsiteY1" fmla="*/ 916984 h 1646192"/>
                    <a:gd name="connsiteX2" fmla="*/ 716692 w 2751438"/>
                    <a:gd name="connsiteY2" fmla="*/ 702800 h 1646192"/>
                    <a:gd name="connsiteX3" fmla="*/ 667265 w 2751438"/>
                    <a:gd name="connsiteY3" fmla="*/ 439189 h 1646192"/>
                    <a:gd name="connsiteX4" fmla="*/ 774357 w 2751438"/>
                    <a:gd name="connsiteY4" fmla="*/ 290908 h 1646192"/>
                    <a:gd name="connsiteX5" fmla="*/ 930876 w 2751438"/>
                    <a:gd name="connsiteY5" fmla="*/ 389762 h 1646192"/>
                    <a:gd name="connsiteX6" fmla="*/ 864973 w 2751438"/>
                    <a:gd name="connsiteY6" fmla="*/ 603946 h 1646192"/>
                    <a:gd name="connsiteX7" fmla="*/ 848498 w 2751438"/>
                    <a:gd name="connsiteY7" fmla="*/ 801654 h 1646192"/>
                    <a:gd name="connsiteX8" fmla="*/ 799071 w 2751438"/>
                    <a:gd name="connsiteY8" fmla="*/ 1015838 h 1646192"/>
                    <a:gd name="connsiteX9" fmla="*/ 502509 w 2751438"/>
                    <a:gd name="connsiteY9" fmla="*/ 1073503 h 1646192"/>
                    <a:gd name="connsiteX10" fmla="*/ 345990 w 2751438"/>
                    <a:gd name="connsiteY10" fmla="*/ 1122930 h 1646192"/>
                    <a:gd name="connsiteX11" fmla="*/ 370703 w 2751438"/>
                    <a:gd name="connsiteY11" fmla="*/ 1312400 h 1646192"/>
                    <a:gd name="connsiteX12" fmla="*/ 560173 w 2751438"/>
                    <a:gd name="connsiteY12" fmla="*/ 1312400 h 1646192"/>
                    <a:gd name="connsiteX13" fmla="*/ 799071 w 2751438"/>
                    <a:gd name="connsiteY13" fmla="*/ 1221784 h 1646192"/>
                    <a:gd name="connsiteX14" fmla="*/ 930876 w 2751438"/>
                    <a:gd name="connsiteY14" fmla="*/ 1032314 h 1646192"/>
                    <a:gd name="connsiteX15" fmla="*/ 963827 w 2751438"/>
                    <a:gd name="connsiteY15" fmla="*/ 851081 h 1646192"/>
                    <a:gd name="connsiteX16" fmla="*/ 1029730 w 2751438"/>
                    <a:gd name="connsiteY16" fmla="*/ 686324 h 1646192"/>
                    <a:gd name="connsiteX17" fmla="*/ 1153298 w 2751438"/>
                    <a:gd name="connsiteY17" fmla="*/ 686324 h 1646192"/>
                    <a:gd name="connsiteX18" fmla="*/ 1178011 w 2751438"/>
                    <a:gd name="connsiteY18" fmla="*/ 842843 h 1646192"/>
                    <a:gd name="connsiteX19" fmla="*/ 1128584 w 2751438"/>
                    <a:gd name="connsiteY19" fmla="*/ 1032314 h 1646192"/>
                    <a:gd name="connsiteX20" fmla="*/ 972065 w 2751438"/>
                    <a:gd name="connsiteY20" fmla="*/ 1230022 h 1646192"/>
                    <a:gd name="connsiteX21" fmla="*/ 650790 w 2751438"/>
                    <a:gd name="connsiteY21" fmla="*/ 1386541 h 1646192"/>
                    <a:gd name="connsiteX22" fmla="*/ 766119 w 2751438"/>
                    <a:gd name="connsiteY22" fmla="*/ 1600724 h 1646192"/>
                    <a:gd name="connsiteX23" fmla="*/ 1128584 w 2751438"/>
                    <a:gd name="connsiteY23" fmla="*/ 1378303 h 1646192"/>
                    <a:gd name="connsiteX24" fmla="*/ 1383957 w 2751438"/>
                    <a:gd name="connsiteY24" fmla="*/ 884033 h 1646192"/>
                    <a:gd name="connsiteX25" fmla="*/ 1375719 w 2751438"/>
                    <a:gd name="connsiteY25" fmla="*/ 579233 h 1646192"/>
                    <a:gd name="connsiteX26" fmla="*/ 1095633 w 2751438"/>
                    <a:gd name="connsiteY26" fmla="*/ 538043 h 1646192"/>
                    <a:gd name="connsiteX27" fmla="*/ 1029730 w 2751438"/>
                    <a:gd name="connsiteY27" fmla="*/ 389762 h 1646192"/>
                    <a:gd name="connsiteX28" fmla="*/ 1318055 w 2751438"/>
                    <a:gd name="connsiteY28" fmla="*/ 381524 h 1646192"/>
                    <a:gd name="connsiteX29" fmla="*/ 1548714 w 2751438"/>
                    <a:gd name="connsiteY29" fmla="*/ 579233 h 1646192"/>
                    <a:gd name="connsiteX30" fmla="*/ 1499287 w 2751438"/>
                    <a:gd name="connsiteY30" fmla="*/ 966411 h 1646192"/>
                    <a:gd name="connsiteX31" fmla="*/ 1392195 w 2751438"/>
                    <a:gd name="connsiteY31" fmla="*/ 1213546 h 1646192"/>
                    <a:gd name="connsiteX32" fmla="*/ 1672282 w 2751438"/>
                    <a:gd name="connsiteY32" fmla="*/ 1131168 h 1646192"/>
                    <a:gd name="connsiteX33" fmla="*/ 1738184 w 2751438"/>
                    <a:gd name="connsiteY33" fmla="*/ 595708 h 1646192"/>
                    <a:gd name="connsiteX34" fmla="*/ 1556952 w 2751438"/>
                    <a:gd name="connsiteY34" fmla="*/ 225006 h 1646192"/>
                    <a:gd name="connsiteX35" fmla="*/ 1095633 w 2751438"/>
                    <a:gd name="connsiteY35" fmla="*/ 208530 h 1646192"/>
                    <a:gd name="connsiteX36" fmla="*/ 1005017 w 2751438"/>
                    <a:gd name="connsiteY36" fmla="*/ 27297 h 1646192"/>
                    <a:gd name="connsiteX37" fmla="*/ 1482811 w 2751438"/>
                    <a:gd name="connsiteY37" fmla="*/ 10822 h 1646192"/>
                    <a:gd name="connsiteX38" fmla="*/ 1771136 w 2751438"/>
                    <a:gd name="connsiteY38" fmla="*/ 126151 h 1646192"/>
                    <a:gd name="connsiteX39" fmla="*/ 1952368 w 2751438"/>
                    <a:gd name="connsiteY39" fmla="*/ 752227 h 1646192"/>
                    <a:gd name="connsiteX40" fmla="*/ 1828800 w 2751438"/>
                    <a:gd name="connsiteY40" fmla="*/ 1246497 h 1646192"/>
                    <a:gd name="connsiteX41" fmla="*/ 1474573 w 2751438"/>
                    <a:gd name="connsiteY41" fmla="*/ 1370065 h 1646192"/>
                    <a:gd name="connsiteX42" fmla="*/ 1375719 w 2751438"/>
                    <a:gd name="connsiteY42" fmla="*/ 1584249 h 1646192"/>
                    <a:gd name="connsiteX43" fmla="*/ 1853514 w 2751438"/>
                    <a:gd name="connsiteY43" fmla="*/ 1584249 h 1646192"/>
                    <a:gd name="connsiteX44" fmla="*/ 2141838 w 2751438"/>
                    <a:gd name="connsiteY44" fmla="*/ 867557 h 1646192"/>
                    <a:gd name="connsiteX45" fmla="*/ 2290119 w 2751438"/>
                    <a:gd name="connsiteY45" fmla="*/ 719276 h 1646192"/>
                    <a:gd name="connsiteX46" fmla="*/ 2636109 w 2751438"/>
                    <a:gd name="connsiteY46" fmla="*/ 760465 h 1646192"/>
                    <a:gd name="connsiteX47" fmla="*/ 2751438 w 2751438"/>
                    <a:gd name="connsiteY47" fmla="*/ 785178 h 1646192"/>
                    <a:gd name="connsiteX0" fmla="*/ 0 w 3286897"/>
                    <a:gd name="connsiteY0" fmla="*/ 900508 h 1646192"/>
                    <a:gd name="connsiteX1" fmla="*/ 609600 w 3286897"/>
                    <a:gd name="connsiteY1" fmla="*/ 916984 h 1646192"/>
                    <a:gd name="connsiteX2" fmla="*/ 716692 w 3286897"/>
                    <a:gd name="connsiteY2" fmla="*/ 702800 h 1646192"/>
                    <a:gd name="connsiteX3" fmla="*/ 667265 w 3286897"/>
                    <a:gd name="connsiteY3" fmla="*/ 439189 h 1646192"/>
                    <a:gd name="connsiteX4" fmla="*/ 774357 w 3286897"/>
                    <a:gd name="connsiteY4" fmla="*/ 290908 h 1646192"/>
                    <a:gd name="connsiteX5" fmla="*/ 930876 w 3286897"/>
                    <a:gd name="connsiteY5" fmla="*/ 389762 h 1646192"/>
                    <a:gd name="connsiteX6" fmla="*/ 864973 w 3286897"/>
                    <a:gd name="connsiteY6" fmla="*/ 603946 h 1646192"/>
                    <a:gd name="connsiteX7" fmla="*/ 848498 w 3286897"/>
                    <a:gd name="connsiteY7" fmla="*/ 801654 h 1646192"/>
                    <a:gd name="connsiteX8" fmla="*/ 799071 w 3286897"/>
                    <a:gd name="connsiteY8" fmla="*/ 1015838 h 1646192"/>
                    <a:gd name="connsiteX9" fmla="*/ 502509 w 3286897"/>
                    <a:gd name="connsiteY9" fmla="*/ 1073503 h 1646192"/>
                    <a:gd name="connsiteX10" fmla="*/ 345990 w 3286897"/>
                    <a:gd name="connsiteY10" fmla="*/ 1122930 h 1646192"/>
                    <a:gd name="connsiteX11" fmla="*/ 370703 w 3286897"/>
                    <a:gd name="connsiteY11" fmla="*/ 1312400 h 1646192"/>
                    <a:gd name="connsiteX12" fmla="*/ 560173 w 3286897"/>
                    <a:gd name="connsiteY12" fmla="*/ 1312400 h 1646192"/>
                    <a:gd name="connsiteX13" fmla="*/ 799071 w 3286897"/>
                    <a:gd name="connsiteY13" fmla="*/ 1221784 h 1646192"/>
                    <a:gd name="connsiteX14" fmla="*/ 930876 w 3286897"/>
                    <a:gd name="connsiteY14" fmla="*/ 1032314 h 1646192"/>
                    <a:gd name="connsiteX15" fmla="*/ 963827 w 3286897"/>
                    <a:gd name="connsiteY15" fmla="*/ 851081 h 1646192"/>
                    <a:gd name="connsiteX16" fmla="*/ 1029730 w 3286897"/>
                    <a:gd name="connsiteY16" fmla="*/ 686324 h 1646192"/>
                    <a:gd name="connsiteX17" fmla="*/ 1153298 w 3286897"/>
                    <a:gd name="connsiteY17" fmla="*/ 686324 h 1646192"/>
                    <a:gd name="connsiteX18" fmla="*/ 1178011 w 3286897"/>
                    <a:gd name="connsiteY18" fmla="*/ 842843 h 1646192"/>
                    <a:gd name="connsiteX19" fmla="*/ 1128584 w 3286897"/>
                    <a:gd name="connsiteY19" fmla="*/ 1032314 h 1646192"/>
                    <a:gd name="connsiteX20" fmla="*/ 972065 w 3286897"/>
                    <a:gd name="connsiteY20" fmla="*/ 1230022 h 1646192"/>
                    <a:gd name="connsiteX21" fmla="*/ 650790 w 3286897"/>
                    <a:gd name="connsiteY21" fmla="*/ 1386541 h 1646192"/>
                    <a:gd name="connsiteX22" fmla="*/ 766119 w 3286897"/>
                    <a:gd name="connsiteY22" fmla="*/ 1600724 h 1646192"/>
                    <a:gd name="connsiteX23" fmla="*/ 1128584 w 3286897"/>
                    <a:gd name="connsiteY23" fmla="*/ 1378303 h 1646192"/>
                    <a:gd name="connsiteX24" fmla="*/ 1383957 w 3286897"/>
                    <a:gd name="connsiteY24" fmla="*/ 884033 h 1646192"/>
                    <a:gd name="connsiteX25" fmla="*/ 1375719 w 3286897"/>
                    <a:gd name="connsiteY25" fmla="*/ 579233 h 1646192"/>
                    <a:gd name="connsiteX26" fmla="*/ 1095633 w 3286897"/>
                    <a:gd name="connsiteY26" fmla="*/ 538043 h 1646192"/>
                    <a:gd name="connsiteX27" fmla="*/ 1029730 w 3286897"/>
                    <a:gd name="connsiteY27" fmla="*/ 389762 h 1646192"/>
                    <a:gd name="connsiteX28" fmla="*/ 1318055 w 3286897"/>
                    <a:gd name="connsiteY28" fmla="*/ 381524 h 1646192"/>
                    <a:gd name="connsiteX29" fmla="*/ 1548714 w 3286897"/>
                    <a:gd name="connsiteY29" fmla="*/ 579233 h 1646192"/>
                    <a:gd name="connsiteX30" fmla="*/ 1499287 w 3286897"/>
                    <a:gd name="connsiteY30" fmla="*/ 966411 h 1646192"/>
                    <a:gd name="connsiteX31" fmla="*/ 1392195 w 3286897"/>
                    <a:gd name="connsiteY31" fmla="*/ 1213546 h 1646192"/>
                    <a:gd name="connsiteX32" fmla="*/ 1672282 w 3286897"/>
                    <a:gd name="connsiteY32" fmla="*/ 1131168 h 1646192"/>
                    <a:gd name="connsiteX33" fmla="*/ 1738184 w 3286897"/>
                    <a:gd name="connsiteY33" fmla="*/ 595708 h 1646192"/>
                    <a:gd name="connsiteX34" fmla="*/ 1556952 w 3286897"/>
                    <a:gd name="connsiteY34" fmla="*/ 225006 h 1646192"/>
                    <a:gd name="connsiteX35" fmla="*/ 1095633 w 3286897"/>
                    <a:gd name="connsiteY35" fmla="*/ 208530 h 1646192"/>
                    <a:gd name="connsiteX36" fmla="*/ 1005017 w 3286897"/>
                    <a:gd name="connsiteY36" fmla="*/ 27297 h 1646192"/>
                    <a:gd name="connsiteX37" fmla="*/ 1482811 w 3286897"/>
                    <a:gd name="connsiteY37" fmla="*/ 10822 h 1646192"/>
                    <a:gd name="connsiteX38" fmla="*/ 1771136 w 3286897"/>
                    <a:gd name="connsiteY38" fmla="*/ 126151 h 1646192"/>
                    <a:gd name="connsiteX39" fmla="*/ 1952368 w 3286897"/>
                    <a:gd name="connsiteY39" fmla="*/ 752227 h 1646192"/>
                    <a:gd name="connsiteX40" fmla="*/ 1828800 w 3286897"/>
                    <a:gd name="connsiteY40" fmla="*/ 1246497 h 1646192"/>
                    <a:gd name="connsiteX41" fmla="*/ 1474573 w 3286897"/>
                    <a:gd name="connsiteY41" fmla="*/ 1370065 h 1646192"/>
                    <a:gd name="connsiteX42" fmla="*/ 1375719 w 3286897"/>
                    <a:gd name="connsiteY42" fmla="*/ 1584249 h 1646192"/>
                    <a:gd name="connsiteX43" fmla="*/ 1853514 w 3286897"/>
                    <a:gd name="connsiteY43" fmla="*/ 1584249 h 1646192"/>
                    <a:gd name="connsiteX44" fmla="*/ 2141838 w 3286897"/>
                    <a:gd name="connsiteY44" fmla="*/ 867557 h 1646192"/>
                    <a:gd name="connsiteX45" fmla="*/ 2290119 w 3286897"/>
                    <a:gd name="connsiteY45" fmla="*/ 719276 h 1646192"/>
                    <a:gd name="connsiteX46" fmla="*/ 2636109 w 3286897"/>
                    <a:gd name="connsiteY46" fmla="*/ 760465 h 1646192"/>
                    <a:gd name="connsiteX47" fmla="*/ 3286897 w 3286897"/>
                    <a:gd name="connsiteY47" fmla="*/ 851081 h 1646192"/>
                    <a:gd name="connsiteX0" fmla="*/ 0 w 3599935"/>
                    <a:gd name="connsiteY0" fmla="*/ 900508 h 1646192"/>
                    <a:gd name="connsiteX1" fmla="*/ 922638 w 3599935"/>
                    <a:gd name="connsiteY1" fmla="*/ 916984 h 1646192"/>
                    <a:gd name="connsiteX2" fmla="*/ 1029730 w 3599935"/>
                    <a:gd name="connsiteY2" fmla="*/ 702800 h 1646192"/>
                    <a:gd name="connsiteX3" fmla="*/ 980303 w 3599935"/>
                    <a:gd name="connsiteY3" fmla="*/ 439189 h 1646192"/>
                    <a:gd name="connsiteX4" fmla="*/ 1087395 w 3599935"/>
                    <a:gd name="connsiteY4" fmla="*/ 290908 h 1646192"/>
                    <a:gd name="connsiteX5" fmla="*/ 1243914 w 3599935"/>
                    <a:gd name="connsiteY5" fmla="*/ 389762 h 1646192"/>
                    <a:gd name="connsiteX6" fmla="*/ 1178011 w 3599935"/>
                    <a:gd name="connsiteY6" fmla="*/ 603946 h 1646192"/>
                    <a:gd name="connsiteX7" fmla="*/ 1161536 w 3599935"/>
                    <a:gd name="connsiteY7" fmla="*/ 801654 h 1646192"/>
                    <a:gd name="connsiteX8" fmla="*/ 1112109 w 3599935"/>
                    <a:gd name="connsiteY8" fmla="*/ 1015838 h 1646192"/>
                    <a:gd name="connsiteX9" fmla="*/ 815547 w 3599935"/>
                    <a:gd name="connsiteY9" fmla="*/ 1073503 h 1646192"/>
                    <a:gd name="connsiteX10" fmla="*/ 659028 w 3599935"/>
                    <a:gd name="connsiteY10" fmla="*/ 1122930 h 1646192"/>
                    <a:gd name="connsiteX11" fmla="*/ 683741 w 3599935"/>
                    <a:gd name="connsiteY11" fmla="*/ 1312400 h 1646192"/>
                    <a:gd name="connsiteX12" fmla="*/ 873211 w 3599935"/>
                    <a:gd name="connsiteY12" fmla="*/ 1312400 h 1646192"/>
                    <a:gd name="connsiteX13" fmla="*/ 1112109 w 3599935"/>
                    <a:gd name="connsiteY13" fmla="*/ 1221784 h 1646192"/>
                    <a:gd name="connsiteX14" fmla="*/ 1243914 w 3599935"/>
                    <a:gd name="connsiteY14" fmla="*/ 1032314 h 1646192"/>
                    <a:gd name="connsiteX15" fmla="*/ 1276865 w 3599935"/>
                    <a:gd name="connsiteY15" fmla="*/ 851081 h 1646192"/>
                    <a:gd name="connsiteX16" fmla="*/ 1342768 w 3599935"/>
                    <a:gd name="connsiteY16" fmla="*/ 686324 h 1646192"/>
                    <a:gd name="connsiteX17" fmla="*/ 1466336 w 3599935"/>
                    <a:gd name="connsiteY17" fmla="*/ 686324 h 1646192"/>
                    <a:gd name="connsiteX18" fmla="*/ 1491049 w 3599935"/>
                    <a:gd name="connsiteY18" fmla="*/ 842843 h 1646192"/>
                    <a:gd name="connsiteX19" fmla="*/ 1441622 w 3599935"/>
                    <a:gd name="connsiteY19" fmla="*/ 1032314 h 1646192"/>
                    <a:gd name="connsiteX20" fmla="*/ 1285103 w 3599935"/>
                    <a:gd name="connsiteY20" fmla="*/ 1230022 h 1646192"/>
                    <a:gd name="connsiteX21" fmla="*/ 963828 w 3599935"/>
                    <a:gd name="connsiteY21" fmla="*/ 1386541 h 1646192"/>
                    <a:gd name="connsiteX22" fmla="*/ 1079157 w 3599935"/>
                    <a:gd name="connsiteY22" fmla="*/ 1600724 h 1646192"/>
                    <a:gd name="connsiteX23" fmla="*/ 1441622 w 3599935"/>
                    <a:gd name="connsiteY23" fmla="*/ 1378303 h 1646192"/>
                    <a:gd name="connsiteX24" fmla="*/ 1696995 w 3599935"/>
                    <a:gd name="connsiteY24" fmla="*/ 884033 h 1646192"/>
                    <a:gd name="connsiteX25" fmla="*/ 1688757 w 3599935"/>
                    <a:gd name="connsiteY25" fmla="*/ 579233 h 1646192"/>
                    <a:gd name="connsiteX26" fmla="*/ 1408671 w 3599935"/>
                    <a:gd name="connsiteY26" fmla="*/ 538043 h 1646192"/>
                    <a:gd name="connsiteX27" fmla="*/ 1342768 w 3599935"/>
                    <a:gd name="connsiteY27" fmla="*/ 389762 h 1646192"/>
                    <a:gd name="connsiteX28" fmla="*/ 1631093 w 3599935"/>
                    <a:gd name="connsiteY28" fmla="*/ 381524 h 1646192"/>
                    <a:gd name="connsiteX29" fmla="*/ 1861752 w 3599935"/>
                    <a:gd name="connsiteY29" fmla="*/ 579233 h 1646192"/>
                    <a:gd name="connsiteX30" fmla="*/ 1812325 w 3599935"/>
                    <a:gd name="connsiteY30" fmla="*/ 966411 h 1646192"/>
                    <a:gd name="connsiteX31" fmla="*/ 1705233 w 3599935"/>
                    <a:gd name="connsiteY31" fmla="*/ 1213546 h 1646192"/>
                    <a:gd name="connsiteX32" fmla="*/ 1985320 w 3599935"/>
                    <a:gd name="connsiteY32" fmla="*/ 1131168 h 1646192"/>
                    <a:gd name="connsiteX33" fmla="*/ 2051222 w 3599935"/>
                    <a:gd name="connsiteY33" fmla="*/ 595708 h 1646192"/>
                    <a:gd name="connsiteX34" fmla="*/ 1869990 w 3599935"/>
                    <a:gd name="connsiteY34" fmla="*/ 225006 h 1646192"/>
                    <a:gd name="connsiteX35" fmla="*/ 1408671 w 3599935"/>
                    <a:gd name="connsiteY35" fmla="*/ 208530 h 1646192"/>
                    <a:gd name="connsiteX36" fmla="*/ 1318055 w 3599935"/>
                    <a:gd name="connsiteY36" fmla="*/ 27297 h 1646192"/>
                    <a:gd name="connsiteX37" fmla="*/ 1795849 w 3599935"/>
                    <a:gd name="connsiteY37" fmla="*/ 10822 h 1646192"/>
                    <a:gd name="connsiteX38" fmla="*/ 2084174 w 3599935"/>
                    <a:gd name="connsiteY38" fmla="*/ 126151 h 1646192"/>
                    <a:gd name="connsiteX39" fmla="*/ 2265406 w 3599935"/>
                    <a:gd name="connsiteY39" fmla="*/ 752227 h 1646192"/>
                    <a:gd name="connsiteX40" fmla="*/ 2141838 w 3599935"/>
                    <a:gd name="connsiteY40" fmla="*/ 1246497 h 1646192"/>
                    <a:gd name="connsiteX41" fmla="*/ 1787611 w 3599935"/>
                    <a:gd name="connsiteY41" fmla="*/ 1370065 h 1646192"/>
                    <a:gd name="connsiteX42" fmla="*/ 1688757 w 3599935"/>
                    <a:gd name="connsiteY42" fmla="*/ 1584249 h 1646192"/>
                    <a:gd name="connsiteX43" fmla="*/ 2166552 w 3599935"/>
                    <a:gd name="connsiteY43" fmla="*/ 1584249 h 1646192"/>
                    <a:gd name="connsiteX44" fmla="*/ 2454876 w 3599935"/>
                    <a:gd name="connsiteY44" fmla="*/ 867557 h 1646192"/>
                    <a:gd name="connsiteX45" fmla="*/ 2603157 w 3599935"/>
                    <a:gd name="connsiteY45" fmla="*/ 719276 h 1646192"/>
                    <a:gd name="connsiteX46" fmla="*/ 2949147 w 3599935"/>
                    <a:gd name="connsiteY46" fmla="*/ 760465 h 1646192"/>
                    <a:gd name="connsiteX47" fmla="*/ 3599935 w 3599935"/>
                    <a:gd name="connsiteY47" fmla="*/ 851081 h 1646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99935" h="1646192">
                      <a:moveTo>
                        <a:pt x="0" y="900508"/>
                      </a:moveTo>
                      <a:cubicBezTo>
                        <a:pt x="245075" y="925221"/>
                        <a:pt x="751016" y="949935"/>
                        <a:pt x="922638" y="916984"/>
                      </a:cubicBezTo>
                      <a:cubicBezTo>
                        <a:pt x="1094260" y="884033"/>
                        <a:pt x="1020119" y="782432"/>
                        <a:pt x="1029730" y="702800"/>
                      </a:cubicBezTo>
                      <a:cubicBezTo>
                        <a:pt x="1039341" y="623168"/>
                        <a:pt x="970692" y="507838"/>
                        <a:pt x="980303" y="439189"/>
                      </a:cubicBezTo>
                      <a:cubicBezTo>
                        <a:pt x="989914" y="370540"/>
                        <a:pt x="1043460" y="299146"/>
                        <a:pt x="1087395" y="290908"/>
                      </a:cubicBezTo>
                      <a:cubicBezTo>
                        <a:pt x="1131330" y="282670"/>
                        <a:pt x="1228811" y="337589"/>
                        <a:pt x="1243914" y="389762"/>
                      </a:cubicBezTo>
                      <a:cubicBezTo>
                        <a:pt x="1259017" y="441935"/>
                        <a:pt x="1191741" y="535297"/>
                        <a:pt x="1178011" y="603946"/>
                      </a:cubicBezTo>
                      <a:cubicBezTo>
                        <a:pt x="1164281" y="672595"/>
                        <a:pt x="1172520" y="733005"/>
                        <a:pt x="1161536" y="801654"/>
                      </a:cubicBezTo>
                      <a:cubicBezTo>
                        <a:pt x="1150552" y="870303"/>
                        <a:pt x="1169774" y="970530"/>
                        <a:pt x="1112109" y="1015838"/>
                      </a:cubicBezTo>
                      <a:cubicBezTo>
                        <a:pt x="1054444" y="1061146"/>
                        <a:pt x="891060" y="1055654"/>
                        <a:pt x="815547" y="1073503"/>
                      </a:cubicBezTo>
                      <a:cubicBezTo>
                        <a:pt x="740034" y="1091352"/>
                        <a:pt x="680996" y="1083114"/>
                        <a:pt x="659028" y="1122930"/>
                      </a:cubicBezTo>
                      <a:cubicBezTo>
                        <a:pt x="637060" y="1162746"/>
                        <a:pt x="648044" y="1280822"/>
                        <a:pt x="683741" y="1312400"/>
                      </a:cubicBezTo>
                      <a:cubicBezTo>
                        <a:pt x="719438" y="1343978"/>
                        <a:pt x="801816" y="1327503"/>
                        <a:pt x="873211" y="1312400"/>
                      </a:cubicBezTo>
                      <a:cubicBezTo>
                        <a:pt x="944606" y="1297297"/>
                        <a:pt x="1050325" y="1268465"/>
                        <a:pt x="1112109" y="1221784"/>
                      </a:cubicBezTo>
                      <a:cubicBezTo>
                        <a:pt x="1173893" y="1175103"/>
                        <a:pt x="1216455" y="1094098"/>
                        <a:pt x="1243914" y="1032314"/>
                      </a:cubicBezTo>
                      <a:cubicBezTo>
                        <a:pt x="1271373" y="970530"/>
                        <a:pt x="1260389" y="908746"/>
                        <a:pt x="1276865" y="851081"/>
                      </a:cubicBezTo>
                      <a:cubicBezTo>
                        <a:pt x="1293341" y="793416"/>
                        <a:pt x="1311190" y="713783"/>
                        <a:pt x="1342768" y="686324"/>
                      </a:cubicBezTo>
                      <a:cubicBezTo>
                        <a:pt x="1374346" y="658865"/>
                        <a:pt x="1441623" y="660237"/>
                        <a:pt x="1466336" y="686324"/>
                      </a:cubicBezTo>
                      <a:cubicBezTo>
                        <a:pt x="1491050" y="712410"/>
                        <a:pt x="1495168" y="785178"/>
                        <a:pt x="1491049" y="842843"/>
                      </a:cubicBezTo>
                      <a:cubicBezTo>
                        <a:pt x="1486930" y="900508"/>
                        <a:pt x="1475946" y="967784"/>
                        <a:pt x="1441622" y="1032314"/>
                      </a:cubicBezTo>
                      <a:cubicBezTo>
                        <a:pt x="1407298" y="1096844"/>
                        <a:pt x="1364735" y="1170984"/>
                        <a:pt x="1285103" y="1230022"/>
                      </a:cubicBezTo>
                      <a:cubicBezTo>
                        <a:pt x="1205471" y="1289060"/>
                        <a:pt x="998152" y="1324757"/>
                        <a:pt x="963828" y="1386541"/>
                      </a:cubicBezTo>
                      <a:cubicBezTo>
                        <a:pt x="929504" y="1448325"/>
                        <a:pt x="999525" y="1602097"/>
                        <a:pt x="1079157" y="1600724"/>
                      </a:cubicBezTo>
                      <a:cubicBezTo>
                        <a:pt x="1158789" y="1599351"/>
                        <a:pt x="1338649" y="1497751"/>
                        <a:pt x="1441622" y="1378303"/>
                      </a:cubicBezTo>
                      <a:cubicBezTo>
                        <a:pt x="1544595" y="1258855"/>
                        <a:pt x="1655806" y="1017211"/>
                        <a:pt x="1696995" y="884033"/>
                      </a:cubicBezTo>
                      <a:cubicBezTo>
                        <a:pt x="1738184" y="750855"/>
                        <a:pt x="1736811" y="636898"/>
                        <a:pt x="1688757" y="579233"/>
                      </a:cubicBezTo>
                      <a:cubicBezTo>
                        <a:pt x="1640703" y="521568"/>
                        <a:pt x="1466336" y="569621"/>
                        <a:pt x="1408671" y="538043"/>
                      </a:cubicBezTo>
                      <a:cubicBezTo>
                        <a:pt x="1351006" y="506465"/>
                        <a:pt x="1305698" y="415848"/>
                        <a:pt x="1342768" y="389762"/>
                      </a:cubicBezTo>
                      <a:cubicBezTo>
                        <a:pt x="1379838" y="363676"/>
                        <a:pt x="1544596" y="349946"/>
                        <a:pt x="1631093" y="381524"/>
                      </a:cubicBezTo>
                      <a:cubicBezTo>
                        <a:pt x="1717590" y="413102"/>
                        <a:pt x="1831547" y="481752"/>
                        <a:pt x="1861752" y="579233"/>
                      </a:cubicBezTo>
                      <a:cubicBezTo>
                        <a:pt x="1891957" y="676714"/>
                        <a:pt x="1838411" y="860692"/>
                        <a:pt x="1812325" y="966411"/>
                      </a:cubicBezTo>
                      <a:cubicBezTo>
                        <a:pt x="1786239" y="1072130"/>
                        <a:pt x="1676401" y="1186087"/>
                        <a:pt x="1705233" y="1213546"/>
                      </a:cubicBezTo>
                      <a:cubicBezTo>
                        <a:pt x="1734065" y="1241005"/>
                        <a:pt x="1927655" y="1234141"/>
                        <a:pt x="1985320" y="1131168"/>
                      </a:cubicBezTo>
                      <a:cubicBezTo>
                        <a:pt x="2042985" y="1028195"/>
                        <a:pt x="2070444" y="746735"/>
                        <a:pt x="2051222" y="595708"/>
                      </a:cubicBezTo>
                      <a:cubicBezTo>
                        <a:pt x="2032000" y="444681"/>
                        <a:pt x="1977082" y="289536"/>
                        <a:pt x="1869990" y="225006"/>
                      </a:cubicBezTo>
                      <a:cubicBezTo>
                        <a:pt x="1762898" y="160476"/>
                        <a:pt x="1500660" y="241482"/>
                        <a:pt x="1408671" y="208530"/>
                      </a:cubicBezTo>
                      <a:cubicBezTo>
                        <a:pt x="1316682" y="175578"/>
                        <a:pt x="1253525" y="60248"/>
                        <a:pt x="1318055" y="27297"/>
                      </a:cubicBezTo>
                      <a:cubicBezTo>
                        <a:pt x="1382585" y="-5654"/>
                        <a:pt x="1668163" y="-5654"/>
                        <a:pt x="1795849" y="10822"/>
                      </a:cubicBezTo>
                      <a:cubicBezTo>
                        <a:pt x="1923536" y="27298"/>
                        <a:pt x="2005915" y="2583"/>
                        <a:pt x="2084174" y="126151"/>
                      </a:cubicBezTo>
                      <a:cubicBezTo>
                        <a:pt x="2162434" y="249718"/>
                        <a:pt x="2255795" y="565503"/>
                        <a:pt x="2265406" y="752227"/>
                      </a:cubicBezTo>
                      <a:cubicBezTo>
                        <a:pt x="2275017" y="938951"/>
                        <a:pt x="2221470" y="1143524"/>
                        <a:pt x="2141838" y="1246497"/>
                      </a:cubicBezTo>
                      <a:cubicBezTo>
                        <a:pt x="2062206" y="1349470"/>
                        <a:pt x="1863124" y="1313773"/>
                        <a:pt x="1787611" y="1370065"/>
                      </a:cubicBezTo>
                      <a:cubicBezTo>
                        <a:pt x="1712098" y="1426357"/>
                        <a:pt x="1625600" y="1548552"/>
                        <a:pt x="1688757" y="1584249"/>
                      </a:cubicBezTo>
                      <a:cubicBezTo>
                        <a:pt x="1751914" y="1619946"/>
                        <a:pt x="2038866" y="1703698"/>
                        <a:pt x="2166552" y="1584249"/>
                      </a:cubicBezTo>
                      <a:cubicBezTo>
                        <a:pt x="2294238" y="1464800"/>
                        <a:pt x="2382109" y="1011719"/>
                        <a:pt x="2454876" y="867557"/>
                      </a:cubicBezTo>
                      <a:cubicBezTo>
                        <a:pt x="2527643" y="723395"/>
                        <a:pt x="2520779" y="737125"/>
                        <a:pt x="2603157" y="719276"/>
                      </a:cubicBezTo>
                      <a:cubicBezTo>
                        <a:pt x="2685535" y="701427"/>
                        <a:pt x="2872261" y="749481"/>
                        <a:pt x="2949147" y="760465"/>
                      </a:cubicBezTo>
                      <a:lnTo>
                        <a:pt x="3599935" y="851081"/>
                      </a:lnTo>
                    </a:path>
                  </a:pathLst>
                </a:cu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cxnSp>
              <p:nvCxnSpPr>
                <p:cNvPr id="16" name="Straight Connector 15">
                  <a:extLst>
                    <a:ext uri="{FF2B5EF4-FFF2-40B4-BE49-F238E27FC236}">
                      <a16:creationId xmlns:a16="http://schemas.microsoft.com/office/drawing/2014/main" id="{E790FCCE-D0B8-10CB-49CC-45021563DC9C}"/>
                    </a:ext>
                  </a:extLst>
                </p:cNvPr>
                <p:cNvCxnSpPr>
                  <a:cxnSpLocks/>
                  <a:endCxn id="17" idx="2"/>
                </p:cNvCxnSpPr>
                <p:nvPr/>
              </p:nvCxnSpPr>
              <p:spPr>
                <a:xfrm>
                  <a:off x="2711952" y="5896338"/>
                  <a:ext cx="1044277"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5AE6FE99-3A11-C6FD-976F-1567D8084421}"/>
                    </a:ext>
                  </a:extLst>
                </p:cNvPr>
                <p:cNvSpPr>
                  <a:spLocks noChangeAspect="1"/>
                </p:cNvSpPr>
                <p:nvPr/>
              </p:nvSpPr>
              <p:spPr>
                <a:xfrm>
                  <a:off x="3756229" y="5871976"/>
                  <a:ext cx="57472" cy="57433"/>
                </a:xfrm>
                <a:prstGeom prst="ellipse">
                  <a:avLst/>
                </a:prstGeom>
                <a:solidFill>
                  <a:schemeClr val="tx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cxnSp>
              <p:nvCxnSpPr>
                <p:cNvPr id="18" name="Straight Connector 17">
                  <a:extLst>
                    <a:ext uri="{FF2B5EF4-FFF2-40B4-BE49-F238E27FC236}">
                      <a16:creationId xmlns:a16="http://schemas.microsoft.com/office/drawing/2014/main" id="{E2FC6C0A-1BEA-3D81-5FF7-2FE82D22C0E4}"/>
                    </a:ext>
                  </a:extLst>
                </p:cNvPr>
                <p:cNvCxnSpPr>
                  <a:cxnSpLocks/>
                </p:cNvCxnSpPr>
                <p:nvPr/>
              </p:nvCxnSpPr>
              <p:spPr>
                <a:xfrm>
                  <a:off x="612783" y="5913535"/>
                  <a:ext cx="53698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8A5771-F7D0-3DCE-FE51-795356814003}"/>
                    </a:ext>
                  </a:extLst>
                </p:cNvPr>
                <p:cNvCxnSpPr>
                  <a:cxnSpLocks/>
                </p:cNvCxnSpPr>
                <p:nvPr/>
              </p:nvCxnSpPr>
              <p:spPr>
                <a:xfrm>
                  <a:off x="926835" y="5340972"/>
                  <a:ext cx="6830" cy="73143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3D0A92E-D19B-C23D-0733-32F633C7085F}"/>
                    </a:ext>
                  </a:extLst>
                </p:cNvPr>
                <p:cNvCxnSpPr>
                  <a:cxnSpLocks/>
                </p:cNvCxnSpPr>
                <p:nvPr/>
              </p:nvCxnSpPr>
              <p:spPr>
                <a:xfrm>
                  <a:off x="920591" y="5340972"/>
                  <a:ext cx="5312411"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2042549-9541-D5B7-685B-60284DF661C7}"/>
                    </a:ext>
                  </a:extLst>
                </p:cNvPr>
                <p:cNvCxnSpPr>
                  <a:cxnSpLocks/>
                </p:cNvCxnSpPr>
                <p:nvPr/>
              </p:nvCxnSpPr>
              <p:spPr>
                <a:xfrm>
                  <a:off x="5056714" y="5661766"/>
                  <a:ext cx="0" cy="31524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C9E8611C-944A-98DF-A814-7D3980F3D40A}"/>
                    </a:ext>
                  </a:extLst>
                </p:cNvPr>
                <p:cNvGrpSpPr/>
                <p:nvPr/>
              </p:nvGrpSpPr>
              <p:grpSpPr>
                <a:xfrm>
                  <a:off x="5028536" y="5321845"/>
                  <a:ext cx="57472" cy="341268"/>
                  <a:chOff x="7832189" y="1468658"/>
                  <a:chExt cx="130463" cy="774691"/>
                </a:xfrm>
              </p:grpSpPr>
              <p:cxnSp>
                <p:nvCxnSpPr>
                  <p:cNvPr id="73" name="Straight Connector 72">
                    <a:extLst>
                      <a:ext uri="{FF2B5EF4-FFF2-40B4-BE49-F238E27FC236}">
                        <a16:creationId xmlns:a16="http://schemas.microsoft.com/office/drawing/2014/main" id="{8EB0FEA9-8A6A-3D0A-5663-CAA25CF33959}"/>
                      </a:ext>
                    </a:extLst>
                  </p:cNvPr>
                  <p:cNvCxnSpPr>
                    <a:cxnSpLocks/>
                  </p:cNvCxnSpPr>
                  <p:nvPr/>
                </p:nvCxnSpPr>
                <p:spPr>
                  <a:xfrm>
                    <a:off x="7893714" y="1527734"/>
                    <a:ext cx="0" cy="715615"/>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4" name="Oval 73">
                    <a:extLst>
                      <a:ext uri="{FF2B5EF4-FFF2-40B4-BE49-F238E27FC236}">
                        <a16:creationId xmlns:a16="http://schemas.microsoft.com/office/drawing/2014/main" id="{8560D44E-1358-DB5D-B0C2-0C39C4E037CF}"/>
                      </a:ext>
                    </a:extLst>
                  </p:cNvPr>
                  <p:cNvSpPr>
                    <a:spLocks noChangeAspect="1"/>
                  </p:cNvSpPr>
                  <p:nvPr/>
                </p:nvSpPr>
                <p:spPr>
                  <a:xfrm>
                    <a:off x="7832189" y="1468658"/>
                    <a:ext cx="130463" cy="130376"/>
                  </a:xfrm>
                  <a:prstGeom prst="ellipse">
                    <a:avLst/>
                  </a:prstGeom>
                  <a:solidFill>
                    <a:schemeClr val="bg1"/>
                  </a:solidFill>
                  <a:ln w="222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grpSp>
            <p:grpSp>
              <p:nvGrpSpPr>
                <p:cNvPr id="23" name="Group 22">
                  <a:extLst>
                    <a:ext uri="{FF2B5EF4-FFF2-40B4-BE49-F238E27FC236}">
                      <a16:creationId xmlns:a16="http://schemas.microsoft.com/office/drawing/2014/main" id="{3EA2CB03-6A31-DC92-6625-DB34B31F936D}"/>
                    </a:ext>
                  </a:extLst>
                </p:cNvPr>
                <p:cNvGrpSpPr/>
                <p:nvPr/>
              </p:nvGrpSpPr>
              <p:grpSpPr>
                <a:xfrm rot="18900000">
                  <a:off x="4912753" y="5385704"/>
                  <a:ext cx="57472" cy="342849"/>
                  <a:chOff x="7846657" y="1465069"/>
                  <a:chExt cx="130463" cy="778280"/>
                </a:xfrm>
                <a:solidFill>
                  <a:schemeClr val="tx1"/>
                </a:solidFill>
              </p:grpSpPr>
              <p:cxnSp>
                <p:nvCxnSpPr>
                  <p:cNvPr id="71" name="Straight Connector 70">
                    <a:extLst>
                      <a:ext uri="{FF2B5EF4-FFF2-40B4-BE49-F238E27FC236}">
                        <a16:creationId xmlns:a16="http://schemas.microsoft.com/office/drawing/2014/main" id="{057F3926-79C9-2BF7-0663-D14CE17A9B6B}"/>
                      </a:ext>
                    </a:extLst>
                  </p:cNvPr>
                  <p:cNvCxnSpPr>
                    <a:cxnSpLocks/>
                  </p:cNvCxnSpPr>
                  <p:nvPr/>
                </p:nvCxnSpPr>
                <p:spPr>
                  <a:xfrm>
                    <a:off x="7906622" y="1527733"/>
                    <a:ext cx="0" cy="715616"/>
                  </a:xfrm>
                  <a:prstGeom prst="line">
                    <a:avLst/>
                  </a:prstGeom>
                  <a:grpFill/>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Oval 71">
                    <a:extLst>
                      <a:ext uri="{FF2B5EF4-FFF2-40B4-BE49-F238E27FC236}">
                        <a16:creationId xmlns:a16="http://schemas.microsoft.com/office/drawing/2014/main" id="{CE3637B1-7E02-41FC-0A76-0C5C3A2F0683}"/>
                      </a:ext>
                    </a:extLst>
                  </p:cNvPr>
                  <p:cNvSpPr>
                    <a:spLocks noChangeAspect="1"/>
                  </p:cNvSpPr>
                  <p:nvPr/>
                </p:nvSpPr>
                <p:spPr>
                  <a:xfrm>
                    <a:off x="7846657" y="1465069"/>
                    <a:ext cx="130463" cy="130376"/>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grpSp>
            <p:sp>
              <p:nvSpPr>
                <p:cNvPr id="24" name="TextBox 23">
                  <a:extLst>
                    <a:ext uri="{FF2B5EF4-FFF2-40B4-BE49-F238E27FC236}">
                      <a16:creationId xmlns:a16="http://schemas.microsoft.com/office/drawing/2014/main" id="{445BD938-BBEF-B9E2-8DF7-43EDDA2E740B}"/>
                    </a:ext>
                  </a:extLst>
                </p:cNvPr>
                <p:cNvSpPr txBox="1"/>
                <p:nvPr/>
              </p:nvSpPr>
              <p:spPr>
                <a:xfrm>
                  <a:off x="1244195" y="5412658"/>
                  <a:ext cx="1134997" cy="274395"/>
                </a:xfrm>
                <a:prstGeom prst="rect">
                  <a:avLst/>
                </a:prstGeom>
                <a:noFill/>
                <a:ln>
                  <a:noFill/>
                </a:ln>
              </p:spPr>
              <p:txBody>
                <a:bodyPr wrap="none" rtlCol="0">
                  <a:spAutoFit/>
                </a:bodyPr>
                <a:lstStyle/>
                <a:p>
                  <a:r>
                    <a:rPr lang="en-US" sz="1050" i="1" dirty="0">
                      <a:latin typeface="LM Roman 12" panose="00000500000000000000" pitchFamily="50" charset="0"/>
                    </a:rPr>
                    <a:t>folded Ig states</a:t>
                  </a:r>
                </a:p>
              </p:txBody>
            </p:sp>
            <p:sp>
              <p:nvSpPr>
                <p:cNvPr id="25" name="TextBox 24">
                  <a:extLst>
                    <a:ext uri="{FF2B5EF4-FFF2-40B4-BE49-F238E27FC236}">
                      <a16:creationId xmlns:a16="http://schemas.microsoft.com/office/drawing/2014/main" id="{1D439394-0430-AC6C-818E-59E3D8EEF72A}"/>
                    </a:ext>
                  </a:extLst>
                </p:cNvPr>
                <p:cNvSpPr txBox="1"/>
                <p:nvPr/>
              </p:nvSpPr>
              <p:spPr>
                <a:xfrm>
                  <a:off x="2661779" y="5403368"/>
                  <a:ext cx="1060509" cy="274395"/>
                </a:xfrm>
                <a:prstGeom prst="rect">
                  <a:avLst/>
                </a:prstGeom>
                <a:noFill/>
                <a:ln>
                  <a:noFill/>
                </a:ln>
              </p:spPr>
              <p:txBody>
                <a:bodyPr wrap="none" rtlCol="0">
                  <a:spAutoFit/>
                </a:bodyPr>
                <a:lstStyle/>
                <a:p>
                  <a:r>
                    <a:rPr lang="en-US" sz="1050" i="1" dirty="0">
                      <a:latin typeface="LM Roman 12" panose="00000500000000000000" pitchFamily="50" charset="0"/>
                    </a:rPr>
                    <a:t>unfolded state</a:t>
                  </a:r>
                </a:p>
              </p:txBody>
            </p:sp>
            <p:sp>
              <p:nvSpPr>
                <p:cNvPr id="26" name="TextBox 25">
                  <a:extLst>
                    <a:ext uri="{FF2B5EF4-FFF2-40B4-BE49-F238E27FC236}">
                      <a16:creationId xmlns:a16="http://schemas.microsoft.com/office/drawing/2014/main" id="{D5FE6D22-D9F7-E42C-36CF-3A3B2286DEFB}"/>
                    </a:ext>
                  </a:extLst>
                </p:cNvPr>
                <p:cNvSpPr txBox="1"/>
                <p:nvPr/>
              </p:nvSpPr>
              <p:spPr>
                <a:xfrm>
                  <a:off x="5054862" y="5334973"/>
                  <a:ext cx="1141926" cy="432380"/>
                </a:xfrm>
                <a:prstGeom prst="rect">
                  <a:avLst/>
                </a:prstGeom>
                <a:noFill/>
              </p:spPr>
              <p:txBody>
                <a:bodyPr wrap="none" rtlCol="0">
                  <a:spAutoFit/>
                </a:bodyPr>
                <a:lstStyle/>
                <a:p>
                  <a:r>
                    <a:rPr lang="en-US" sz="1000" dirty="0">
                      <a:latin typeface="LM Roman 12" panose="00000500000000000000" pitchFamily="50" charset="0"/>
                    </a:rPr>
                    <a:t>Ca</a:t>
                  </a:r>
                  <a:r>
                    <a:rPr lang="en-US" sz="1000" baseline="30000" dirty="0">
                      <a:latin typeface="LM Roman 12" panose="00000500000000000000" pitchFamily="50" charset="0"/>
                    </a:rPr>
                    <a:t>2+</a:t>
                  </a:r>
                  <a:r>
                    <a:rPr lang="en-US" sz="1000" dirty="0">
                      <a:latin typeface="LM Roman 12" panose="00000500000000000000" pitchFamily="50" charset="0"/>
                    </a:rPr>
                    <a:t>-dependent</a:t>
                  </a:r>
                  <a:br>
                    <a:rPr lang="en-US" sz="1000" dirty="0">
                      <a:latin typeface="LM Roman 12" panose="00000500000000000000" pitchFamily="50" charset="0"/>
                    </a:rPr>
                  </a:br>
                  <a:r>
                    <a:rPr lang="en-US" sz="1000" dirty="0">
                      <a:latin typeface="LM Roman 12" panose="00000500000000000000" pitchFamily="50" charset="0"/>
                    </a:rPr>
                    <a:t>association</a:t>
                  </a:r>
                </a:p>
              </p:txBody>
            </p:sp>
            <p:cxnSp>
              <p:nvCxnSpPr>
                <p:cNvPr id="27" name="Straight Connector 26">
                  <a:extLst>
                    <a:ext uri="{FF2B5EF4-FFF2-40B4-BE49-F238E27FC236}">
                      <a16:creationId xmlns:a16="http://schemas.microsoft.com/office/drawing/2014/main" id="{0807D6AF-D0A1-0CA9-2646-C63E621E81D5}"/>
                    </a:ext>
                  </a:extLst>
                </p:cNvPr>
                <p:cNvCxnSpPr>
                  <a:cxnSpLocks/>
                </p:cNvCxnSpPr>
                <p:nvPr/>
              </p:nvCxnSpPr>
              <p:spPr>
                <a:xfrm flipV="1">
                  <a:off x="5189412" y="5889922"/>
                  <a:ext cx="424439"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B3AFBADA-48E0-2FEE-59E3-B452D5611233}"/>
                    </a:ext>
                  </a:extLst>
                </p:cNvPr>
                <p:cNvGrpSpPr/>
                <p:nvPr/>
              </p:nvGrpSpPr>
              <p:grpSpPr>
                <a:xfrm>
                  <a:off x="5615740" y="5825923"/>
                  <a:ext cx="407863" cy="143161"/>
                  <a:chOff x="4962260" y="3796575"/>
                  <a:chExt cx="1056873" cy="370965"/>
                </a:xfrm>
              </p:grpSpPr>
              <p:cxnSp>
                <p:nvCxnSpPr>
                  <p:cNvPr id="64" name="Straight Connector 63">
                    <a:extLst>
                      <a:ext uri="{FF2B5EF4-FFF2-40B4-BE49-F238E27FC236}">
                        <a16:creationId xmlns:a16="http://schemas.microsoft.com/office/drawing/2014/main" id="{AC4C7C2C-75AE-5004-3AD2-DB17C45F9AEB}"/>
                      </a:ext>
                    </a:extLst>
                  </p:cNvPr>
                  <p:cNvCxnSpPr>
                    <a:cxnSpLocks/>
                  </p:cNvCxnSpPr>
                  <p:nvPr/>
                </p:nvCxnSpPr>
                <p:spPr>
                  <a:xfrm flipV="1">
                    <a:off x="4962260" y="3796575"/>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C6DF516-AEEC-B11D-EECE-199BAA1A8CDD}"/>
                      </a:ext>
                    </a:extLst>
                  </p:cNvPr>
                  <p:cNvCxnSpPr>
                    <a:cxnSpLocks/>
                  </p:cNvCxnSpPr>
                  <p:nvPr/>
                </p:nvCxnSpPr>
                <p:spPr>
                  <a:xfrm flipH="1" flipV="1">
                    <a:off x="5051080" y="3801780"/>
                    <a:ext cx="160559"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2F3163E-FEB9-FB8F-C901-DE79E9710DBD}"/>
                      </a:ext>
                    </a:extLst>
                  </p:cNvPr>
                  <p:cNvCxnSpPr>
                    <a:cxnSpLocks/>
                  </p:cNvCxnSpPr>
                  <p:nvPr/>
                </p:nvCxnSpPr>
                <p:spPr>
                  <a:xfrm flipH="1">
                    <a:off x="5207995"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986BD48-086C-8FE9-41EC-5DA403EA7261}"/>
                      </a:ext>
                    </a:extLst>
                  </p:cNvPr>
                  <p:cNvCxnSpPr>
                    <a:cxnSpLocks/>
                  </p:cNvCxnSpPr>
                  <p:nvPr/>
                </p:nvCxnSpPr>
                <p:spPr>
                  <a:xfrm flipH="1" flipV="1">
                    <a:off x="5386722"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63F3047-19D9-C0F6-424C-256D8310BB6C}"/>
                      </a:ext>
                    </a:extLst>
                  </p:cNvPr>
                  <p:cNvCxnSpPr>
                    <a:cxnSpLocks/>
                  </p:cNvCxnSpPr>
                  <p:nvPr/>
                </p:nvCxnSpPr>
                <p:spPr>
                  <a:xfrm flipH="1">
                    <a:off x="5565581"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36125D7-D0D1-77CF-E1E6-31276F26B3E1}"/>
                      </a:ext>
                    </a:extLst>
                  </p:cNvPr>
                  <p:cNvCxnSpPr>
                    <a:cxnSpLocks/>
                  </p:cNvCxnSpPr>
                  <p:nvPr/>
                </p:nvCxnSpPr>
                <p:spPr>
                  <a:xfrm flipH="1" flipV="1">
                    <a:off x="5747024"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D93B665-9614-6E5E-EDE5-076801737672}"/>
                      </a:ext>
                    </a:extLst>
                  </p:cNvPr>
                  <p:cNvCxnSpPr>
                    <a:cxnSpLocks/>
                  </p:cNvCxnSpPr>
                  <p:nvPr/>
                </p:nvCxnSpPr>
                <p:spPr>
                  <a:xfrm flipV="1">
                    <a:off x="5927693" y="3984660"/>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739DF6BA-6CE1-7D62-9D06-CE04F0A8E248}"/>
                    </a:ext>
                  </a:extLst>
                </p:cNvPr>
                <p:cNvCxnSpPr>
                  <a:cxnSpLocks/>
                  <a:endCxn id="45" idx="2"/>
                </p:cNvCxnSpPr>
                <p:nvPr/>
              </p:nvCxnSpPr>
              <p:spPr>
                <a:xfrm flipV="1">
                  <a:off x="6020783" y="5895253"/>
                  <a:ext cx="472167" cy="124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BF2964D-A981-E362-9D6F-C3F2EDE4C99D}"/>
                    </a:ext>
                  </a:extLst>
                </p:cNvPr>
                <p:cNvSpPr txBox="1"/>
                <p:nvPr/>
              </p:nvSpPr>
              <p:spPr>
                <a:xfrm>
                  <a:off x="5491997" y="6022293"/>
                  <a:ext cx="792343" cy="432380"/>
                </a:xfrm>
                <a:prstGeom prst="rect">
                  <a:avLst/>
                </a:prstGeom>
                <a:noFill/>
                <a:ln>
                  <a:noFill/>
                </a:ln>
              </p:spPr>
              <p:txBody>
                <a:bodyPr wrap="square" rtlCol="0">
                  <a:spAutoFit/>
                </a:bodyPr>
                <a:lstStyle/>
                <a:p>
                  <a:r>
                    <a:rPr lang="en-US" sz="1000" dirty="0">
                      <a:latin typeface="LM Roman 12" panose="00000500000000000000" pitchFamily="50" charset="0"/>
                    </a:rPr>
                    <a:t>distal Ig </a:t>
                  </a:r>
                  <a:br>
                    <a:rPr lang="en-US" sz="1000" dirty="0">
                      <a:latin typeface="LM Roman 12" panose="00000500000000000000" pitchFamily="50" charset="0"/>
                    </a:rPr>
                  </a:br>
                  <a:r>
                    <a:rPr lang="en-US" sz="1000" dirty="0">
                      <a:latin typeface="LM Roman 12" panose="00000500000000000000" pitchFamily="50" charset="0"/>
                    </a:rPr>
                    <a:t>domain</a:t>
                  </a:r>
                </a:p>
              </p:txBody>
            </p:sp>
            <p:sp>
              <p:nvSpPr>
                <p:cNvPr id="31" name="TextBox 30">
                  <a:extLst>
                    <a:ext uri="{FF2B5EF4-FFF2-40B4-BE49-F238E27FC236}">
                      <a16:creationId xmlns:a16="http://schemas.microsoft.com/office/drawing/2014/main" id="{ABE47BBB-DBF6-BDAC-E98A-315A05011B38}"/>
                    </a:ext>
                  </a:extLst>
                </p:cNvPr>
                <p:cNvSpPr txBox="1"/>
                <p:nvPr/>
              </p:nvSpPr>
              <p:spPr>
                <a:xfrm>
                  <a:off x="1738918" y="6022293"/>
                  <a:ext cx="1975157" cy="266079"/>
                </a:xfrm>
                <a:prstGeom prst="rect">
                  <a:avLst/>
                </a:prstGeom>
                <a:noFill/>
                <a:ln>
                  <a:noFill/>
                </a:ln>
              </p:spPr>
              <p:txBody>
                <a:bodyPr wrap="square" rtlCol="0">
                  <a:spAutoFit/>
                </a:bodyPr>
                <a:lstStyle/>
                <a:p>
                  <a:pPr algn="ctr"/>
                  <a:r>
                    <a:rPr lang="en-US" sz="1000" dirty="0">
                      <a:latin typeface="LM Roman 12" panose="00000500000000000000" pitchFamily="50" charset="0"/>
                    </a:rPr>
                    <a:t>proximal Ig domain</a:t>
                  </a:r>
                </a:p>
              </p:txBody>
            </p:sp>
            <p:sp>
              <p:nvSpPr>
                <p:cNvPr id="32" name="TextBox 31">
                  <a:extLst>
                    <a:ext uri="{FF2B5EF4-FFF2-40B4-BE49-F238E27FC236}">
                      <a16:creationId xmlns:a16="http://schemas.microsoft.com/office/drawing/2014/main" id="{93A443E8-6F99-A3F6-E24C-5009779FEEDD}"/>
                    </a:ext>
                  </a:extLst>
                </p:cNvPr>
                <p:cNvSpPr txBox="1"/>
                <p:nvPr/>
              </p:nvSpPr>
              <p:spPr>
                <a:xfrm>
                  <a:off x="3294076" y="5061843"/>
                  <a:ext cx="523499" cy="282710"/>
                </a:xfrm>
                <a:prstGeom prst="rect">
                  <a:avLst/>
                </a:prstGeom>
                <a:noFill/>
                <a:ln>
                  <a:noFill/>
                </a:ln>
              </p:spPr>
              <p:txBody>
                <a:bodyPr wrap="none" rtlCol="0">
                  <a:spAutoFit/>
                </a:bodyPr>
                <a:lstStyle/>
                <a:p>
                  <a:r>
                    <a:rPr lang="en-US" sz="1100" dirty="0">
                      <a:latin typeface="LM Roman 12" panose="00000500000000000000" pitchFamily="50" charset="0"/>
                    </a:rPr>
                    <a:t>actin</a:t>
                  </a:r>
                </a:p>
              </p:txBody>
            </p:sp>
            <p:sp>
              <p:nvSpPr>
                <p:cNvPr id="33" name="TextBox 32">
                  <a:extLst>
                    <a:ext uri="{FF2B5EF4-FFF2-40B4-BE49-F238E27FC236}">
                      <a16:creationId xmlns:a16="http://schemas.microsoft.com/office/drawing/2014/main" id="{27763EE4-5462-BA90-E4A4-008B81B8246E}"/>
                    </a:ext>
                  </a:extLst>
                </p:cNvPr>
                <p:cNvSpPr txBox="1"/>
                <p:nvPr/>
              </p:nvSpPr>
              <p:spPr>
                <a:xfrm rot="16200000">
                  <a:off x="499608" y="5275130"/>
                  <a:ext cx="603184" cy="282710"/>
                </a:xfrm>
                <a:prstGeom prst="rect">
                  <a:avLst/>
                </a:prstGeom>
                <a:noFill/>
                <a:ln>
                  <a:noFill/>
                </a:ln>
              </p:spPr>
              <p:txBody>
                <a:bodyPr wrap="none" rtlCol="0">
                  <a:spAutoFit/>
                </a:bodyPr>
                <a:lstStyle/>
                <a:p>
                  <a:r>
                    <a:rPr lang="en-US" sz="1100" dirty="0">
                      <a:latin typeface="LM Roman 12" panose="00000500000000000000" pitchFamily="50" charset="0"/>
                    </a:rPr>
                    <a:t>Z disk</a:t>
                  </a:r>
                </a:p>
              </p:txBody>
            </p:sp>
            <p:sp>
              <p:nvSpPr>
                <p:cNvPr id="34" name="Rectangle 33">
                  <a:extLst>
                    <a:ext uri="{FF2B5EF4-FFF2-40B4-BE49-F238E27FC236}">
                      <a16:creationId xmlns:a16="http://schemas.microsoft.com/office/drawing/2014/main" id="{E8954215-8B3C-1F0E-34CE-4915272F6A8A}"/>
                    </a:ext>
                  </a:extLst>
                </p:cNvPr>
                <p:cNvSpPr/>
                <p:nvPr/>
              </p:nvSpPr>
              <p:spPr>
                <a:xfrm>
                  <a:off x="4867258" y="5824031"/>
                  <a:ext cx="372788" cy="155144"/>
                </a:xfrm>
                <a:prstGeom prst="rect">
                  <a:avLst/>
                </a:prstGeom>
                <a:solidFill>
                  <a:schemeClr val="bg1"/>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35" name="TextBox 34">
                  <a:extLst>
                    <a:ext uri="{FF2B5EF4-FFF2-40B4-BE49-F238E27FC236}">
                      <a16:creationId xmlns:a16="http://schemas.microsoft.com/office/drawing/2014/main" id="{C99D99B9-9FC2-98D3-F5FC-5BA3676BD74E}"/>
                    </a:ext>
                  </a:extLst>
                </p:cNvPr>
                <p:cNvSpPr txBox="1"/>
                <p:nvPr/>
              </p:nvSpPr>
              <p:spPr>
                <a:xfrm>
                  <a:off x="4707517" y="6022293"/>
                  <a:ext cx="682869" cy="432380"/>
                </a:xfrm>
                <a:prstGeom prst="rect">
                  <a:avLst/>
                </a:prstGeom>
                <a:noFill/>
                <a:ln>
                  <a:noFill/>
                </a:ln>
              </p:spPr>
              <p:txBody>
                <a:bodyPr wrap="none" rtlCol="0">
                  <a:spAutoFit/>
                </a:bodyPr>
                <a:lstStyle/>
                <a:p>
                  <a:pPr algn="ctr"/>
                  <a:r>
                    <a:rPr lang="en-US" sz="1000" dirty="0">
                      <a:latin typeface="LM Roman 12" panose="00000500000000000000" pitchFamily="50" charset="0"/>
                    </a:rPr>
                    <a:t>PEVK</a:t>
                  </a:r>
                  <a:br>
                    <a:rPr lang="en-US" sz="1000" dirty="0">
                      <a:latin typeface="LM Roman 12" panose="00000500000000000000" pitchFamily="50" charset="0"/>
                    </a:rPr>
                  </a:br>
                  <a:r>
                    <a:rPr lang="en-US" sz="1000" dirty="0">
                      <a:latin typeface="LM Roman 12" panose="00000500000000000000" pitchFamily="50" charset="0"/>
                    </a:rPr>
                    <a:t>segment</a:t>
                  </a:r>
                </a:p>
              </p:txBody>
            </p:sp>
            <p:cxnSp>
              <p:nvCxnSpPr>
                <p:cNvPr id="36" name="Straight Connector 35">
                  <a:extLst>
                    <a:ext uri="{FF2B5EF4-FFF2-40B4-BE49-F238E27FC236}">
                      <a16:creationId xmlns:a16="http://schemas.microsoft.com/office/drawing/2014/main" id="{9522EE98-89BD-702E-D8D4-760AC105A0C0}"/>
                    </a:ext>
                  </a:extLst>
                </p:cNvPr>
                <p:cNvCxnSpPr>
                  <a:cxnSpLocks/>
                </p:cNvCxnSpPr>
                <p:nvPr/>
              </p:nvCxnSpPr>
              <p:spPr>
                <a:xfrm flipV="1">
                  <a:off x="519329" y="6499233"/>
                  <a:ext cx="4193452" cy="11119"/>
                </a:xfrm>
                <a:prstGeom prst="line">
                  <a:avLst/>
                </a:prstGeom>
                <a:ln w="22225">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C10DC0-FDB5-E1E4-A352-2C410F693D92}"/>
                    </a:ext>
                  </a:extLst>
                </p:cNvPr>
                <p:cNvCxnSpPr>
                  <a:cxnSpLocks/>
                </p:cNvCxnSpPr>
                <p:nvPr/>
              </p:nvCxnSpPr>
              <p:spPr>
                <a:xfrm>
                  <a:off x="4740938" y="6490546"/>
                  <a:ext cx="1822104" cy="8687"/>
                </a:xfrm>
                <a:prstGeom prst="line">
                  <a:avLst/>
                </a:prstGeom>
                <a:ln w="22225">
                  <a:solidFill>
                    <a:schemeClr val="tx1"/>
                  </a:solidFill>
                  <a:headEnd type="arrow" w="lg" len="lg"/>
                  <a:tailEnd type="arrow"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8809F8A-E0CE-6638-5B63-6C9C3C3881A0}"/>
                    </a:ext>
                  </a:extLst>
                </p:cNvPr>
                <p:cNvCxnSpPr>
                  <a:cxnSpLocks/>
                  <a:stCxn id="15" idx="47"/>
                </p:cNvCxnSpPr>
                <p:nvPr/>
              </p:nvCxnSpPr>
              <p:spPr>
                <a:xfrm>
                  <a:off x="4564757" y="5893367"/>
                  <a:ext cx="302501" cy="8572"/>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0036F1F-E989-FB2F-F156-364863311BFA}"/>
                    </a:ext>
                  </a:extLst>
                </p:cNvPr>
                <p:cNvCxnSpPr>
                  <a:cxnSpLocks/>
                </p:cNvCxnSpPr>
                <p:nvPr/>
              </p:nvCxnSpPr>
              <p:spPr>
                <a:xfrm>
                  <a:off x="536867" y="4954785"/>
                  <a:ext cx="282794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CEE0051F-9F80-0773-AFDA-3B548143C70C}"/>
                    </a:ext>
                  </a:extLst>
                </p:cNvPr>
                <p:cNvGrpSpPr/>
                <p:nvPr/>
              </p:nvGrpSpPr>
              <p:grpSpPr>
                <a:xfrm>
                  <a:off x="3355238" y="4866611"/>
                  <a:ext cx="1141914" cy="183994"/>
                  <a:chOff x="4962260" y="3796575"/>
                  <a:chExt cx="1056873" cy="370965"/>
                </a:xfrm>
              </p:grpSpPr>
              <p:cxnSp>
                <p:nvCxnSpPr>
                  <p:cNvPr id="57" name="Straight Connector 56">
                    <a:extLst>
                      <a:ext uri="{FF2B5EF4-FFF2-40B4-BE49-F238E27FC236}">
                        <a16:creationId xmlns:a16="http://schemas.microsoft.com/office/drawing/2014/main" id="{24DFCBE0-3732-3595-96A1-D15E930AE7BE}"/>
                      </a:ext>
                    </a:extLst>
                  </p:cNvPr>
                  <p:cNvCxnSpPr>
                    <a:cxnSpLocks/>
                  </p:cNvCxnSpPr>
                  <p:nvPr/>
                </p:nvCxnSpPr>
                <p:spPr>
                  <a:xfrm flipV="1">
                    <a:off x="4962260" y="3796575"/>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E34E80-91C7-15AD-6901-7541B70885EC}"/>
                      </a:ext>
                    </a:extLst>
                  </p:cNvPr>
                  <p:cNvCxnSpPr>
                    <a:cxnSpLocks/>
                  </p:cNvCxnSpPr>
                  <p:nvPr/>
                </p:nvCxnSpPr>
                <p:spPr>
                  <a:xfrm flipH="1" flipV="1">
                    <a:off x="5051080" y="3801780"/>
                    <a:ext cx="160559"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663E16B-05D3-347C-D817-5AD00149FBFB}"/>
                      </a:ext>
                    </a:extLst>
                  </p:cNvPr>
                  <p:cNvCxnSpPr>
                    <a:cxnSpLocks/>
                  </p:cNvCxnSpPr>
                  <p:nvPr/>
                </p:nvCxnSpPr>
                <p:spPr>
                  <a:xfrm flipH="1">
                    <a:off x="5207995"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9437E53-6F41-B2F3-71A3-1B5461CDCED7}"/>
                      </a:ext>
                    </a:extLst>
                  </p:cNvPr>
                  <p:cNvCxnSpPr>
                    <a:cxnSpLocks/>
                  </p:cNvCxnSpPr>
                  <p:nvPr/>
                </p:nvCxnSpPr>
                <p:spPr>
                  <a:xfrm flipH="1" flipV="1">
                    <a:off x="5386722"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4A6495E-5957-8C8B-27C7-7E98D6172B86}"/>
                      </a:ext>
                    </a:extLst>
                  </p:cNvPr>
                  <p:cNvCxnSpPr>
                    <a:cxnSpLocks/>
                  </p:cNvCxnSpPr>
                  <p:nvPr/>
                </p:nvCxnSpPr>
                <p:spPr>
                  <a:xfrm flipH="1">
                    <a:off x="5565581"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951AEDB-86AA-9899-886B-EFD684641B24}"/>
                      </a:ext>
                    </a:extLst>
                  </p:cNvPr>
                  <p:cNvCxnSpPr>
                    <a:cxnSpLocks/>
                  </p:cNvCxnSpPr>
                  <p:nvPr/>
                </p:nvCxnSpPr>
                <p:spPr>
                  <a:xfrm flipH="1" flipV="1">
                    <a:off x="5747024" y="3801780"/>
                    <a:ext cx="182880" cy="36576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100E49D-F3ED-8AF4-8480-BE6CBB0E92A5}"/>
                      </a:ext>
                    </a:extLst>
                  </p:cNvPr>
                  <p:cNvCxnSpPr>
                    <a:cxnSpLocks/>
                  </p:cNvCxnSpPr>
                  <p:nvPr/>
                </p:nvCxnSpPr>
                <p:spPr>
                  <a:xfrm flipV="1">
                    <a:off x="5927693" y="3984660"/>
                    <a:ext cx="91440" cy="18288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Straight Connector 42">
                  <a:extLst>
                    <a:ext uri="{FF2B5EF4-FFF2-40B4-BE49-F238E27FC236}">
                      <a16:creationId xmlns:a16="http://schemas.microsoft.com/office/drawing/2014/main" id="{9D0FA503-9980-6D1F-9C04-4ABA043C0B15}"/>
                    </a:ext>
                  </a:extLst>
                </p:cNvPr>
                <p:cNvCxnSpPr>
                  <a:cxnSpLocks/>
                </p:cNvCxnSpPr>
                <p:nvPr/>
              </p:nvCxnSpPr>
              <p:spPr>
                <a:xfrm>
                  <a:off x="4497152" y="4955370"/>
                  <a:ext cx="2065890" cy="452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Right Triangle 43">
                  <a:extLst>
                    <a:ext uri="{FF2B5EF4-FFF2-40B4-BE49-F238E27FC236}">
                      <a16:creationId xmlns:a16="http://schemas.microsoft.com/office/drawing/2014/main" id="{F1AF9E5A-86FC-0CD6-F98E-EDBDE92530D6}"/>
                    </a:ext>
                  </a:extLst>
                </p:cNvPr>
                <p:cNvSpPr/>
                <p:nvPr/>
              </p:nvSpPr>
              <p:spPr>
                <a:xfrm rot="5400000">
                  <a:off x="6214978" y="5129262"/>
                  <a:ext cx="229733" cy="193688"/>
                </a:xfrm>
                <a:prstGeom prst="rtTriangle">
                  <a:avLst/>
                </a:prstGeom>
                <a:solidFill>
                  <a:srgbClr val="D2D2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sp>
              <p:nvSpPr>
                <p:cNvPr id="45" name="Oval 44">
                  <a:extLst>
                    <a:ext uri="{FF2B5EF4-FFF2-40B4-BE49-F238E27FC236}">
                      <a16:creationId xmlns:a16="http://schemas.microsoft.com/office/drawing/2014/main" id="{3ECB834C-472D-1D51-0261-20657377226E}"/>
                    </a:ext>
                  </a:extLst>
                </p:cNvPr>
                <p:cNvSpPr/>
                <p:nvPr/>
              </p:nvSpPr>
              <p:spPr>
                <a:xfrm>
                  <a:off x="6492950" y="5825161"/>
                  <a:ext cx="140183" cy="14018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cxnSp>
              <p:nvCxnSpPr>
                <p:cNvPr id="46" name="Straight Connector 45">
                  <a:extLst>
                    <a:ext uri="{FF2B5EF4-FFF2-40B4-BE49-F238E27FC236}">
                      <a16:creationId xmlns:a16="http://schemas.microsoft.com/office/drawing/2014/main" id="{94BF84BD-115C-61D7-62F3-00B9BE653A06}"/>
                    </a:ext>
                  </a:extLst>
                </p:cNvPr>
                <p:cNvCxnSpPr>
                  <a:cxnSpLocks/>
                  <a:stCxn id="45" idx="0"/>
                </p:cNvCxnSpPr>
                <p:nvPr/>
              </p:nvCxnSpPr>
              <p:spPr>
                <a:xfrm flipV="1">
                  <a:off x="6563042" y="4954785"/>
                  <a:ext cx="0" cy="87037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E2AC642F-1FDA-6622-28C7-0E4775605E5C}"/>
                    </a:ext>
                  </a:extLst>
                </p:cNvPr>
                <p:cNvSpPr/>
                <p:nvPr/>
              </p:nvSpPr>
              <p:spPr>
                <a:xfrm>
                  <a:off x="470586" y="5837406"/>
                  <a:ext cx="140183" cy="140183"/>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latin typeface="LM Roman 12" panose="00000500000000000000" pitchFamily="50" charset="0"/>
                  </a:endParaRPr>
                </a:p>
              </p:txBody>
            </p:sp>
            <p:cxnSp>
              <p:nvCxnSpPr>
                <p:cNvPr id="48" name="Straight Connector 47">
                  <a:extLst>
                    <a:ext uri="{FF2B5EF4-FFF2-40B4-BE49-F238E27FC236}">
                      <a16:creationId xmlns:a16="http://schemas.microsoft.com/office/drawing/2014/main" id="{EBBF27C1-304A-3D18-D363-448A00B43C56}"/>
                    </a:ext>
                  </a:extLst>
                </p:cNvPr>
                <p:cNvCxnSpPr>
                  <a:cxnSpLocks/>
                  <a:stCxn id="47" idx="0"/>
                </p:cNvCxnSpPr>
                <p:nvPr/>
              </p:nvCxnSpPr>
              <p:spPr>
                <a:xfrm flipH="1" flipV="1">
                  <a:off x="537287" y="4954785"/>
                  <a:ext cx="3391" cy="88262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BA77D250-1087-16D6-2777-92DFFFC2591A}"/>
                        </a:ext>
                      </a:extLst>
                    </p:cNvPr>
                    <p:cNvSpPr txBox="1"/>
                    <p:nvPr/>
                  </p:nvSpPr>
                  <p:spPr>
                    <a:xfrm>
                      <a:off x="2843236" y="4286321"/>
                      <a:ext cx="671183" cy="392260"/>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baseline="-25000" smtClean="0">
                                    <a:latin typeface="Cambria Math" panose="02040503050406030204" pitchFamily="18" charset="0"/>
                                  </a:rPr>
                                </m:ctrlPr>
                              </m:sSubPr>
                              <m:e>
                                <m:r>
                                  <a:rPr lang="en-US" b="0" i="1" baseline="-25000" smtClean="0">
                                    <a:latin typeface="Cambria Math" panose="02040503050406030204" pitchFamily="18" charset="0"/>
                                  </a:rPr>
                                  <m:t>𝛩</m:t>
                                </m:r>
                              </m:e>
                              <m:sub>
                                <m:r>
                                  <a:rPr lang="en-US" b="0" i="1" baseline="-25000" smtClean="0">
                                    <a:latin typeface="Cambria Math" panose="02040503050406030204" pitchFamily="18" charset="0"/>
                                  </a:rPr>
                                  <m:t>𝑠𝑠</m:t>
                                </m:r>
                              </m:sub>
                            </m:sSub>
                          </m:oMath>
                        </m:oMathPara>
                      </a14:m>
                      <a:endParaRPr lang="en-US" i="1" baseline="-25000" dirty="0">
                        <a:latin typeface="LM Roman 12" panose="00000500000000000000" pitchFamily="50" charset="0"/>
                      </a:endParaRPr>
                    </a:p>
                  </p:txBody>
                </p:sp>
              </mc:Choice>
              <mc:Fallback>
                <p:sp>
                  <p:nvSpPr>
                    <p:cNvPr id="49" name="TextBox 48">
                      <a:extLst>
                        <a:ext uri="{FF2B5EF4-FFF2-40B4-BE49-F238E27FC236}">
                          <a16:creationId xmlns:a16="http://schemas.microsoft.com/office/drawing/2014/main" id="{BA77D250-1087-16D6-2777-92DFFFC2591A}"/>
                        </a:ext>
                      </a:extLst>
                    </p:cNvPr>
                    <p:cNvSpPr txBox="1">
                      <a:spLocks noRot="1" noChangeAspect="1" noMove="1" noResize="1" noEditPoints="1" noAdjustHandles="1" noChangeArrowheads="1" noChangeShapeType="1" noTextEdit="1"/>
                    </p:cNvSpPr>
                    <p:nvPr/>
                  </p:nvSpPr>
                  <p:spPr>
                    <a:xfrm>
                      <a:off x="2843236" y="4286321"/>
                      <a:ext cx="671183" cy="392260"/>
                    </a:xfrm>
                    <a:prstGeom prst="rect">
                      <a:avLst/>
                    </a:prstGeom>
                    <a:blipFill>
                      <a:blip r:embed="rId3"/>
                      <a:stretch>
                        <a:fillRect b="-38462"/>
                      </a:stretch>
                    </a:blipFill>
                    <a:ln>
                      <a:noFill/>
                    </a:ln>
                  </p:spPr>
                  <p:txBody>
                    <a:bodyPr/>
                    <a:lstStyle/>
                    <a:p>
                      <a:r>
                        <a:rPr lang="en-US">
                          <a:noFill/>
                        </a:rPr>
                        <a:t> </a:t>
                      </a:r>
                    </a:p>
                  </p:txBody>
                </p:sp>
              </mc:Fallback>
            </mc:AlternateContent>
            <p:sp>
              <p:nvSpPr>
                <p:cNvPr id="50" name="TextBox 49">
                  <a:extLst>
                    <a:ext uri="{FF2B5EF4-FFF2-40B4-BE49-F238E27FC236}">
                      <a16:creationId xmlns:a16="http://schemas.microsoft.com/office/drawing/2014/main" id="{BC4EC832-F27F-073D-58E3-B2277882316D}"/>
                    </a:ext>
                  </a:extLst>
                </p:cNvPr>
                <p:cNvSpPr txBox="1"/>
                <p:nvPr/>
              </p:nvSpPr>
              <p:spPr>
                <a:xfrm>
                  <a:off x="907363" y="4720416"/>
                  <a:ext cx="421237" cy="432380"/>
                </a:xfrm>
                <a:prstGeom prst="rect">
                  <a:avLst/>
                </a:prstGeom>
                <a:gradFill flip="none" rotWithShape="1">
                  <a:gsLst>
                    <a:gs pos="33000">
                      <a:srgbClr val="FFFFFF"/>
                    </a:gs>
                    <a:gs pos="0">
                      <a:schemeClr val="bg1"/>
                    </a:gs>
                    <a:gs pos="82000">
                      <a:schemeClr val="bg1">
                        <a:shade val="100000"/>
                        <a:satMod val="115000"/>
                        <a:alpha val="0"/>
                      </a:schemeClr>
                    </a:gs>
                  </a:gsLst>
                  <a:path path="circle">
                    <a:fillToRect l="50000" t="50000" r="50000" b="50000"/>
                  </a:path>
                  <a:tileRect/>
                </a:gradFill>
              </p:spPr>
              <p:txBody>
                <a:bodyPr wrap="square">
                  <a:spAutoFit/>
                </a:bodyPr>
                <a:lstStyle/>
                <a:p>
                  <a:r>
                    <a:rPr lang="en-US" sz="2000" b="1" dirty="0">
                      <a:ln w="76200">
                        <a:noFill/>
                      </a:ln>
                      <a:latin typeface="LM Roman 12" panose="00000500000000000000" pitchFamily="50" charset="0"/>
                    </a:rPr>
                    <a:t>B</a:t>
                  </a:r>
                  <a:endParaRPr lang="en-US" sz="1200" b="1" dirty="0">
                    <a:ln w="76200">
                      <a:noFill/>
                    </a:ln>
                    <a:latin typeface="LM Roman 12" panose="00000500000000000000" pitchFamily="50" charset="0"/>
                  </a:endParaRPr>
                </a:p>
              </p:txBody>
            </p:sp>
            <p:pic>
              <p:nvPicPr>
                <p:cNvPr id="51" name="Picture 50">
                  <a:extLst>
                    <a:ext uri="{FF2B5EF4-FFF2-40B4-BE49-F238E27FC236}">
                      <a16:creationId xmlns:a16="http://schemas.microsoft.com/office/drawing/2014/main" id="{277F7BAC-B6F4-04EB-1148-A6815F543515}"/>
                    </a:ext>
                  </a:extLst>
                </p:cNvPr>
                <p:cNvPicPr>
                  <a:picLocks noChangeAspect="1"/>
                </p:cNvPicPr>
                <p:nvPr/>
              </p:nvPicPr>
              <p:blipFill rotWithShape="1">
                <a:blip r:embed="rId4"/>
                <a:srcRect b="58175"/>
                <a:stretch/>
              </p:blipFill>
              <p:spPr>
                <a:xfrm>
                  <a:off x="470586" y="3276179"/>
                  <a:ext cx="6162541" cy="1330056"/>
                </a:xfrm>
                <a:prstGeom prst="rect">
                  <a:avLst/>
                </a:prstGeom>
              </p:spPr>
            </p:pic>
            <p:cxnSp>
              <p:nvCxnSpPr>
                <p:cNvPr id="53" name="Straight Connector 52">
                  <a:extLst>
                    <a:ext uri="{FF2B5EF4-FFF2-40B4-BE49-F238E27FC236}">
                      <a16:creationId xmlns:a16="http://schemas.microsoft.com/office/drawing/2014/main" id="{CB32D94D-8080-50CC-1CC2-5BBFD1BB6B29}"/>
                    </a:ext>
                  </a:extLst>
                </p:cNvPr>
                <p:cNvCxnSpPr>
                  <a:cxnSpLocks/>
                </p:cNvCxnSpPr>
                <p:nvPr/>
              </p:nvCxnSpPr>
              <p:spPr>
                <a:xfrm flipH="1">
                  <a:off x="503941" y="4098017"/>
                  <a:ext cx="127982" cy="841754"/>
                </a:xfrm>
                <a:prstGeom prst="line">
                  <a:avLst/>
                </a:prstGeom>
                <a:ln w="38100">
                  <a:prstDash val="sysDash"/>
                </a:ln>
              </p:spPr>
              <p:style>
                <a:lnRef idx="1">
                  <a:schemeClr val="dk1"/>
                </a:lnRef>
                <a:fillRef idx="0">
                  <a:schemeClr val="dk1"/>
                </a:fillRef>
                <a:effectRef idx="0">
                  <a:schemeClr val="dk1"/>
                </a:effectRef>
                <a:fontRef idx="minor">
                  <a:schemeClr val="tx1"/>
                </a:fontRef>
              </p:style>
            </p:cxnSp>
            <p:cxnSp>
              <p:nvCxnSpPr>
                <p:cNvPr id="54" name="Straight Connector 53">
                  <a:extLst>
                    <a:ext uri="{FF2B5EF4-FFF2-40B4-BE49-F238E27FC236}">
                      <a16:creationId xmlns:a16="http://schemas.microsoft.com/office/drawing/2014/main" id="{6E507B37-8077-06D3-4718-58D6468C8910}"/>
                    </a:ext>
                  </a:extLst>
                </p:cNvPr>
                <p:cNvCxnSpPr>
                  <a:cxnSpLocks/>
                </p:cNvCxnSpPr>
                <p:nvPr/>
              </p:nvCxnSpPr>
              <p:spPr>
                <a:xfrm>
                  <a:off x="3576796" y="4126723"/>
                  <a:ext cx="3056331" cy="731136"/>
                </a:xfrm>
                <a:prstGeom prst="line">
                  <a:avLst/>
                </a:prstGeom>
                <a:ln w="38100">
                  <a:prstDash val="sysDash"/>
                </a:ln>
              </p:spPr>
              <p:style>
                <a:lnRef idx="1">
                  <a:schemeClr val="dk1"/>
                </a:lnRef>
                <a:fillRef idx="0">
                  <a:schemeClr val="dk1"/>
                </a:fillRef>
                <a:effectRef idx="0">
                  <a:schemeClr val="dk1"/>
                </a:effectRef>
                <a:fontRef idx="minor">
                  <a:schemeClr val="tx1"/>
                </a:fontRef>
              </p:style>
            </p:cxnSp>
          </p:grpSp>
        </p:grpSp>
        <p:sp>
          <p:nvSpPr>
            <p:cNvPr id="78" name="Rectangle: Rounded Corners 77">
              <a:extLst>
                <a:ext uri="{FF2B5EF4-FFF2-40B4-BE49-F238E27FC236}">
                  <a16:creationId xmlns:a16="http://schemas.microsoft.com/office/drawing/2014/main" id="{8034F58E-4956-6AAE-04D6-B0FCBA1DD981}"/>
                </a:ext>
              </a:extLst>
            </p:cNvPr>
            <p:cNvSpPr/>
            <p:nvPr/>
          </p:nvSpPr>
          <p:spPr>
            <a:xfrm>
              <a:off x="1968843" y="3686923"/>
              <a:ext cx="654243" cy="677811"/>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BFC30B3D-C0B2-93EF-A65F-BE7C7FE49BBE}"/>
                </a:ext>
              </a:extLst>
            </p:cNvPr>
            <p:cNvSpPr/>
            <p:nvPr/>
          </p:nvSpPr>
          <p:spPr>
            <a:xfrm>
              <a:off x="4189945" y="5112443"/>
              <a:ext cx="1535783" cy="502719"/>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6" name="Content Placeholder 85">
            <a:extLst>
              <a:ext uri="{FF2B5EF4-FFF2-40B4-BE49-F238E27FC236}">
                <a16:creationId xmlns:a16="http://schemas.microsoft.com/office/drawing/2014/main" id="{101C4EAD-4A19-C026-5060-DB47942C6509}"/>
              </a:ext>
            </a:extLst>
          </p:cNvPr>
          <p:cNvPicPr>
            <a:picLocks noGrp="1" noChangeAspect="1"/>
          </p:cNvPicPr>
          <p:nvPr>
            <p:ph sz="half" idx="2"/>
          </p:nvPr>
        </p:nvPicPr>
        <p:blipFill>
          <a:blip r:embed="rId5"/>
          <a:stretch>
            <a:fillRect/>
          </a:stretch>
        </p:blipFill>
        <p:spPr>
          <a:xfrm>
            <a:off x="6127337" y="2705727"/>
            <a:ext cx="5935797" cy="3402896"/>
          </a:xfrm>
          <a:prstGeom prst="rect">
            <a:avLst/>
          </a:prstGeom>
          <a:ln w="38100">
            <a:solidFill>
              <a:schemeClr val="tx2">
                <a:lumMod val="75000"/>
                <a:lumOff val="25000"/>
              </a:schemeClr>
            </a:solidFill>
          </a:ln>
        </p:spPr>
      </p:pic>
    </p:spTree>
    <p:extLst>
      <p:ext uri="{BB962C8B-B14F-4D97-AF65-F5344CB8AC3E}">
        <p14:creationId xmlns:p14="http://schemas.microsoft.com/office/powerpoint/2010/main" val="3879492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C7C3-3694-0097-9DCB-C855BBBDA140}"/>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5057F1C-B858-43FB-1796-B4411571B2AE}"/>
              </a:ext>
            </a:extLst>
          </p:cNvPr>
          <p:cNvPicPr>
            <a:picLocks noGrp="1" noChangeAspect="1"/>
          </p:cNvPicPr>
          <p:nvPr>
            <p:ph sz="half" idx="2"/>
          </p:nvPr>
        </p:nvPicPr>
        <p:blipFill>
          <a:blip r:embed="rId2"/>
          <a:stretch>
            <a:fillRect/>
          </a:stretch>
        </p:blipFill>
        <p:spPr>
          <a:xfrm>
            <a:off x="6046572" y="1690688"/>
            <a:ext cx="6073346" cy="4048896"/>
          </a:xfrm>
          <a:prstGeom prst="rect">
            <a:avLst/>
          </a:prstGeom>
        </p:spPr>
      </p:pic>
      <p:sp>
        <p:nvSpPr>
          <p:cNvPr id="2" name="Title 1">
            <a:extLst>
              <a:ext uri="{FF2B5EF4-FFF2-40B4-BE49-F238E27FC236}">
                <a16:creationId xmlns:a16="http://schemas.microsoft.com/office/drawing/2014/main" id="{CCD690C9-8927-D640-C447-F486652DD335}"/>
              </a:ext>
            </a:extLst>
          </p:cNvPr>
          <p:cNvSpPr>
            <a:spLocks noGrp="1"/>
          </p:cNvSpPr>
          <p:nvPr>
            <p:ph type="title"/>
          </p:nvPr>
        </p:nvSpPr>
        <p:spPr/>
        <p:txBody>
          <a:bodyPr/>
          <a:lstStyle/>
          <a:p>
            <a:r>
              <a:rPr lang="en-US" dirty="0"/>
              <a:t>Calcium dependent viscoelasticity – model fit</a:t>
            </a:r>
          </a:p>
        </p:txBody>
      </p:sp>
      <p:sp>
        <p:nvSpPr>
          <p:cNvPr id="3" name="Content Placeholder 2">
            <a:extLst>
              <a:ext uri="{FF2B5EF4-FFF2-40B4-BE49-F238E27FC236}">
                <a16:creationId xmlns:a16="http://schemas.microsoft.com/office/drawing/2014/main" id="{94BB9051-992F-A0CC-EF6C-053DDB5A3E51}"/>
              </a:ext>
            </a:extLst>
          </p:cNvPr>
          <p:cNvSpPr>
            <a:spLocks noGrp="1"/>
          </p:cNvSpPr>
          <p:nvPr>
            <p:ph sz="half" idx="1"/>
          </p:nvPr>
        </p:nvSpPr>
        <p:spPr>
          <a:xfrm>
            <a:off x="838200" y="1825625"/>
            <a:ext cx="5093044" cy="4128135"/>
          </a:xfrm>
        </p:spPr>
        <p:txBody>
          <a:bodyPr>
            <a:normAutofit/>
          </a:bodyPr>
          <a:lstStyle/>
          <a:p>
            <a:r>
              <a:rPr lang="en-US" sz="3200" dirty="0"/>
              <a:t>Fitting 10 </a:t>
            </a:r>
            <a:r>
              <a:rPr lang="en-US" sz="3200" b="1" dirty="0"/>
              <a:t>+ 2 </a:t>
            </a:r>
            <a:r>
              <a:rPr lang="en-US" sz="3200" dirty="0"/>
              <a:t>parameters</a:t>
            </a:r>
          </a:p>
          <a:p>
            <a:pPr lvl="1"/>
            <a:r>
              <a:rPr lang="en-US" sz="2800" dirty="0"/>
              <a:t>PEVK attachment and detachment rates</a:t>
            </a:r>
          </a:p>
        </p:txBody>
      </p:sp>
    </p:spTree>
    <p:extLst>
      <p:ext uri="{BB962C8B-B14F-4D97-AF65-F5344CB8AC3E}">
        <p14:creationId xmlns:p14="http://schemas.microsoft.com/office/powerpoint/2010/main" val="2106354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F05726B-CA9E-0B79-AFBD-F30B31A377FA}"/>
              </a:ext>
            </a:extLst>
          </p:cNvPr>
          <p:cNvPicPr>
            <a:picLocks noGrp="1" noChangeAspect="1"/>
          </p:cNvPicPr>
          <p:nvPr>
            <p:ph sz="half" idx="2"/>
          </p:nvPr>
        </p:nvPicPr>
        <p:blipFill>
          <a:blip r:embed="rId3"/>
          <a:stretch>
            <a:fillRect/>
          </a:stretch>
        </p:blipFill>
        <p:spPr>
          <a:xfrm>
            <a:off x="6046572" y="1690688"/>
            <a:ext cx="6073346" cy="4048896"/>
          </a:xfrm>
          <a:prstGeom prst="rect">
            <a:avLst/>
          </a:prstGeom>
        </p:spPr>
      </p:pic>
      <p:sp>
        <p:nvSpPr>
          <p:cNvPr id="2" name="Title 1">
            <a:extLst>
              <a:ext uri="{FF2B5EF4-FFF2-40B4-BE49-F238E27FC236}">
                <a16:creationId xmlns:a16="http://schemas.microsoft.com/office/drawing/2014/main" id="{82BBF63D-13B2-111F-D5F9-BF5AB999DAD9}"/>
              </a:ext>
            </a:extLst>
          </p:cNvPr>
          <p:cNvSpPr>
            <a:spLocks noGrp="1"/>
          </p:cNvSpPr>
          <p:nvPr>
            <p:ph type="title"/>
          </p:nvPr>
        </p:nvSpPr>
        <p:spPr/>
        <p:txBody>
          <a:bodyPr/>
          <a:lstStyle/>
          <a:p>
            <a:r>
              <a:rPr lang="en-US" b="1" dirty="0"/>
              <a:t>Ca dependency parameter reduction: </a:t>
            </a:r>
            <a:br>
              <a:rPr lang="en-US" b="1" dirty="0"/>
            </a:br>
            <a:r>
              <a:rPr lang="en-US" b="1" dirty="0"/>
              <a:t>from 12 to 4</a:t>
            </a:r>
          </a:p>
        </p:txBody>
      </p:sp>
      <p:sp>
        <p:nvSpPr>
          <p:cNvPr id="3" name="Content Placeholder 2">
            <a:extLst>
              <a:ext uri="{FF2B5EF4-FFF2-40B4-BE49-F238E27FC236}">
                <a16:creationId xmlns:a16="http://schemas.microsoft.com/office/drawing/2014/main" id="{12E1CE3F-96C5-C0FF-11D6-77ABEC6A26E7}"/>
              </a:ext>
            </a:extLst>
          </p:cNvPr>
          <p:cNvSpPr>
            <a:spLocks noGrp="1"/>
          </p:cNvSpPr>
          <p:nvPr>
            <p:ph sz="half" idx="1"/>
          </p:nvPr>
        </p:nvSpPr>
        <p:spPr>
          <a:xfrm>
            <a:off x="838200" y="1825625"/>
            <a:ext cx="5208372" cy="5032375"/>
          </a:xfrm>
        </p:spPr>
        <p:txBody>
          <a:bodyPr>
            <a:normAutofit fontScale="62500" lnSpcReduction="20000"/>
          </a:bodyPr>
          <a:lstStyle/>
          <a:p>
            <a:pPr marL="0" indent="0">
              <a:buNone/>
            </a:pPr>
            <a:r>
              <a:rPr lang="en-US" dirty="0"/>
              <a:t>Start with </a:t>
            </a:r>
            <a:r>
              <a:rPr lang="en-US" b="1" dirty="0"/>
              <a:t>the best high-Ca</a:t>
            </a:r>
            <a:r>
              <a:rPr lang="en-US" dirty="0"/>
              <a:t>  fit. </a:t>
            </a:r>
            <a:r>
              <a:rPr lang="en-US" b="1" dirty="0"/>
              <a:t>For each parameter:</a:t>
            </a:r>
            <a:endParaRPr lang="en-US" dirty="0"/>
          </a:p>
          <a:p>
            <a:pPr marL="230188" indent="-230188">
              <a:buFont typeface="+mj-lt"/>
              <a:buAutoNum type="arabicPeriod"/>
            </a:pPr>
            <a:r>
              <a:rPr lang="en-US" dirty="0"/>
              <a:t>Fix it to its </a:t>
            </a:r>
            <a:r>
              <a:rPr lang="en-US" b="1" dirty="0"/>
              <a:t>baseline (relaxed)</a:t>
            </a:r>
            <a:r>
              <a:rPr lang="en-US" dirty="0"/>
              <a:t> value, optimize the remaining free parameters.</a:t>
            </a:r>
          </a:p>
          <a:p>
            <a:pPr marL="461963" lvl="1" indent="-231775">
              <a:buFont typeface="+mj-lt"/>
              <a:buAutoNum type="arabicPeriod"/>
            </a:pPr>
            <a:r>
              <a:rPr lang="en-US" i="1" dirty="0"/>
              <a:t>Acceptable fit</a:t>
            </a:r>
            <a:r>
              <a:rPr lang="en-US" dirty="0"/>
              <a:t> →</a:t>
            </a:r>
          </a:p>
          <a:p>
            <a:pPr marL="914400" lvl="2" indent="-342900">
              <a:buFont typeface="+mj-lt"/>
              <a:buAutoNum type="arabicPeriod"/>
            </a:pPr>
            <a:r>
              <a:rPr lang="en-US" dirty="0"/>
              <a:t>Record this combination as a feasible solution.</a:t>
            </a:r>
          </a:p>
          <a:p>
            <a:pPr marL="914400" lvl="2" indent="-342900">
              <a:buFont typeface="+mj-lt"/>
              <a:buAutoNum type="arabicPeriod"/>
            </a:pPr>
            <a:r>
              <a:rPr lang="en-US" dirty="0"/>
              <a:t>Recurse deeper: try fixing another parameter.</a:t>
            </a:r>
          </a:p>
          <a:p>
            <a:pPr marL="461963" lvl="1" indent="-231775">
              <a:buFont typeface="+mj-lt"/>
              <a:buAutoNum type="arabicPeriod"/>
            </a:pPr>
            <a:r>
              <a:rPr lang="en-US" i="1" dirty="0"/>
              <a:t>Poor fit</a:t>
            </a:r>
            <a:r>
              <a:rPr lang="en-US" dirty="0"/>
              <a:t> →</a:t>
            </a:r>
          </a:p>
          <a:p>
            <a:pPr marL="914400" lvl="2" indent="-342900">
              <a:buFont typeface="+mj-lt"/>
              <a:buAutoNum type="arabicPeriod"/>
            </a:pPr>
            <a:r>
              <a:rPr lang="en-US" dirty="0"/>
              <a:t>Backtrack: relax (unfix) previously fixed parameters as needed.</a:t>
            </a:r>
          </a:p>
          <a:p>
            <a:pPr marL="914400" lvl="2" indent="-342900">
              <a:buFont typeface="+mj-lt"/>
              <a:buAutoNum type="arabicPeriod"/>
            </a:pPr>
            <a:r>
              <a:rPr lang="en-US" dirty="0"/>
              <a:t>Continue search along alternative branches.</a:t>
            </a:r>
          </a:p>
          <a:p>
            <a:pPr marL="230188" indent="-230188">
              <a:buFont typeface="+mj-lt"/>
              <a:buAutoNum type="arabicPeriod"/>
            </a:pPr>
            <a:r>
              <a:rPr lang="en-US" sz="2700" dirty="0"/>
              <a:t>Continue until all feasible subsets have been tested</a:t>
            </a:r>
          </a:p>
          <a:p>
            <a:pPr marL="230188" indent="-230188">
              <a:buFont typeface="+mj-lt"/>
              <a:buAutoNum type="arabicPeriod"/>
            </a:pPr>
            <a:r>
              <a:rPr lang="en-US" dirty="0"/>
              <a:t>Sort by the number of parameters and error</a:t>
            </a:r>
          </a:p>
          <a:p>
            <a:pPr marL="0" indent="0">
              <a:buNone/>
            </a:pPr>
            <a:r>
              <a:rPr lang="en-US" b="1" dirty="0"/>
              <a:t>Outcome:</a:t>
            </a:r>
            <a:r>
              <a:rPr lang="en-US" dirty="0"/>
              <a:t> 5 plausible combinations of 4 parameters:</a:t>
            </a:r>
          </a:p>
          <a:p>
            <a:pPr lvl="1"/>
            <a:r>
              <a:rPr lang="en-US" dirty="0"/>
              <a:t>proximal segment stiffness </a:t>
            </a:r>
            <a:r>
              <a:rPr lang="en-US" b="1" dirty="0" err="1"/>
              <a:t>kp</a:t>
            </a:r>
            <a:r>
              <a:rPr lang="en-US" dirty="0"/>
              <a:t>, </a:t>
            </a:r>
          </a:p>
          <a:p>
            <a:pPr lvl="1"/>
            <a:r>
              <a:rPr lang="en-US" dirty="0"/>
              <a:t>PEVK attachment or detachment rates (</a:t>
            </a:r>
            <a:r>
              <a:rPr lang="en-US" b="1" dirty="0"/>
              <a:t>kA </a:t>
            </a:r>
            <a:r>
              <a:rPr lang="en-US" dirty="0"/>
              <a:t>or </a:t>
            </a:r>
            <a:r>
              <a:rPr lang="en-US" dirty="0" err="1"/>
              <a:t>kD</a:t>
            </a:r>
            <a:r>
              <a:rPr lang="en-US" dirty="0"/>
              <a:t>) and </a:t>
            </a:r>
          </a:p>
          <a:p>
            <a:pPr lvl="1"/>
            <a:r>
              <a:rPr lang="en-US" dirty="0"/>
              <a:t>unfolding rate (either </a:t>
            </a:r>
            <a:r>
              <a:rPr lang="en-US" b="1" dirty="0"/>
              <a:t>αU </a:t>
            </a:r>
            <a:r>
              <a:rPr lang="en-US" dirty="0"/>
              <a:t>or </a:t>
            </a:r>
            <a:r>
              <a:rPr lang="en-US" b="1" dirty="0" err="1"/>
              <a:t>nU</a:t>
            </a:r>
            <a:r>
              <a:rPr lang="en-US" dirty="0"/>
              <a:t>) or proximal chain length–stress exponent np. </a:t>
            </a:r>
          </a:p>
          <a:p>
            <a:pPr marL="0" indent="0">
              <a:buNone/>
            </a:pPr>
            <a:r>
              <a:rPr lang="en-US" dirty="0"/>
              <a:t>The lowest-cost combination: </a:t>
            </a:r>
            <a:r>
              <a:rPr lang="en-US" b="1" dirty="0"/>
              <a:t>kp</a:t>
            </a:r>
            <a:r>
              <a:rPr lang="en-US" b="1" baseline="30000" dirty="0"/>
              <a:t>a)</a:t>
            </a:r>
            <a:r>
              <a:rPr lang="en-US" b="1" dirty="0"/>
              <a:t>, </a:t>
            </a:r>
            <a:r>
              <a:rPr lang="en-US" b="1" dirty="0" err="1"/>
              <a:t>kA</a:t>
            </a:r>
            <a:r>
              <a:rPr lang="en-US" b="1" baseline="30000" dirty="0" err="1"/>
              <a:t>b</a:t>
            </a:r>
            <a:r>
              <a:rPr lang="en-US" b="1" baseline="30000" dirty="0"/>
              <a:t>)</a:t>
            </a:r>
            <a:r>
              <a:rPr lang="en-US" b="1" dirty="0"/>
              <a:t>, αU and </a:t>
            </a:r>
            <a:r>
              <a:rPr lang="en-US" b="1" dirty="0" err="1"/>
              <a:t>nU</a:t>
            </a:r>
            <a:endParaRPr lang="en-US" b="1" dirty="0"/>
          </a:p>
        </p:txBody>
      </p:sp>
      <p:sp>
        <p:nvSpPr>
          <p:cNvPr id="9" name="Rectangle 1">
            <a:extLst>
              <a:ext uri="{FF2B5EF4-FFF2-40B4-BE49-F238E27FC236}">
                <a16:creationId xmlns:a16="http://schemas.microsoft.com/office/drawing/2014/main" id="{A94E1FBD-88F1-127D-7563-E9DAEA00005B}"/>
              </a:ext>
            </a:extLst>
          </p:cNvPr>
          <p:cNvSpPr>
            <a:spLocks noChangeArrowheads="1"/>
          </p:cNvSpPr>
          <p:nvPr/>
        </p:nvSpPr>
        <p:spPr bwMode="auto">
          <a:xfrm>
            <a:off x="6046572" y="5944849"/>
            <a:ext cx="58304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1000" b="0" i="0" u="none" strike="noStrike" cap="none" normalizeH="0" baseline="0" dirty="0">
                <a:ln>
                  <a:noFill/>
                </a:ln>
                <a:solidFill>
                  <a:schemeClr val="tx1"/>
                </a:solidFill>
                <a:effectLst/>
                <a:latin typeface="Aptos" panose="020B0004020202020204" pitchFamily="34" charset="0"/>
              </a:rPr>
              <a:t>a) </a:t>
            </a:r>
            <a:r>
              <a:rPr kumimoji="0" lang="en-US" altLang="en-US" sz="1000" b="1" i="0" u="none" strike="noStrike" cap="none" normalizeH="0" baseline="0" dirty="0" err="1">
                <a:ln>
                  <a:noFill/>
                </a:ln>
                <a:solidFill>
                  <a:schemeClr val="tx1"/>
                </a:solidFill>
                <a:effectLst/>
                <a:latin typeface="Aptos" panose="020B0004020202020204" pitchFamily="34" charset="0"/>
              </a:rPr>
              <a:t>Labeit</a:t>
            </a:r>
            <a:r>
              <a:rPr kumimoji="0" lang="en-US" altLang="en-US" sz="1000" b="1" i="0" u="none" strike="noStrike" cap="none" normalizeH="0" baseline="0" dirty="0">
                <a:ln>
                  <a:noFill/>
                </a:ln>
                <a:solidFill>
                  <a:schemeClr val="tx1"/>
                </a:solidFill>
                <a:effectLst/>
                <a:latin typeface="Aptos" panose="020B0004020202020204" pitchFamily="34" charset="0"/>
              </a:rPr>
              <a:t> </a:t>
            </a:r>
            <a:r>
              <a:rPr kumimoji="0" lang="en-US" altLang="en-US" sz="1000" b="0" i="0" u="none" strike="noStrike" cap="none" normalizeH="0" baseline="0" dirty="0">
                <a:ln>
                  <a:noFill/>
                </a:ln>
                <a:solidFill>
                  <a:schemeClr val="tx1"/>
                </a:solidFill>
                <a:effectLst/>
                <a:latin typeface="Aptos" panose="020B0004020202020204" pitchFamily="34" charset="0"/>
              </a:rPr>
              <a:t>D, et al. Calcium-dependent molecular spring elements in the giant protein titin. PNAS 2003</a:t>
            </a:r>
            <a:br>
              <a:rPr kumimoji="0" lang="en-US" altLang="en-US" sz="1000" b="0" i="0" u="none" strike="noStrike" cap="none" normalizeH="0" baseline="0" dirty="0">
                <a:ln>
                  <a:noFill/>
                </a:ln>
                <a:solidFill>
                  <a:schemeClr val="tx1"/>
                </a:solidFill>
                <a:effectLst/>
                <a:latin typeface="Aptos" panose="020B0004020202020204" pitchFamily="34" charset="0"/>
              </a:rPr>
            </a:br>
            <a:r>
              <a:rPr kumimoji="0" lang="en-US" altLang="en-US" sz="1000" b="0" i="0" u="none" strike="noStrike" cap="none" normalizeH="0" baseline="0" dirty="0">
                <a:ln>
                  <a:noFill/>
                </a:ln>
                <a:solidFill>
                  <a:schemeClr val="tx1"/>
                </a:solidFill>
                <a:effectLst/>
                <a:latin typeface="Aptos" panose="020B0004020202020204" pitchFamily="34" charset="0"/>
              </a:rPr>
              <a:t>b) </a:t>
            </a:r>
            <a:r>
              <a:rPr lang="en-US" sz="1000" b="1" dirty="0">
                <a:latin typeface="Aptos" panose="020B0004020202020204" pitchFamily="34" charset="0"/>
              </a:rPr>
              <a:t>Kulke </a:t>
            </a:r>
            <a:r>
              <a:rPr lang="en-US" sz="1000" dirty="0">
                <a:latin typeface="Aptos" panose="020B0004020202020204" pitchFamily="34" charset="0"/>
              </a:rPr>
              <a:t>et al. Interaction between </a:t>
            </a:r>
            <a:r>
              <a:rPr lang="en-US" sz="1000" dirty="0" err="1">
                <a:latin typeface="Aptos" panose="020B0004020202020204" pitchFamily="34" charset="0"/>
              </a:rPr>
              <a:t>pevk</a:t>
            </a:r>
            <a:r>
              <a:rPr lang="en-US" sz="1000" dirty="0">
                <a:latin typeface="Aptos" panose="020B0004020202020204" pitchFamily="34" charset="0"/>
              </a:rPr>
              <a:t>-titin and actin filaments: (…). Circ Res 2001, </a:t>
            </a:r>
            <a:r>
              <a:rPr lang="en-US" altLang="en-US" sz="1000" b="1" dirty="0" err="1">
                <a:latin typeface="Aptos" panose="020B0004020202020204" pitchFamily="34" charset="0"/>
              </a:rPr>
              <a:t>Squarci</a:t>
            </a:r>
            <a:r>
              <a:rPr lang="en-US" altLang="en-US" sz="1000" b="1" dirty="0">
                <a:latin typeface="Aptos" panose="020B0004020202020204" pitchFamily="34" charset="0"/>
              </a:rPr>
              <a:t> </a:t>
            </a:r>
            <a:r>
              <a:rPr lang="en-US" altLang="en-US" sz="1000" dirty="0">
                <a:latin typeface="Aptos" panose="020B0004020202020204" pitchFamily="34" charset="0"/>
              </a:rPr>
              <a:t>C, et al. Titin activates myosin filaments in skeletal muscle by switching from an extensible spring to a mechanical rectifier. PNAS 2023</a:t>
            </a:r>
          </a:p>
        </p:txBody>
      </p:sp>
    </p:spTree>
    <p:extLst>
      <p:ext uri="{BB962C8B-B14F-4D97-AF65-F5344CB8AC3E}">
        <p14:creationId xmlns:p14="http://schemas.microsoft.com/office/powerpoint/2010/main" val="2495161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FA0FE-50C3-AB72-A090-43AB0A3A8823}"/>
              </a:ext>
            </a:extLst>
          </p:cNvPr>
          <p:cNvSpPr>
            <a:spLocks noGrp="1"/>
          </p:cNvSpPr>
          <p:nvPr>
            <p:ph type="title"/>
          </p:nvPr>
        </p:nvSpPr>
        <p:spPr/>
        <p:txBody>
          <a:bodyPr/>
          <a:lstStyle/>
          <a:p>
            <a:r>
              <a:rPr lang="en-US" dirty="0"/>
              <a:t>Fitting the </a:t>
            </a:r>
            <a:r>
              <a:rPr lang="en-US" dirty="0" err="1"/>
              <a:t>pCa</a:t>
            </a:r>
            <a:r>
              <a:rPr lang="en-US" dirty="0"/>
              <a:t> – force dependency</a:t>
            </a:r>
          </a:p>
        </p:txBody>
      </p:sp>
      <p:pic>
        <p:nvPicPr>
          <p:cNvPr id="8" name="Content Placeholder 7">
            <a:extLst>
              <a:ext uri="{FF2B5EF4-FFF2-40B4-BE49-F238E27FC236}">
                <a16:creationId xmlns:a16="http://schemas.microsoft.com/office/drawing/2014/main" id="{A0D61FC3-A3F3-1892-1429-B942877FB985}"/>
              </a:ext>
            </a:extLst>
          </p:cNvPr>
          <p:cNvPicPr>
            <a:picLocks noGrp="1" noChangeAspect="1"/>
          </p:cNvPicPr>
          <p:nvPr>
            <p:ph sz="half" idx="1"/>
          </p:nvPr>
        </p:nvPicPr>
        <p:blipFill>
          <a:blip r:embed="rId3"/>
          <a:srcRect l="2213" r="6022"/>
          <a:stretch>
            <a:fillRect/>
          </a:stretch>
        </p:blipFill>
        <p:spPr>
          <a:xfrm>
            <a:off x="6694415" y="3429000"/>
            <a:ext cx="4261607" cy="3096053"/>
          </a:xfrm>
          <a:prstGeom prst="rect">
            <a:avLst/>
          </a:prstGeom>
          <a:ln w="38100">
            <a:solidFill>
              <a:srgbClr val="C00000"/>
            </a:solidFill>
          </a:ln>
        </p:spPr>
      </p:pic>
      <p:pic>
        <p:nvPicPr>
          <p:cNvPr id="6" name="Content Placeholder 5">
            <a:extLst>
              <a:ext uri="{FF2B5EF4-FFF2-40B4-BE49-F238E27FC236}">
                <a16:creationId xmlns:a16="http://schemas.microsoft.com/office/drawing/2014/main" id="{214AC689-ECA8-7B15-743E-69DC428D5E37}"/>
              </a:ext>
            </a:extLst>
          </p:cNvPr>
          <p:cNvPicPr>
            <a:picLocks noGrp="1" noChangeAspect="1"/>
          </p:cNvPicPr>
          <p:nvPr>
            <p:ph sz="half" idx="2"/>
          </p:nvPr>
        </p:nvPicPr>
        <p:blipFill>
          <a:blip r:embed="rId4"/>
          <a:srcRect l="3672" r="6912"/>
          <a:stretch>
            <a:fillRect/>
          </a:stretch>
        </p:blipFill>
        <p:spPr>
          <a:xfrm>
            <a:off x="1577129" y="3429000"/>
            <a:ext cx="4152551" cy="3096053"/>
          </a:xfrm>
          <a:prstGeom prst="rect">
            <a:avLst/>
          </a:prstGeom>
          <a:ln w="38100">
            <a:solidFill>
              <a:schemeClr val="tx2">
                <a:lumMod val="75000"/>
                <a:lumOff val="25000"/>
              </a:schemeClr>
            </a:solidFill>
          </a:ln>
        </p:spPr>
      </p:pic>
      <p:sp>
        <p:nvSpPr>
          <p:cNvPr id="11" name="Content Placeholder 4">
            <a:extLst>
              <a:ext uri="{FF2B5EF4-FFF2-40B4-BE49-F238E27FC236}">
                <a16:creationId xmlns:a16="http://schemas.microsoft.com/office/drawing/2014/main" id="{8FA91A58-4351-CD68-8E16-B91841F3F148}"/>
              </a:ext>
            </a:extLst>
          </p:cNvPr>
          <p:cNvSpPr txBox="1">
            <a:spLocks/>
          </p:cNvSpPr>
          <p:nvPr/>
        </p:nvSpPr>
        <p:spPr>
          <a:xfrm>
            <a:off x="838199" y="1825625"/>
            <a:ext cx="10200503" cy="2054397"/>
          </a:xfrm>
          <a:prstGeom prst="rect">
            <a:avLst/>
          </a:prstGeom>
          <a:ln>
            <a:noFill/>
          </a:ln>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chemeClr val="tx2">
                    <a:lumMod val="75000"/>
                    <a:lumOff val="25000"/>
                  </a:schemeClr>
                </a:solidFill>
              </a:rPr>
              <a:t>Fitting intermediate </a:t>
            </a:r>
            <a:r>
              <a:rPr lang="en-US" b="1" dirty="0" err="1">
                <a:solidFill>
                  <a:schemeClr val="tx2">
                    <a:lumMod val="75000"/>
                    <a:lumOff val="25000"/>
                  </a:schemeClr>
                </a:solidFill>
              </a:rPr>
              <a:t>pCa</a:t>
            </a:r>
            <a:r>
              <a:rPr lang="en-US" b="1" dirty="0">
                <a:solidFill>
                  <a:schemeClr val="tx2">
                    <a:lumMod val="75000"/>
                    <a:lumOff val="25000"/>
                  </a:schemeClr>
                </a:solidFill>
              </a:rPr>
              <a:t> levels</a:t>
            </a:r>
            <a:r>
              <a:rPr lang="en-US" dirty="0"/>
              <a:t>, using the selected subset</a:t>
            </a:r>
          </a:p>
          <a:p>
            <a:pPr lvl="1"/>
            <a:r>
              <a:rPr lang="en-US" dirty="0"/>
              <a:t>Ensuring monotonicity between relaxed and high-Ca (</a:t>
            </a:r>
            <a:r>
              <a:rPr lang="en-US" dirty="0" err="1"/>
              <a:t>pCa</a:t>
            </a:r>
            <a:r>
              <a:rPr lang="en-US" dirty="0"/>
              <a:t> = 4)</a:t>
            </a:r>
          </a:p>
          <a:p>
            <a:r>
              <a:rPr lang="en-US" b="1" dirty="0">
                <a:solidFill>
                  <a:srgbClr val="C00000"/>
                </a:solidFill>
              </a:rPr>
              <a:t>Ca-dependent parameters</a:t>
            </a:r>
            <a:r>
              <a:rPr lang="en-US" dirty="0"/>
              <a:t> can be fitted with the Hill-curve</a:t>
            </a:r>
          </a:p>
        </p:txBody>
      </p:sp>
    </p:spTree>
    <p:extLst>
      <p:ext uri="{BB962C8B-B14F-4D97-AF65-F5344CB8AC3E}">
        <p14:creationId xmlns:p14="http://schemas.microsoft.com/office/powerpoint/2010/main" val="3199663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4D41BA98-BF51-6CFB-5FF4-6873F4374692}"/>
              </a:ext>
            </a:extLst>
          </p:cNvPr>
          <p:cNvPicPr>
            <a:picLocks noGrp="1" noChangeAspect="1"/>
          </p:cNvPicPr>
          <p:nvPr>
            <p:ph sz="half" idx="2"/>
          </p:nvPr>
        </p:nvPicPr>
        <p:blipFill>
          <a:blip r:embed="rId3"/>
          <a:stretch>
            <a:fillRect/>
          </a:stretch>
        </p:blipFill>
        <p:spPr>
          <a:xfrm>
            <a:off x="5733535" y="1755348"/>
            <a:ext cx="6458465" cy="4305642"/>
          </a:xfrm>
          <a:prstGeom prst="rect">
            <a:avLst/>
          </a:prstGeom>
        </p:spPr>
      </p:pic>
      <p:sp>
        <p:nvSpPr>
          <p:cNvPr id="2" name="Title 1">
            <a:extLst>
              <a:ext uri="{FF2B5EF4-FFF2-40B4-BE49-F238E27FC236}">
                <a16:creationId xmlns:a16="http://schemas.microsoft.com/office/drawing/2014/main" id="{30B87A32-80D9-85FB-9592-1BB1247E49FD}"/>
              </a:ext>
            </a:extLst>
          </p:cNvPr>
          <p:cNvSpPr>
            <a:spLocks noGrp="1"/>
          </p:cNvSpPr>
          <p:nvPr>
            <p:ph type="title"/>
          </p:nvPr>
        </p:nvSpPr>
        <p:spPr/>
        <p:txBody>
          <a:bodyPr/>
          <a:lstStyle/>
          <a:p>
            <a:r>
              <a:rPr lang="en-US" dirty="0"/>
              <a:t>How important is the PEVK attachment?</a:t>
            </a:r>
          </a:p>
        </p:txBody>
      </p:sp>
      <p:sp>
        <p:nvSpPr>
          <p:cNvPr id="3" name="Content Placeholder 2">
            <a:extLst>
              <a:ext uri="{FF2B5EF4-FFF2-40B4-BE49-F238E27FC236}">
                <a16:creationId xmlns:a16="http://schemas.microsoft.com/office/drawing/2014/main" id="{37695373-874C-44C0-019B-0D952A99021C}"/>
              </a:ext>
            </a:extLst>
          </p:cNvPr>
          <p:cNvSpPr>
            <a:spLocks noGrp="1"/>
          </p:cNvSpPr>
          <p:nvPr>
            <p:ph sz="half" idx="1"/>
          </p:nvPr>
        </p:nvSpPr>
        <p:spPr/>
        <p:txBody>
          <a:bodyPr/>
          <a:lstStyle/>
          <a:p>
            <a:r>
              <a:rPr lang="en-US" dirty="0"/>
              <a:t>PEVK attachment mechanism is required to fit a Ca-induced non-power law decay</a:t>
            </a:r>
          </a:p>
        </p:txBody>
      </p:sp>
      <p:pic>
        <p:nvPicPr>
          <p:cNvPr id="8" name="Picture 7">
            <a:extLst>
              <a:ext uri="{FF2B5EF4-FFF2-40B4-BE49-F238E27FC236}">
                <a16:creationId xmlns:a16="http://schemas.microsoft.com/office/drawing/2014/main" id="{4EA8D2C5-26D6-AC77-BEE3-2574B1EA237C}"/>
              </a:ext>
            </a:extLst>
          </p:cNvPr>
          <p:cNvPicPr>
            <a:picLocks noChangeAspect="1"/>
          </p:cNvPicPr>
          <p:nvPr/>
        </p:nvPicPr>
        <p:blipFill>
          <a:blip r:embed="rId4"/>
          <a:stretch>
            <a:fillRect/>
          </a:stretch>
        </p:blipFill>
        <p:spPr>
          <a:xfrm>
            <a:off x="749643" y="3335226"/>
            <a:ext cx="4646141" cy="3316828"/>
          </a:xfrm>
          <a:prstGeom prst="rect">
            <a:avLst/>
          </a:prstGeom>
        </p:spPr>
      </p:pic>
    </p:spTree>
    <p:extLst>
      <p:ext uri="{BB962C8B-B14F-4D97-AF65-F5344CB8AC3E}">
        <p14:creationId xmlns:p14="http://schemas.microsoft.com/office/powerpoint/2010/main" val="468658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6E9BD-21B9-3C6C-3BFB-1C0D9473C1A0}"/>
              </a:ext>
            </a:extLst>
          </p:cNvPr>
          <p:cNvSpPr>
            <a:spLocks noGrp="1"/>
          </p:cNvSpPr>
          <p:nvPr>
            <p:ph type="title"/>
          </p:nvPr>
        </p:nvSpPr>
        <p:spPr/>
        <p:txBody>
          <a:bodyPr/>
          <a:lstStyle/>
          <a:p>
            <a:r>
              <a:rPr lang="en-US" dirty="0"/>
              <a:t>Prediction of hysteresis and Ca</a:t>
            </a:r>
            <a:r>
              <a:rPr lang="en-US" baseline="30000" dirty="0"/>
              <a:t>2+</a:t>
            </a:r>
            <a:r>
              <a:rPr lang="en-US" dirty="0"/>
              <a:t>-mediated effects</a:t>
            </a:r>
          </a:p>
        </p:txBody>
      </p:sp>
      <p:pic>
        <p:nvPicPr>
          <p:cNvPr id="10" name="Content Placeholder 9">
            <a:extLst>
              <a:ext uri="{FF2B5EF4-FFF2-40B4-BE49-F238E27FC236}">
                <a16:creationId xmlns:a16="http://schemas.microsoft.com/office/drawing/2014/main" id="{B202F7EA-A0EF-4616-549F-9B978A3B2F3B}"/>
              </a:ext>
            </a:extLst>
          </p:cNvPr>
          <p:cNvPicPr>
            <a:picLocks noGrp="1" noChangeAspect="1"/>
          </p:cNvPicPr>
          <p:nvPr>
            <p:ph idx="1"/>
          </p:nvPr>
        </p:nvPicPr>
        <p:blipFill>
          <a:blip r:embed="rId3"/>
          <a:stretch>
            <a:fillRect/>
          </a:stretch>
        </p:blipFill>
        <p:spPr>
          <a:xfrm>
            <a:off x="428791" y="2600972"/>
            <a:ext cx="4810474" cy="2522091"/>
          </a:xfrm>
        </p:spPr>
      </p:pic>
      <p:sp>
        <p:nvSpPr>
          <p:cNvPr id="8" name="TextBox 7">
            <a:extLst>
              <a:ext uri="{FF2B5EF4-FFF2-40B4-BE49-F238E27FC236}">
                <a16:creationId xmlns:a16="http://schemas.microsoft.com/office/drawing/2014/main" id="{1FF7381F-5F2A-9158-B838-50FB1728D162}"/>
              </a:ext>
            </a:extLst>
          </p:cNvPr>
          <p:cNvSpPr txBox="1"/>
          <p:nvPr/>
        </p:nvSpPr>
        <p:spPr>
          <a:xfrm>
            <a:off x="2166974" y="5397972"/>
            <a:ext cx="1130644" cy="369332"/>
          </a:xfrm>
          <a:prstGeom prst="rect">
            <a:avLst/>
          </a:prstGeom>
          <a:noFill/>
        </p:spPr>
        <p:txBody>
          <a:bodyPr wrap="square">
            <a:spAutoFit/>
          </a:bodyPr>
          <a:lstStyle/>
          <a:p>
            <a:r>
              <a:rPr lang="en-US" dirty="0"/>
              <a:t>no Ca</a:t>
            </a:r>
            <a:r>
              <a:rPr lang="en-US" baseline="30000" dirty="0"/>
              <a:t>2+</a:t>
            </a:r>
            <a:endParaRPr lang="en-US" dirty="0"/>
          </a:p>
        </p:txBody>
      </p:sp>
      <p:sp>
        <p:nvSpPr>
          <p:cNvPr id="9" name="TextBox 8">
            <a:extLst>
              <a:ext uri="{FF2B5EF4-FFF2-40B4-BE49-F238E27FC236}">
                <a16:creationId xmlns:a16="http://schemas.microsoft.com/office/drawing/2014/main" id="{11C4EA70-6789-FCC6-9DF0-3C532E3FE669}"/>
              </a:ext>
            </a:extLst>
          </p:cNvPr>
          <p:cNvSpPr txBox="1"/>
          <p:nvPr/>
        </p:nvSpPr>
        <p:spPr>
          <a:xfrm>
            <a:off x="9492472" y="5397972"/>
            <a:ext cx="1130644" cy="369332"/>
          </a:xfrm>
          <a:prstGeom prst="rect">
            <a:avLst/>
          </a:prstGeom>
          <a:noFill/>
        </p:spPr>
        <p:txBody>
          <a:bodyPr wrap="square">
            <a:spAutoFit/>
          </a:bodyPr>
          <a:lstStyle/>
          <a:p>
            <a:r>
              <a:rPr lang="en-US" dirty="0"/>
              <a:t>high Ca</a:t>
            </a:r>
            <a:r>
              <a:rPr lang="en-US" baseline="30000" dirty="0"/>
              <a:t>2+</a:t>
            </a:r>
            <a:endParaRPr lang="en-US" dirty="0"/>
          </a:p>
        </p:txBody>
      </p:sp>
      <p:pic>
        <p:nvPicPr>
          <p:cNvPr id="4" name="Picture 3">
            <a:extLst>
              <a:ext uri="{FF2B5EF4-FFF2-40B4-BE49-F238E27FC236}">
                <a16:creationId xmlns:a16="http://schemas.microsoft.com/office/drawing/2014/main" id="{3268D079-6044-8F92-60D9-9C325873AD46}"/>
              </a:ext>
            </a:extLst>
          </p:cNvPr>
          <p:cNvPicPr>
            <a:picLocks noChangeAspect="1"/>
          </p:cNvPicPr>
          <p:nvPr/>
        </p:nvPicPr>
        <p:blipFill>
          <a:blip r:embed="rId4"/>
          <a:stretch>
            <a:fillRect/>
          </a:stretch>
        </p:blipFill>
        <p:spPr>
          <a:xfrm>
            <a:off x="6952737" y="2600972"/>
            <a:ext cx="5044181" cy="2522091"/>
          </a:xfrm>
          <a:prstGeom prst="rect">
            <a:avLst/>
          </a:prstGeom>
        </p:spPr>
      </p:pic>
      <p:sp>
        <p:nvSpPr>
          <p:cNvPr id="7" name="TextBox 6">
            <a:extLst>
              <a:ext uri="{FF2B5EF4-FFF2-40B4-BE49-F238E27FC236}">
                <a16:creationId xmlns:a16="http://schemas.microsoft.com/office/drawing/2014/main" id="{8CF7457E-A3A2-74F7-116D-15CC38BE977B}"/>
              </a:ext>
            </a:extLst>
          </p:cNvPr>
          <p:cNvSpPr txBox="1"/>
          <p:nvPr/>
        </p:nvSpPr>
        <p:spPr>
          <a:xfrm>
            <a:off x="3297618" y="6180712"/>
            <a:ext cx="6231649" cy="461665"/>
          </a:xfrm>
          <a:prstGeom prst="rect">
            <a:avLst/>
          </a:prstGeom>
          <a:noFill/>
        </p:spPr>
        <p:txBody>
          <a:bodyPr wrap="square">
            <a:spAutoFit/>
          </a:bodyPr>
          <a:lstStyle/>
          <a:p>
            <a:r>
              <a:rPr lang="en-US" sz="2400" dirty="0"/>
              <a:t>The model does not quantify refolding yet</a:t>
            </a:r>
          </a:p>
        </p:txBody>
      </p:sp>
    </p:spTree>
    <p:extLst>
      <p:ext uri="{BB962C8B-B14F-4D97-AF65-F5344CB8AC3E}">
        <p14:creationId xmlns:p14="http://schemas.microsoft.com/office/powerpoint/2010/main" val="4128198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D7A8A-DA00-513A-9E40-CE73F99C94AE}"/>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319320CC-29C9-A2C4-BE07-F49F221300A0}"/>
              </a:ext>
            </a:extLst>
          </p:cNvPr>
          <p:cNvSpPr>
            <a:spLocks noGrp="1"/>
          </p:cNvSpPr>
          <p:nvPr>
            <p:ph idx="1"/>
          </p:nvPr>
        </p:nvSpPr>
        <p:spPr/>
        <p:txBody>
          <a:bodyPr>
            <a:normAutofit fontScale="92500" lnSpcReduction="10000"/>
          </a:bodyPr>
          <a:lstStyle/>
          <a:p>
            <a:r>
              <a:rPr lang="en-US" dirty="0"/>
              <a:t>Refolding</a:t>
            </a:r>
          </a:p>
          <a:p>
            <a:pPr lvl="1"/>
            <a:r>
              <a:rPr lang="en-US" dirty="0"/>
              <a:t>Constant refolding rate will affect unfolding</a:t>
            </a:r>
          </a:p>
          <a:p>
            <a:pPr lvl="1"/>
            <a:r>
              <a:rPr lang="en-US" dirty="0"/>
              <a:t>Stress or strain dependent refolding required</a:t>
            </a:r>
          </a:p>
          <a:p>
            <a:r>
              <a:rPr lang="en-US" dirty="0"/>
              <a:t>Distal chain can not unfold</a:t>
            </a:r>
          </a:p>
          <a:p>
            <a:pPr lvl="1"/>
            <a:r>
              <a:rPr lang="en-US" dirty="0"/>
              <a:t>Implementation issues</a:t>
            </a:r>
          </a:p>
          <a:p>
            <a:pPr lvl="1"/>
            <a:r>
              <a:rPr lang="en-US" dirty="0"/>
              <a:t>Tested swapping for proximal – unable to fit data</a:t>
            </a:r>
          </a:p>
          <a:p>
            <a:r>
              <a:rPr lang="en-US" dirty="0"/>
              <a:t>Time-scale of Ca effect</a:t>
            </a:r>
          </a:p>
          <a:p>
            <a:pPr lvl="1"/>
            <a:r>
              <a:rPr lang="en-US" dirty="0"/>
              <a:t>Is it &gt;&gt; or &lt;&lt; than the cardiac cycle?</a:t>
            </a:r>
          </a:p>
          <a:p>
            <a:r>
              <a:rPr lang="en-US" dirty="0"/>
              <a:t>Attribution to titin</a:t>
            </a:r>
          </a:p>
          <a:p>
            <a:pPr lvl="1"/>
            <a:r>
              <a:rPr lang="en-US" dirty="0"/>
              <a:t>Influence of </a:t>
            </a:r>
            <a:r>
              <a:rPr lang="en-US" dirty="0" err="1"/>
              <a:t>myBP</a:t>
            </a:r>
            <a:r>
              <a:rPr lang="en-US" dirty="0"/>
              <a:t>-C can not be rejected</a:t>
            </a:r>
          </a:p>
          <a:p>
            <a:r>
              <a:rPr lang="en-US" dirty="0"/>
              <a:t>Identified parameters are not necessarily unique global solution</a:t>
            </a:r>
          </a:p>
        </p:txBody>
      </p:sp>
    </p:spTree>
    <p:extLst>
      <p:ext uri="{BB962C8B-B14F-4D97-AF65-F5344CB8AC3E}">
        <p14:creationId xmlns:p14="http://schemas.microsoft.com/office/powerpoint/2010/main" val="3929363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5E2F-B31C-0FCF-CAB8-D344ABBB870F}"/>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8774D19-B361-5EE2-2572-A86C97AE4D0C}"/>
              </a:ext>
            </a:extLst>
          </p:cNvPr>
          <p:cNvSpPr>
            <a:spLocks noGrp="1"/>
          </p:cNvSpPr>
          <p:nvPr>
            <p:ph idx="1"/>
          </p:nvPr>
        </p:nvSpPr>
        <p:spPr/>
        <p:txBody>
          <a:bodyPr>
            <a:normAutofit fontScale="92500" lnSpcReduction="10000"/>
          </a:bodyPr>
          <a:lstStyle/>
          <a:p>
            <a:r>
              <a:rPr lang="en-US" dirty="0"/>
              <a:t>Passive viscoelastic properties follow a power-law relaxation</a:t>
            </a:r>
          </a:p>
          <a:p>
            <a:r>
              <a:rPr lang="en-US" dirty="0"/>
              <a:t>Unfolding “beads-on-a-chain” model can represent this power-law decay over a range of ramp-speeds</a:t>
            </a:r>
          </a:p>
          <a:p>
            <a:r>
              <a:rPr lang="en-US" dirty="0"/>
              <a:t>The titin stiffens with Ca</a:t>
            </a:r>
            <a:r>
              <a:rPr lang="en-US" baseline="30000" dirty="0"/>
              <a:t>2+</a:t>
            </a:r>
            <a:r>
              <a:rPr lang="en-US" dirty="0"/>
              <a:t>, Ca</a:t>
            </a:r>
            <a:r>
              <a:rPr lang="en-US" baseline="30000" dirty="0"/>
              <a:t>2+</a:t>
            </a:r>
            <a:r>
              <a:rPr lang="en-US" dirty="0"/>
              <a:t> activates titin-actin binding</a:t>
            </a:r>
          </a:p>
          <a:p>
            <a:pPr lvl="1"/>
            <a:r>
              <a:rPr lang="en-US" dirty="0"/>
              <a:t>probably at PEVK domain</a:t>
            </a:r>
          </a:p>
          <a:p>
            <a:r>
              <a:rPr lang="en-US" dirty="0"/>
              <a:t>Model, extended with PEVK binding, can capture the relaxation</a:t>
            </a:r>
          </a:p>
          <a:p>
            <a:pPr lvl="1"/>
            <a:r>
              <a:rPr lang="en-US" dirty="0"/>
              <a:t>whole range of [Ca</a:t>
            </a:r>
            <a:r>
              <a:rPr lang="en-US" baseline="30000" dirty="0"/>
              <a:t>2+</a:t>
            </a:r>
            <a:r>
              <a:rPr lang="en-US" dirty="0"/>
              <a:t>] </a:t>
            </a:r>
          </a:p>
          <a:p>
            <a:pPr lvl="1"/>
            <a:r>
              <a:rPr lang="en-US" dirty="0"/>
              <a:t>Wide range of ramp-speed</a:t>
            </a:r>
          </a:p>
          <a:p>
            <a:endParaRPr lang="en-US" dirty="0"/>
          </a:p>
          <a:p>
            <a:r>
              <a:rPr lang="en-US" dirty="0"/>
              <a:t>We attribute these behaviors to titin. </a:t>
            </a:r>
          </a:p>
          <a:p>
            <a:pPr lvl="1"/>
            <a:r>
              <a:rPr lang="en-US" dirty="0"/>
              <a:t>Other structural elements may contribute. </a:t>
            </a:r>
          </a:p>
          <a:p>
            <a:endParaRPr lang="en-US" dirty="0"/>
          </a:p>
          <a:p>
            <a:endParaRPr lang="en-US" baseline="30000" dirty="0"/>
          </a:p>
        </p:txBody>
      </p:sp>
    </p:spTree>
    <p:extLst>
      <p:ext uri="{BB962C8B-B14F-4D97-AF65-F5344CB8AC3E}">
        <p14:creationId xmlns:p14="http://schemas.microsoft.com/office/powerpoint/2010/main" val="2664713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32B9-AFE4-02A2-769E-47D5587DEF6B}"/>
              </a:ext>
            </a:extLst>
          </p:cNvPr>
          <p:cNvSpPr>
            <a:spLocks noGrp="1"/>
          </p:cNvSpPr>
          <p:nvPr>
            <p:ph type="title"/>
          </p:nvPr>
        </p:nvSpPr>
        <p:spPr/>
        <p:txBody>
          <a:bodyPr/>
          <a:lstStyle/>
          <a:p>
            <a:r>
              <a:rPr lang="cs-CZ" dirty="0"/>
              <a:t>Published papers</a:t>
            </a:r>
            <a:endParaRPr lang="en-US" dirty="0"/>
          </a:p>
        </p:txBody>
      </p:sp>
      <p:sp>
        <p:nvSpPr>
          <p:cNvPr id="6" name="Text Placeholder 5">
            <a:extLst>
              <a:ext uri="{FF2B5EF4-FFF2-40B4-BE49-F238E27FC236}">
                <a16:creationId xmlns:a16="http://schemas.microsoft.com/office/drawing/2014/main" id="{8323BC1E-D7CE-F443-8873-972A4D062D13}"/>
              </a:ext>
            </a:extLst>
          </p:cNvPr>
          <p:cNvSpPr>
            <a:spLocks noGrp="1"/>
          </p:cNvSpPr>
          <p:nvPr>
            <p:ph type="body" idx="1"/>
          </p:nvPr>
        </p:nvSpPr>
        <p:spPr/>
        <p:txBody>
          <a:bodyPr>
            <a:normAutofit lnSpcReduction="10000"/>
          </a:bodyPr>
          <a:lstStyle/>
          <a:p>
            <a:r>
              <a:rPr lang="cs-CZ" dirty="0"/>
              <a:t>Baker et al. – experimental report</a:t>
            </a:r>
            <a:br>
              <a:rPr lang="en-US" dirty="0"/>
            </a:br>
            <a:r>
              <a:rPr lang="en-US" b="0" dirty="0" err="1"/>
              <a:t>Biophys</a:t>
            </a:r>
            <a:r>
              <a:rPr lang="en-US" b="0" dirty="0"/>
              <a:t> J. 2025 PMID: 40652326</a:t>
            </a:r>
          </a:p>
        </p:txBody>
      </p:sp>
      <p:sp>
        <p:nvSpPr>
          <p:cNvPr id="7" name="Text Placeholder 6">
            <a:extLst>
              <a:ext uri="{FF2B5EF4-FFF2-40B4-BE49-F238E27FC236}">
                <a16:creationId xmlns:a16="http://schemas.microsoft.com/office/drawing/2014/main" id="{43912A77-E74C-6530-ABF7-844824A80023}"/>
              </a:ext>
            </a:extLst>
          </p:cNvPr>
          <p:cNvSpPr>
            <a:spLocks noGrp="1"/>
          </p:cNvSpPr>
          <p:nvPr>
            <p:ph type="body" sz="quarter" idx="3"/>
          </p:nvPr>
        </p:nvSpPr>
        <p:spPr>
          <a:xfrm>
            <a:off x="6172199" y="1681163"/>
            <a:ext cx="6093941" cy="823912"/>
          </a:xfrm>
        </p:spPr>
        <p:txBody>
          <a:bodyPr>
            <a:normAutofit lnSpcReduction="10000"/>
          </a:bodyPr>
          <a:lstStyle/>
          <a:p>
            <a:r>
              <a:rPr lang="cs-CZ" dirty="0"/>
              <a:t>Jezek et al. – modeling and </a:t>
            </a:r>
            <a:r>
              <a:rPr lang="en-US" dirty="0"/>
              <a:t>attribution</a:t>
            </a:r>
          </a:p>
          <a:p>
            <a:r>
              <a:rPr lang="en-US" b="0" dirty="0"/>
              <a:t>J. </a:t>
            </a:r>
            <a:r>
              <a:rPr lang="en-US" b="0" dirty="0" err="1"/>
              <a:t>Physiol</a:t>
            </a:r>
            <a:r>
              <a:rPr lang="en-US" b="0" dirty="0"/>
              <a:t> 2025 PMID: 40846493</a:t>
            </a:r>
          </a:p>
        </p:txBody>
      </p:sp>
      <p:pic>
        <p:nvPicPr>
          <p:cNvPr id="10" name="Content Placeholder 9">
            <a:extLst>
              <a:ext uri="{FF2B5EF4-FFF2-40B4-BE49-F238E27FC236}">
                <a16:creationId xmlns:a16="http://schemas.microsoft.com/office/drawing/2014/main" id="{9A9B130C-984C-F030-5ED4-4F544FDB53D5}"/>
              </a:ext>
            </a:extLst>
          </p:cNvPr>
          <p:cNvPicPr>
            <a:picLocks noGrp="1" noChangeAspect="1"/>
          </p:cNvPicPr>
          <p:nvPr>
            <p:ph sz="quarter" idx="4"/>
          </p:nvPr>
        </p:nvPicPr>
        <p:blipFill>
          <a:blip r:embed="rId2"/>
          <a:stretch>
            <a:fillRect/>
          </a:stretch>
        </p:blipFill>
        <p:spPr>
          <a:xfrm>
            <a:off x="6722505" y="2781122"/>
            <a:ext cx="4494246" cy="4791430"/>
          </a:xfrm>
          <a:prstGeom prst="rect">
            <a:avLst/>
          </a:prstGeom>
        </p:spPr>
      </p:pic>
      <p:pic>
        <p:nvPicPr>
          <p:cNvPr id="13" name="Content Placeholder 12">
            <a:extLst>
              <a:ext uri="{FF2B5EF4-FFF2-40B4-BE49-F238E27FC236}">
                <a16:creationId xmlns:a16="http://schemas.microsoft.com/office/drawing/2014/main" id="{45C7C77E-C51B-4337-F81A-186B5B969538}"/>
              </a:ext>
            </a:extLst>
          </p:cNvPr>
          <p:cNvPicPr>
            <a:picLocks noGrp="1" noChangeAspect="1"/>
          </p:cNvPicPr>
          <p:nvPr>
            <p:ph sz="half" idx="2"/>
          </p:nvPr>
        </p:nvPicPr>
        <p:blipFill>
          <a:blip r:embed="rId3"/>
          <a:stretch>
            <a:fillRect/>
          </a:stretch>
        </p:blipFill>
        <p:spPr>
          <a:xfrm>
            <a:off x="1159768" y="2781122"/>
            <a:ext cx="3670031" cy="4791430"/>
          </a:xfrm>
          <a:prstGeom prst="rect">
            <a:avLst/>
          </a:prstGeom>
        </p:spPr>
      </p:pic>
    </p:spTree>
    <p:extLst>
      <p:ext uri="{BB962C8B-B14F-4D97-AF65-F5344CB8AC3E}">
        <p14:creationId xmlns:p14="http://schemas.microsoft.com/office/powerpoint/2010/main" val="1732844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EB981-E423-BF60-5F68-34568EE577E0}"/>
              </a:ext>
            </a:extLst>
          </p:cNvPr>
          <p:cNvSpPr>
            <a:spLocks noGrp="1"/>
          </p:cNvSpPr>
          <p:nvPr>
            <p:ph type="title"/>
          </p:nvPr>
        </p:nvSpPr>
        <p:spPr/>
        <p:txBody>
          <a:bodyPr/>
          <a:lstStyle/>
          <a:p>
            <a:r>
              <a:rPr lang="en-US" dirty="0"/>
              <a:t>A follow-up: Refolding properties</a:t>
            </a:r>
          </a:p>
        </p:txBody>
      </p:sp>
      <p:sp>
        <p:nvSpPr>
          <p:cNvPr id="3" name="Content Placeholder 2">
            <a:extLst>
              <a:ext uri="{FF2B5EF4-FFF2-40B4-BE49-F238E27FC236}">
                <a16:creationId xmlns:a16="http://schemas.microsoft.com/office/drawing/2014/main" id="{63FC91B6-2D9F-747D-5CF4-2F1972F223F2}"/>
              </a:ext>
            </a:extLst>
          </p:cNvPr>
          <p:cNvSpPr>
            <a:spLocks noGrp="1"/>
          </p:cNvSpPr>
          <p:nvPr>
            <p:ph idx="1"/>
          </p:nvPr>
        </p:nvSpPr>
        <p:spPr/>
        <p:txBody>
          <a:bodyPr/>
          <a:lstStyle/>
          <a:p>
            <a:r>
              <a:rPr lang="en-US" dirty="0"/>
              <a:t>Coming up next: Identify the refolding rates and preconditioning</a:t>
            </a:r>
          </a:p>
          <a:p>
            <a:r>
              <a:rPr lang="en-US" dirty="0"/>
              <a:t>Preliminary findings</a:t>
            </a:r>
          </a:p>
          <a:p>
            <a:pPr lvl="1"/>
            <a:r>
              <a:rPr lang="en-US" dirty="0"/>
              <a:t>associated with force, rapid refolding at zero force</a:t>
            </a:r>
          </a:p>
        </p:txBody>
      </p:sp>
      <p:grpSp>
        <p:nvGrpSpPr>
          <p:cNvPr id="8" name="Group 7">
            <a:extLst>
              <a:ext uri="{FF2B5EF4-FFF2-40B4-BE49-F238E27FC236}">
                <a16:creationId xmlns:a16="http://schemas.microsoft.com/office/drawing/2014/main" id="{5669DB57-A0FC-0334-0A01-84FCFC63E8DF}"/>
              </a:ext>
            </a:extLst>
          </p:cNvPr>
          <p:cNvGrpSpPr/>
          <p:nvPr/>
        </p:nvGrpSpPr>
        <p:grpSpPr>
          <a:xfrm>
            <a:off x="275893" y="4149119"/>
            <a:ext cx="11773867" cy="2244538"/>
            <a:chOff x="838200" y="3920331"/>
            <a:chExt cx="8443914" cy="1609725"/>
          </a:xfrm>
        </p:grpSpPr>
        <p:pic>
          <p:nvPicPr>
            <p:cNvPr id="5" name="Picture 4">
              <a:extLst>
                <a:ext uri="{FF2B5EF4-FFF2-40B4-BE49-F238E27FC236}">
                  <a16:creationId xmlns:a16="http://schemas.microsoft.com/office/drawing/2014/main" id="{69DC45A4-D038-76DF-864D-EE673F68AC7C}"/>
                </a:ext>
              </a:extLst>
            </p:cNvPr>
            <p:cNvPicPr>
              <a:picLocks noChangeAspect="1"/>
            </p:cNvPicPr>
            <p:nvPr/>
          </p:nvPicPr>
          <p:blipFill>
            <a:blip r:embed="rId3"/>
            <a:stretch>
              <a:fillRect/>
            </a:stretch>
          </p:blipFill>
          <p:spPr>
            <a:xfrm>
              <a:off x="838200" y="4001294"/>
              <a:ext cx="4181475" cy="1447800"/>
            </a:xfrm>
            <a:prstGeom prst="rect">
              <a:avLst/>
            </a:prstGeom>
          </p:spPr>
        </p:pic>
        <p:pic>
          <p:nvPicPr>
            <p:cNvPr id="7" name="Picture 6">
              <a:extLst>
                <a:ext uri="{FF2B5EF4-FFF2-40B4-BE49-F238E27FC236}">
                  <a16:creationId xmlns:a16="http://schemas.microsoft.com/office/drawing/2014/main" id="{A736D897-8253-3863-9D95-803B49CD4719}"/>
                </a:ext>
              </a:extLst>
            </p:cNvPr>
            <p:cNvPicPr>
              <a:picLocks noChangeAspect="1"/>
            </p:cNvPicPr>
            <p:nvPr/>
          </p:nvPicPr>
          <p:blipFill>
            <a:blip r:embed="rId4"/>
            <a:stretch>
              <a:fillRect/>
            </a:stretch>
          </p:blipFill>
          <p:spPr>
            <a:xfrm>
              <a:off x="5062539" y="3920331"/>
              <a:ext cx="4219575" cy="1609725"/>
            </a:xfrm>
            <a:prstGeom prst="rect">
              <a:avLst/>
            </a:prstGeom>
          </p:spPr>
        </p:pic>
      </p:grpSp>
    </p:spTree>
    <p:extLst>
      <p:ext uri="{BB962C8B-B14F-4D97-AF65-F5344CB8AC3E}">
        <p14:creationId xmlns:p14="http://schemas.microsoft.com/office/powerpoint/2010/main" val="1034871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C8D3-B088-AA70-6B9A-EAA04E09E5E1}"/>
              </a:ext>
            </a:extLst>
          </p:cNvPr>
          <p:cNvSpPr>
            <a:spLocks noGrp="1"/>
          </p:cNvSpPr>
          <p:nvPr>
            <p:ph type="title"/>
          </p:nvPr>
        </p:nvSpPr>
        <p:spPr/>
        <p:txBody>
          <a:bodyPr/>
          <a:lstStyle/>
          <a:p>
            <a:r>
              <a:rPr lang="en-US" dirty="0"/>
              <a:t>A follow-up:</a:t>
            </a:r>
            <a:r>
              <a:rPr lang="cs-CZ" dirty="0"/>
              <a:t> effective implementation to </a:t>
            </a:r>
            <a:r>
              <a:rPr lang="en-US" dirty="0"/>
              <a:t>employ</a:t>
            </a:r>
            <a:r>
              <a:rPr lang="cs-CZ" dirty="0"/>
              <a:t> in 3D</a:t>
            </a:r>
            <a:r>
              <a:rPr lang="en-US" dirty="0"/>
              <a:t> heart models</a:t>
            </a:r>
          </a:p>
        </p:txBody>
      </p:sp>
      <p:pic>
        <p:nvPicPr>
          <p:cNvPr id="6146" name="Picture 2" descr="zhangwill-headshot">
            <a:extLst>
              <a:ext uri="{FF2B5EF4-FFF2-40B4-BE49-F238E27FC236}">
                <a16:creationId xmlns:a16="http://schemas.microsoft.com/office/drawing/2014/main" id="{CAE41AC4-E646-825A-466A-CFBD273AA6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3859" y="180332"/>
            <a:ext cx="1293342" cy="12933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9E2858B-E166-A38B-7D8F-8F8BF75185DE}"/>
              </a:ext>
            </a:extLst>
          </p:cNvPr>
          <p:cNvSpPr txBox="1"/>
          <p:nvPr/>
        </p:nvSpPr>
        <p:spPr>
          <a:xfrm>
            <a:off x="10579443" y="1459130"/>
            <a:ext cx="1548714" cy="646331"/>
          </a:xfrm>
          <a:prstGeom prst="rect">
            <a:avLst/>
          </a:prstGeom>
          <a:noFill/>
        </p:spPr>
        <p:txBody>
          <a:bodyPr wrap="square">
            <a:spAutoFit/>
          </a:bodyPr>
          <a:lstStyle/>
          <a:p>
            <a:r>
              <a:rPr lang="en-US" dirty="0"/>
              <a:t>Will Zhang</a:t>
            </a:r>
            <a:r>
              <a:rPr lang="cs-CZ" dirty="0"/>
              <a:t>, UMICH</a:t>
            </a:r>
            <a:endParaRPr lang="en-US" dirty="0"/>
          </a:p>
        </p:txBody>
      </p:sp>
      <p:sp>
        <p:nvSpPr>
          <p:cNvPr id="11" name="Content Placeholder 10">
            <a:extLst>
              <a:ext uri="{FF2B5EF4-FFF2-40B4-BE49-F238E27FC236}">
                <a16:creationId xmlns:a16="http://schemas.microsoft.com/office/drawing/2014/main" id="{362DC9D8-922E-1992-4AB5-8C50418B1A29}"/>
              </a:ext>
            </a:extLst>
          </p:cNvPr>
          <p:cNvSpPr>
            <a:spLocks noGrp="1"/>
          </p:cNvSpPr>
          <p:nvPr>
            <p:ph sz="half" idx="1"/>
          </p:nvPr>
        </p:nvSpPr>
        <p:spPr/>
        <p:txBody>
          <a:bodyPr/>
          <a:lstStyle/>
          <a:p>
            <a:r>
              <a:rPr lang="cs-CZ" b="1" dirty="0">
                <a:solidFill>
                  <a:schemeClr val="tx2">
                    <a:lumMod val="75000"/>
                    <a:lumOff val="25000"/>
                  </a:schemeClr>
                </a:solidFill>
              </a:rPr>
              <a:t>Power-law representation using fractional derivatives</a:t>
            </a:r>
            <a:r>
              <a:rPr lang="cs-CZ" dirty="0"/>
              <a:t> </a:t>
            </a:r>
            <a:r>
              <a:rPr lang="en-US" dirty="0"/>
              <a:t>+ </a:t>
            </a:r>
            <a:r>
              <a:rPr lang="cs-CZ" dirty="0"/>
              <a:t>PEVK effects</a:t>
            </a:r>
          </a:p>
          <a:p>
            <a:r>
              <a:rPr lang="en-US" b="1" dirty="0">
                <a:solidFill>
                  <a:srgbClr val="C00000"/>
                </a:solidFill>
              </a:rPr>
              <a:t>Representative fit of a single specimen</a:t>
            </a:r>
          </a:p>
        </p:txBody>
      </p:sp>
      <p:pic>
        <p:nvPicPr>
          <p:cNvPr id="12" name="Content Placeholder 8">
            <a:extLst>
              <a:ext uri="{FF2B5EF4-FFF2-40B4-BE49-F238E27FC236}">
                <a16:creationId xmlns:a16="http://schemas.microsoft.com/office/drawing/2014/main" id="{BE9F0CB6-89FC-6E3B-A95C-AA792F396563}"/>
              </a:ext>
            </a:extLst>
          </p:cNvPr>
          <p:cNvPicPr>
            <a:picLocks noGrp="1" noChangeAspect="1"/>
          </p:cNvPicPr>
          <p:nvPr>
            <p:ph sz="half" idx="2"/>
          </p:nvPr>
        </p:nvPicPr>
        <p:blipFill>
          <a:blip r:embed="rId4"/>
          <a:stretch>
            <a:fillRect/>
          </a:stretch>
        </p:blipFill>
        <p:spPr>
          <a:xfrm>
            <a:off x="5941635" y="3872256"/>
            <a:ext cx="5799379" cy="2855078"/>
          </a:xfrm>
          <a:prstGeom prst="rect">
            <a:avLst/>
          </a:prstGeom>
        </p:spPr>
      </p:pic>
      <p:pic>
        <p:nvPicPr>
          <p:cNvPr id="14" name="Picture 13">
            <a:extLst>
              <a:ext uri="{FF2B5EF4-FFF2-40B4-BE49-F238E27FC236}">
                <a16:creationId xmlns:a16="http://schemas.microsoft.com/office/drawing/2014/main" id="{2BF18E9C-CEB0-E344-7472-7A2770AAFB9E}"/>
              </a:ext>
            </a:extLst>
          </p:cNvPr>
          <p:cNvPicPr>
            <a:picLocks noChangeAspect="1"/>
          </p:cNvPicPr>
          <p:nvPr/>
        </p:nvPicPr>
        <p:blipFill>
          <a:blip r:embed="rId5"/>
          <a:stretch>
            <a:fillRect/>
          </a:stretch>
        </p:blipFill>
        <p:spPr>
          <a:xfrm>
            <a:off x="9657990" y="2119184"/>
            <a:ext cx="2012675" cy="1462216"/>
          </a:xfrm>
          <a:prstGeom prst="rect">
            <a:avLst/>
          </a:prstGeom>
        </p:spPr>
      </p:pic>
      <p:sp>
        <p:nvSpPr>
          <p:cNvPr id="15" name="AutoShape 4">
            <a:extLst>
              <a:ext uri="{FF2B5EF4-FFF2-40B4-BE49-F238E27FC236}">
                <a16:creationId xmlns:a16="http://schemas.microsoft.com/office/drawing/2014/main" id="{D44F4644-A108-811F-2595-8B1A16856C6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a:extLst>
              <a:ext uri="{FF2B5EF4-FFF2-40B4-BE49-F238E27FC236}">
                <a16:creationId xmlns:a16="http://schemas.microsoft.com/office/drawing/2014/main" id="{195B74D3-6011-8472-967E-415E4873E939}"/>
              </a:ext>
            </a:extLst>
          </p:cNvPr>
          <p:cNvPicPr>
            <a:picLocks noChangeAspect="1"/>
          </p:cNvPicPr>
          <p:nvPr/>
        </p:nvPicPr>
        <p:blipFill>
          <a:blip r:embed="rId6"/>
          <a:stretch>
            <a:fillRect/>
          </a:stretch>
        </p:blipFill>
        <p:spPr>
          <a:xfrm>
            <a:off x="8313302" y="2298303"/>
            <a:ext cx="1193896" cy="1050025"/>
          </a:xfrm>
          <a:prstGeom prst="rect">
            <a:avLst/>
          </a:prstGeom>
        </p:spPr>
      </p:pic>
      <p:pic>
        <p:nvPicPr>
          <p:cNvPr id="25" name="Picture 24">
            <a:extLst>
              <a:ext uri="{FF2B5EF4-FFF2-40B4-BE49-F238E27FC236}">
                <a16:creationId xmlns:a16="http://schemas.microsoft.com/office/drawing/2014/main" id="{9B50D5D7-336B-8789-C5B6-D5972C2F92E0}"/>
              </a:ext>
            </a:extLst>
          </p:cNvPr>
          <p:cNvPicPr>
            <a:picLocks noChangeAspect="1"/>
          </p:cNvPicPr>
          <p:nvPr/>
        </p:nvPicPr>
        <p:blipFill>
          <a:blip r:embed="rId7"/>
          <a:stretch>
            <a:fillRect/>
          </a:stretch>
        </p:blipFill>
        <p:spPr>
          <a:xfrm>
            <a:off x="6096000" y="2267938"/>
            <a:ext cx="592111" cy="1050025"/>
          </a:xfrm>
          <a:prstGeom prst="rect">
            <a:avLst/>
          </a:prstGeom>
        </p:spPr>
      </p:pic>
      <p:pic>
        <p:nvPicPr>
          <p:cNvPr id="29" name="Picture 28">
            <a:extLst>
              <a:ext uri="{FF2B5EF4-FFF2-40B4-BE49-F238E27FC236}">
                <a16:creationId xmlns:a16="http://schemas.microsoft.com/office/drawing/2014/main" id="{9CCB3DB6-10AE-E6BA-E0E3-07AE09B482A6}"/>
              </a:ext>
            </a:extLst>
          </p:cNvPr>
          <p:cNvPicPr>
            <a:picLocks noChangeAspect="1"/>
          </p:cNvPicPr>
          <p:nvPr/>
        </p:nvPicPr>
        <p:blipFill>
          <a:blip r:embed="rId8"/>
          <a:stretch>
            <a:fillRect/>
          </a:stretch>
        </p:blipFill>
        <p:spPr>
          <a:xfrm>
            <a:off x="6901346" y="2234986"/>
            <a:ext cx="1271704" cy="1113342"/>
          </a:xfrm>
          <a:prstGeom prst="rect">
            <a:avLst/>
          </a:prstGeom>
        </p:spPr>
      </p:pic>
      <p:sp>
        <p:nvSpPr>
          <p:cNvPr id="31" name="Rectangle 30">
            <a:extLst>
              <a:ext uri="{FF2B5EF4-FFF2-40B4-BE49-F238E27FC236}">
                <a16:creationId xmlns:a16="http://schemas.microsoft.com/office/drawing/2014/main" id="{527596C8-E300-960E-02E9-B63C1D5B5CD9}"/>
              </a:ext>
            </a:extLst>
          </p:cNvPr>
          <p:cNvSpPr/>
          <p:nvPr/>
        </p:nvSpPr>
        <p:spPr>
          <a:xfrm>
            <a:off x="6019799" y="2067096"/>
            <a:ext cx="5867401" cy="1563689"/>
          </a:xfrm>
          <a:prstGeom prst="rect">
            <a:avLst/>
          </a:prstGeom>
          <a:no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2" name="Rectangle 31">
            <a:extLst>
              <a:ext uri="{FF2B5EF4-FFF2-40B4-BE49-F238E27FC236}">
                <a16:creationId xmlns:a16="http://schemas.microsoft.com/office/drawing/2014/main" id="{72351286-2417-EDD7-4211-E3D6A05AA6EA}"/>
              </a:ext>
            </a:extLst>
          </p:cNvPr>
          <p:cNvSpPr/>
          <p:nvPr/>
        </p:nvSpPr>
        <p:spPr>
          <a:xfrm>
            <a:off x="6019799" y="3798676"/>
            <a:ext cx="5867401" cy="2971710"/>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grpSp>
        <p:nvGrpSpPr>
          <p:cNvPr id="34" name="Group 33">
            <a:extLst>
              <a:ext uri="{FF2B5EF4-FFF2-40B4-BE49-F238E27FC236}">
                <a16:creationId xmlns:a16="http://schemas.microsoft.com/office/drawing/2014/main" id="{E230AAD4-C13B-528B-3BB2-8E0D6196D492}"/>
              </a:ext>
            </a:extLst>
          </p:cNvPr>
          <p:cNvGrpSpPr/>
          <p:nvPr/>
        </p:nvGrpSpPr>
        <p:grpSpPr>
          <a:xfrm>
            <a:off x="963295" y="4427636"/>
            <a:ext cx="3664852" cy="2299698"/>
            <a:chOff x="291335" y="4257622"/>
            <a:chExt cx="3664852" cy="2299698"/>
          </a:xfrm>
        </p:grpSpPr>
        <p:pic>
          <p:nvPicPr>
            <p:cNvPr id="17" name="Picture 16">
              <a:extLst>
                <a:ext uri="{FF2B5EF4-FFF2-40B4-BE49-F238E27FC236}">
                  <a16:creationId xmlns:a16="http://schemas.microsoft.com/office/drawing/2014/main" id="{F0284149-4110-3AC1-0760-D4309FC515DC}"/>
                </a:ext>
              </a:extLst>
            </p:cNvPr>
            <p:cNvPicPr>
              <a:picLocks noChangeAspect="1"/>
            </p:cNvPicPr>
            <p:nvPr/>
          </p:nvPicPr>
          <p:blipFill>
            <a:blip r:embed="rId9"/>
            <a:stretch>
              <a:fillRect/>
            </a:stretch>
          </p:blipFill>
          <p:spPr>
            <a:xfrm>
              <a:off x="304799" y="4958469"/>
              <a:ext cx="1724025" cy="1504950"/>
            </a:xfrm>
            <a:prstGeom prst="rect">
              <a:avLst/>
            </a:prstGeom>
          </p:spPr>
        </p:pic>
        <p:pic>
          <p:nvPicPr>
            <p:cNvPr id="19" name="Picture 18">
              <a:extLst>
                <a:ext uri="{FF2B5EF4-FFF2-40B4-BE49-F238E27FC236}">
                  <a16:creationId xmlns:a16="http://schemas.microsoft.com/office/drawing/2014/main" id="{73FCF916-6EBD-EBD2-8504-B2FBF0F97875}"/>
                </a:ext>
              </a:extLst>
            </p:cNvPr>
            <p:cNvPicPr>
              <a:picLocks noChangeAspect="1"/>
            </p:cNvPicPr>
            <p:nvPr/>
          </p:nvPicPr>
          <p:blipFill>
            <a:blip r:embed="rId10"/>
            <a:stretch>
              <a:fillRect/>
            </a:stretch>
          </p:blipFill>
          <p:spPr>
            <a:xfrm>
              <a:off x="2122331" y="5041619"/>
              <a:ext cx="1631013" cy="1338649"/>
            </a:xfrm>
            <a:prstGeom prst="rect">
              <a:avLst/>
            </a:prstGeom>
          </p:spPr>
        </p:pic>
        <p:sp>
          <p:nvSpPr>
            <p:cNvPr id="21" name="TextBox 20">
              <a:extLst>
                <a:ext uri="{FF2B5EF4-FFF2-40B4-BE49-F238E27FC236}">
                  <a16:creationId xmlns:a16="http://schemas.microsoft.com/office/drawing/2014/main" id="{86B00006-2E4F-3D97-D450-4CC7551FD941}"/>
                </a:ext>
              </a:extLst>
            </p:cNvPr>
            <p:cNvSpPr txBox="1"/>
            <p:nvPr/>
          </p:nvSpPr>
          <p:spPr>
            <a:xfrm>
              <a:off x="450986" y="4299481"/>
              <a:ext cx="3505201" cy="646331"/>
            </a:xfrm>
            <a:prstGeom prst="rect">
              <a:avLst/>
            </a:prstGeom>
            <a:noFill/>
          </p:spPr>
          <p:txBody>
            <a:bodyPr wrap="square">
              <a:spAutoFit/>
            </a:bodyPr>
            <a:lstStyle/>
            <a:p>
              <a:r>
                <a:rPr lang="cs-CZ" dirty="0"/>
                <a:t>Cyclic loading at pCa = 4.5: </a:t>
              </a:r>
              <a:br>
                <a:rPr lang="cs-CZ" dirty="0"/>
              </a:br>
              <a:r>
                <a:rPr lang="cs-CZ" dirty="0"/>
                <a:t>data 2.5 Hz, simulation 1Hz (red)</a:t>
              </a:r>
              <a:endParaRPr lang="en-US" dirty="0"/>
            </a:p>
          </p:txBody>
        </p:sp>
        <p:sp>
          <p:nvSpPr>
            <p:cNvPr id="33" name="Rectangle 32">
              <a:extLst>
                <a:ext uri="{FF2B5EF4-FFF2-40B4-BE49-F238E27FC236}">
                  <a16:creationId xmlns:a16="http://schemas.microsoft.com/office/drawing/2014/main" id="{18D1ACEA-DAD3-71F5-EDCC-03B559A94449}"/>
                </a:ext>
              </a:extLst>
            </p:cNvPr>
            <p:cNvSpPr/>
            <p:nvPr/>
          </p:nvSpPr>
          <p:spPr>
            <a:xfrm>
              <a:off x="291335" y="4257622"/>
              <a:ext cx="3605162" cy="2299698"/>
            </a:xfrm>
            <a:prstGeom prst="rec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grpSp>
    </p:spTree>
    <p:extLst>
      <p:ext uri="{BB962C8B-B14F-4D97-AF65-F5344CB8AC3E}">
        <p14:creationId xmlns:p14="http://schemas.microsoft.com/office/powerpoint/2010/main" val="30058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FDF2-52FC-8BDD-006B-C19E1C511765}"/>
              </a:ext>
            </a:extLst>
          </p:cNvPr>
          <p:cNvSpPr>
            <a:spLocks noGrp="1"/>
          </p:cNvSpPr>
          <p:nvPr>
            <p:ph type="title"/>
          </p:nvPr>
        </p:nvSpPr>
        <p:spPr/>
        <p:txBody>
          <a:bodyPr/>
          <a:lstStyle/>
          <a:p>
            <a:r>
              <a:rPr lang="en-US" dirty="0"/>
              <a:t>From our other work…</a:t>
            </a:r>
          </a:p>
        </p:txBody>
      </p:sp>
      <p:sp>
        <p:nvSpPr>
          <p:cNvPr id="3" name="Content Placeholder 2">
            <a:extLst>
              <a:ext uri="{FF2B5EF4-FFF2-40B4-BE49-F238E27FC236}">
                <a16:creationId xmlns:a16="http://schemas.microsoft.com/office/drawing/2014/main" id="{39A07684-BCA3-8EFD-E688-84807CBF6268}"/>
              </a:ext>
            </a:extLst>
          </p:cNvPr>
          <p:cNvSpPr>
            <a:spLocks noGrp="1"/>
          </p:cNvSpPr>
          <p:nvPr>
            <p:ph idx="1"/>
          </p:nvPr>
        </p:nvSpPr>
        <p:spPr>
          <a:xfrm>
            <a:off x="838200" y="1825625"/>
            <a:ext cx="6435812" cy="4667250"/>
          </a:xfrm>
        </p:spPr>
        <p:txBody>
          <a:bodyPr>
            <a:normAutofit fontScale="92500" lnSpcReduction="20000"/>
          </a:bodyPr>
          <a:lstStyle/>
          <a:p>
            <a:r>
              <a:rPr lang="en-US" dirty="0"/>
              <a:t>Kinetic Modeling of </a:t>
            </a:r>
            <a:r>
              <a:rPr lang="en-US" dirty="0" err="1"/>
              <a:t>mant</a:t>
            </a:r>
            <a:r>
              <a:rPr lang="en-US" dirty="0"/>
              <a:t>-ATP Turnover to Interpret the Biochemically Defined Myosin SRX State </a:t>
            </a:r>
          </a:p>
          <a:p>
            <a:pPr lvl="1"/>
            <a:r>
              <a:rPr lang="en-US" dirty="0"/>
              <a:t>Incubation with fluorescent ATP analogue, chase with dark ATP – the fluorescence decay shows double-exponential</a:t>
            </a:r>
          </a:p>
          <a:p>
            <a:pPr lvl="1"/>
            <a:r>
              <a:rPr lang="en-US" dirty="0"/>
              <a:t>Modeling of SRX quantification assay using a cross-bridge model</a:t>
            </a:r>
          </a:p>
          <a:p>
            <a:pPr lvl="1"/>
            <a:endParaRPr lang="en-US" dirty="0"/>
          </a:p>
          <a:p>
            <a:pPr lvl="1"/>
            <a:r>
              <a:rPr lang="en-US" dirty="0"/>
              <a:t>Results: </a:t>
            </a:r>
          </a:p>
          <a:p>
            <a:pPr lvl="2"/>
            <a:r>
              <a:rPr lang="en-US" dirty="0"/>
              <a:t>Discrepancies in calculated and model-predicted SRX </a:t>
            </a:r>
          </a:p>
          <a:p>
            <a:pPr lvl="2"/>
            <a:r>
              <a:rPr lang="en-US" dirty="0"/>
              <a:t>Demonstrating effects of incubation duration, photobleaching, rigor state fraction </a:t>
            </a:r>
            <a:r>
              <a:rPr lang="en-US" dirty="0" err="1"/>
              <a:t>etc</a:t>
            </a:r>
            <a:endParaRPr lang="en-US" dirty="0"/>
          </a:p>
          <a:p>
            <a:endParaRPr lang="en-US" dirty="0"/>
          </a:p>
          <a:p>
            <a:r>
              <a:rPr lang="en-US" dirty="0"/>
              <a:t>In revision in </a:t>
            </a:r>
            <a:r>
              <a:rPr lang="en-US" b="1" i="1" dirty="0" err="1"/>
              <a:t>Biophys</a:t>
            </a:r>
            <a:r>
              <a:rPr lang="en-US" b="1" i="1" dirty="0"/>
              <a:t> J.</a:t>
            </a:r>
          </a:p>
        </p:txBody>
      </p:sp>
      <p:pic>
        <p:nvPicPr>
          <p:cNvPr id="6" name="Picture 5">
            <a:extLst>
              <a:ext uri="{FF2B5EF4-FFF2-40B4-BE49-F238E27FC236}">
                <a16:creationId xmlns:a16="http://schemas.microsoft.com/office/drawing/2014/main" id="{B30B9C0E-E260-0431-B34E-839A329BCCD6}"/>
              </a:ext>
            </a:extLst>
          </p:cNvPr>
          <p:cNvPicPr>
            <a:picLocks noChangeAspect="1"/>
          </p:cNvPicPr>
          <p:nvPr/>
        </p:nvPicPr>
        <p:blipFill>
          <a:blip r:embed="rId3"/>
          <a:stretch>
            <a:fillRect/>
          </a:stretch>
        </p:blipFill>
        <p:spPr>
          <a:xfrm>
            <a:off x="7357706" y="857330"/>
            <a:ext cx="1863224" cy="2035745"/>
          </a:xfrm>
          <a:prstGeom prst="rect">
            <a:avLst/>
          </a:prstGeom>
        </p:spPr>
      </p:pic>
      <p:pic>
        <p:nvPicPr>
          <p:cNvPr id="8" name="Picture 7">
            <a:extLst>
              <a:ext uri="{FF2B5EF4-FFF2-40B4-BE49-F238E27FC236}">
                <a16:creationId xmlns:a16="http://schemas.microsoft.com/office/drawing/2014/main" id="{75DDDDBA-6E37-9F8D-CD80-064735EFAD78}"/>
              </a:ext>
            </a:extLst>
          </p:cNvPr>
          <p:cNvPicPr>
            <a:picLocks noChangeAspect="1"/>
          </p:cNvPicPr>
          <p:nvPr/>
        </p:nvPicPr>
        <p:blipFill>
          <a:blip r:embed="rId4"/>
          <a:stretch>
            <a:fillRect/>
          </a:stretch>
        </p:blipFill>
        <p:spPr>
          <a:xfrm>
            <a:off x="7274012" y="3028012"/>
            <a:ext cx="4595733" cy="3829778"/>
          </a:xfrm>
          <a:prstGeom prst="rect">
            <a:avLst/>
          </a:prstGeom>
        </p:spPr>
      </p:pic>
      <p:pic>
        <p:nvPicPr>
          <p:cNvPr id="10" name="Picture 9">
            <a:extLst>
              <a:ext uri="{FF2B5EF4-FFF2-40B4-BE49-F238E27FC236}">
                <a16:creationId xmlns:a16="http://schemas.microsoft.com/office/drawing/2014/main" id="{83DB3C65-20B9-B048-5D1E-FD3E592E49A2}"/>
              </a:ext>
            </a:extLst>
          </p:cNvPr>
          <p:cNvPicPr>
            <a:picLocks noChangeAspect="1"/>
          </p:cNvPicPr>
          <p:nvPr/>
        </p:nvPicPr>
        <p:blipFill>
          <a:blip r:embed="rId5"/>
          <a:stretch>
            <a:fillRect/>
          </a:stretch>
        </p:blipFill>
        <p:spPr>
          <a:xfrm>
            <a:off x="9917767" y="855676"/>
            <a:ext cx="1868284" cy="2030437"/>
          </a:xfrm>
          <a:prstGeom prst="rect">
            <a:avLst/>
          </a:prstGeom>
        </p:spPr>
      </p:pic>
      <p:sp>
        <p:nvSpPr>
          <p:cNvPr id="12" name="TextBox 11">
            <a:extLst>
              <a:ext uri="{FF2B5EF4-FFF2-40B4-BE49-F238E27FC236}">
                <a16:creationId xmlns:a16="http://schemas.microsoft.com/office/drawing/2014/main" id="{C0AEC2B2-F3CF-7DDA-12AD-DC0D2C59164A}"/>
              </a:ext>
            </a:extLst>
          </p:cNvPr>
          <p:cNvSpPr txBox="1"/>
          <p:nvPr/>
        </p:nvSpPr>
        <p:spPr>
          <a:xfrm>
            <a:off x="9304624" y="1654176"/>
            <a:ext cx="716340" cy="523220"/>
          </a:xfrm>
          <a:prstGeom prst="rect">
            <a:avLst/>
          </a:prstGeom>
          <a:noFill/>
        </p:spPr>
        <p:txBody>
          <a:bodyPr wrap="square">
            <a:spAutoFit/>
          </a:bodyPr>
          <a:lstStyle/>
          <a:p>
            <a:r>
              <a:rPr lang="en-US" sz="2800" i="1" dirty="0"/>
              <a:t>or</a:t>
            </a:r>
          </a:p>
        </p:txBody>
      </p:sp>
    </p:spTree>
    <p:extLst>
      <p:ext uri="{BB962C8B-B14F-4D97-AF65-F5344CB8AC3E}">
        <p14:creationId xmlns:p14="http://schemas.microsoft.com/office/powerpoint/2010/main" val="3893133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6124-950F-CF4D-7B20-9592FA902322}"/>
              </a:ext>
            </a:extLst>
          </p:cNvPr>
          <p:cNvSpPr>
            <a:spLocks noGrp="1"/>
          </p:cNvSpPr>
          <p:nvPr>
            <p:ph type="title"/>
          </p:nvPr>
        </p:nvSpPr>
        <p:spPr/>
        <p:txBody>
          <a:bodyPr/>
          <a:lstStyle/>
          <a:p>
            <a:r>
              <a:rPr lang="cs-CZ" dirty="0"/>
              <a:t>Thank you!</a:t>
            </a:r>
            <a:endParaRPr lang="en-US" dirty="0"/>
          </a:p>
        </p:txBody>
      </p:sp>
      <p:sp>
        <p:nvSpPr>
          <p:cNvPr id="4" name="Text Placeholder 3">
            <a:extLst>
              <a:ext uri="{FF2B5EF4-FFF2-40B4-BE49-F238E27FC236}">
                <a16:creationId xmlns:a16="http://schemas.microsoft.com/office/drawing/2014/main" id="{0358B6D1-37E0-30E2-A256-F1B68AC48945}"/>
              </a:ext>
            </a:extLst>
          </p:cNvPr>
          <p:cNvSpPr>
            <a:spLocks noGrp="1"/>
          </p:cNvSpPr>
          <p:nvPr>
            <p:ph type="body" idx="1"/>
          </p:nvPr>
        </p:nvSpPr>
        <p:spPr/>
        <p:txBody>
          <a:bodyPr>
            <a:normAutofit/>
          </a:bodyPr>
          <a:lstStyle/>
          <a:p>
            <a:r>
              <a:rPr lang="cs-CZ" dirty="0"/>
              <a:t>Beard Lab</a:t>
            </a:r>
          </a:p>
          <a:p>
            <a:r>
              <a:rPr lang="cs-CZ" dirty="0"/>
              <a:t>University of Michigan</a:t>
            </a:r>
          </a:p>
          <a:p>
            <a:r>
              <a:rPr lang="en-US" dirty="0">
                <a:hlinkClick r:id="rId2"/>
              </a:rPr>
              <a:t>github.com/beards-lab/TitinViscoelasticity</a:t>
            </a:r>
            <a:r>
              <a:rPr lang="en-US" dirty="0"/>
              <a:t> </a:t>
            </a:r>
          </a:p>
        </p:txBody>
      </p:sp>
    </p:spTree>
    <p:extLst>
      <p:ext uri="{BB962C8B-B14F-4D97-AF65-F5344CB8AC3E}">
        <p14:creationId xmlns:p14="http://schemas.microsoft.com/office/powerpoint/2010/main" val="34902234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EF22-2CAE-E4AD-BD44-600C5D83C44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4E3D218-7051-0715-89A9-9B8FB69DB7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72730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12133</TotalTime>
  <Words>1905</Words>
  <Application>Microsoft Office PowerPoint</Application>
  <PresentationFormat>Widescreen</PresentationFormat>
  <Paragraphs>288</Paragraphs>
  <Slides>32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Cambria Math</vt:lpstr>
      <vt:lpstr>LM Roman 12</vt:lpstr>
      <vt:lpstr>Times New Roman</vt:lpstr>
      <vt:lpstr>Office Theme</vt:lpstr>
      <vt:lpstr>Cardiac muscle’s titin follows calcium-dependent power-law relaxation</vt:lpstr>
      <vt:lpstr>Titin</vt:lpstr>
      <vt:lpstr>Probing passive mechanical properties of cardiac muscle fibers </vt:lpstr>
      <vt:lpstr>Stress relaxation after rapid muscle stretch</vt:lpstr>
      <vt:lpstr>Tension decay follows power law ~ t -­0.2</vt:lpstr>
      <vt:lpstr>PowerPoint Presentation</vt:lpstr>
      <vt:lpstr>The mechanistic Model</vt:lpstr>
      <vt:lpstr>Fit to data captures observed power-law decay</vt:lpstr>
      <vt:lpstr>Simulation of stretch and relaxation</vt:lpstr>
      <vt:lpstr>What if we add calcium?</vt:lpstr>
      <vt:lpstr>PowerPoint Presentation</vt:lpstr>
      <vt:lpstr>What if we add calcium and suppress myosin activation?</vt:lpstr>
      <vt:lpstr>Calcium increases the viscoelastic stiffness</vt:lpstr>
      <vt:lpstr>PNB and MAVA alone does not affect the viscoelasticity</vt:lpstr>
      <vt:lpstr>Active contraction is completely suppressed</vt:lpstr>
      <vt:lpstr>Active contraction is completely suppressed</vt:lpstr>
      <vt:lpstr>Ca sensitivity can be attributed to titin</vt:lpstr>
      <vt:lpstr>Passive viscoelastic properties are calcium-dependent</vt:lpstr>
      <vt:lpstr>The response does not follow a power law</vt:lpstr>
      <vt:lpstr>Calcium dependent viscoelasticity – model fit</vt:lpstr>
      <vt:lpstr>Ca dependency parameter reduction:  from 12 to 4</vt:lpstr>
      <vt:lpstr>Fitting the pCa – force dependency</vt:lpstr>
      <vt:lpstr>How important is the PEVK attachment?</vt:lpstr>
      <vt:lpstr>Prediction of hysteresis and Ca2+-mediated effects</vt:lpstr>
      <vt:lpstr>Limitations</vt:lpstr>
      <vt:lpstr>Summary</vt:lpstr>
      <vt:lpstr>Published papers</vt:lpstr>
      <vt:lpstr>A follow-up: Refolding properties</vt:lpstr>
      <vt:lpstr>A follow-up: effective implementation to employ in 3D heart models</vt:lpstr>
      <vt:lpstr>From our other work…</vt:lpstr>
      <vt:lpstr>Thank you!</vt:lpstr>
      <vt:lpstr>PowerPoint Presentation</vt:lpstr>
    </vt:vector>
  </TitlesOfParts>
  <Company>Michigan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Jezek, Filip</dc:creator>
  <cp:lastModifiedBy>Jezek, Filip</cp:lastModifiedBy>
  <cp:revision>25</cp:revision>
  <dcterms:created xsi:type="dcterms:W3CDTF">2024-08-21T15:42:22Z</dcterms:created>
  <dcterms:modified xsi:type="dcterms:W3CDTF">2025-10-23T16:31:57Z</dcterms:modified>
</cp:coreProperties>
</file>